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media/image3.jp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1" r:id="rId6"/>
    <p:sldId id="262" r:id="rId7"/>
    <p:sldId id="263" r:id="rId8"/>
    <p:sldId id="264" r:id="rId9"/>
    <p:sldId id="272" r:id="rId10"/>
    <p:sldId id="265" r:id="rId11"/>
    <p:sldId id="269" r:id="rId12"/>
    <p:sldId id="270" r:id="rId13"/>
    <p:sldId id="271" r:id="rId14"/>
  </p:sldIdLst>
  <p:sldSz cx="10083800" cy="7562850"/>
  <p:notesSz cx="10083800" cy="75628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5" d="100"/>
          <a:sy n="75" d="100"/>
        </p:scale>
        <p:origin x="1445" y="43"/>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6285" y="2344483"/>
            <a:ext cx="8571230" cy="1588198"/>
          </a:xfrm>
          <a:prstGeom prst="rect">
            <a:avLst/>
          </a:prstGeom>
        </p:spPr>
        <p:txBody>
          <a:bodyPr wrap="square" lIns="0" tIns="0" rIns="0" bIns="0">
            <a:spAutoFit/>
          </a:bodyPr>
          <a:lstStyle>
            <a:lvl1pPr>
              <a:defRPr sz="3600" b="1"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1512570" y="4235196"/>
            <a:ext cx="7058660" cy="1890712"/>
          </a:xfrm>
          <a:prstGeom prst="rect">
            <a:avLst/>
          </a:prstGeom>
        </p:spPr>
        <p:txBody>
          <a:bodyPr wrap="square" lIns="0" tIns="0" rIns="0" bIns="0">
            <a:spAutoFit/>
          </a:bodyPr>
          <a:lstStyle>
            <a:lvl1pPr>
              <a:defRPr sz="32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32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504190" y="1739455"/>
            <a:ext cx="4386453" cy="4991481"/>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193157" y="1739455"/>
            <a:ext cx="4386453" cy="4991481"/>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4/7/2026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4/7/2026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4/7/2026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4483636"/>
            <a:ext cx="494030" cy="3075940"/>
          </a:xfrm>
          <a:custGeom>
            <a:avLst/>
            <a:gdLst/>
            <a:ahLst/>
            <a:cxnLst/>
            <a:rect l="l" t="t" r="r" b="b"/>
            <a:pathLst>
              <a:path w="494030" h="3075940">
                <a:moveTo>
                  <a:pt x="0" y="0"/>
                </a:moveTo>
                <a:lnTo>
                  <a:pt x="0" y="3075403"/>
                </a:lnTo>
                <a:lnTo>
                  <a:pt x="493669" y="3075403"/>
                </a:lnTo>
                <a:lnTo>
                  <a:pt x="0" y="0"/>
                </a:lnTo>
                <a:close/>
              </a:path>
            </a:pathLst>
          </a:custGeom>
          <a:solidFill>
            <a:srgbClr val="5FCAEE">
              <a:alpha val="69410"/>
            </a:srgbClr>
          </a:solidFill>
        </p:spPr>
        <p:txBody>
          <a:bodyPr wrap="square" lIns="0" tIns="0" rIns="0" bIns="0" rtlCol="0"/>
          <a:lstStyle/>
          <a:p>
            <a:endParaRPr/>
          </a:p>
        </p:txBody>
      </p:sp>
      <p:sp>
        <p:nvSpPr>
          <p:cNvPr id="17" name="bg object 17"/>
          <p:cNvSpPr/>
          <p:nvPr/>
        </p:nvSpPr>
        <p:spPr>
          <a:xfrm>
            <a:off x="5657149" y="0"/>
            <a:ext cx="4424680" cy="7559675"/>
          </a:xfrm>
          <a:custGeom>
            <a:avLst/>
            <a:gdLst/>
            <a:ahLst/>
            <a:cxnLst/>
            <a:rect l="l" t="t" r="r" b="b"/>
            <a:pathLst>
              <a:path w="4424680" h="7559675">
                <a:moveTo>
                  <a:pt x="0" y="7559040"/>
                </a:moveTo>
                <a:lnTo>
                  <a:pt x="4424110" y="4608028"/>
                </a:lnTo>
              </a:path>
              <a:path w="4424680" h="7559675">
                <a:moveTo>
                  <a:pt x="2107249" y="0"/>
                </a:moveTo>
                <a:lnTo>
                  <a:pt x="3450274" y="7559673"/>
                </a:lnTo>
              </a:path>
            </a:pathLst>
          </a:custGeom>
          <a:ln w="9525">
            <a:solidFill>
              <a:srgbClr val="5FCAEE"/>
            </a:solidFill>
          </a:ln>
        </p:spPr>
        <p:txBody>
          <a:bodyPr wrap="square" lIns="0" tIns="0" rIns="0" bIns="0" rtlCol="0"/>
          <a:lstStyle/>
          <a:p>
            <a:endParaRPr/>
          </a:p>
        </p:txBody>
      </p:sp>
      <p:sp>
        <p:nvSpPr>
          <p:cNvPr id="18" name="bg object 18"/>
          <p:cNvSpPr/>
          <p:nvPr/>
        </p:nvSpPr>
        <p:spPr>
          <a:xfrm>
            <a:off x="7598019" y="0"/>
            <a:ext cx="2483485" cy="7559040"/>
          </a:xfrm>
          <a:custGeom>
            <a:avLst/>
            <a:gdLst/>
            <a:ahLst/>
            <a:cxnLst/>
            <a:rect l="l" t="t" r="r" b="b"/>
            <a:pathLst>
              <a:path w="2483484" h="7559040">
                <a:moveTo>
                  <a:pt x="2230510" y="0"/>
                </a:moveTo>
                <a:lnTo>
                  <a:pt x="0" y="7559040"/>
                </a:lnTo>
                <a:lnTo>
                  <a:pt x="2483240" y="7559040"/>
                </a:lnTo>
                <a:lnTo>
                  <a:pt x="2483240" y="8964"/>
                </a:lnTo>
                <a:lnTo>
                  <a:pt x="2230510" y="0"/>
                </a:lnTo>
                <a:close/>
              </a:path>
            </a:pathLst>
          </a:custGeom>
          <a:solidFill>
            <a:srgbClr val="5FCAEE">
              <a:alpha val="35293"/>
            </a:srgbClr>
          </a:solidFill>
        </p:spPr>
        <p:txBody>
          <a:bodyPr wrap="square" lIns="0" tIns="0" rIns="0" bIns="0" rtlCol="0"/>
          <a:lstStyle/>
          <a:p>
            <a:endParaRPr/>
          </a:p>
        </p:txBody>
      </p:sp>
      <p:sp>
        <p:nvSpPr>
          <p:cNvPr id="19" name="bg object 19"/>
          <p:cNvSpPr/>
          <p:nvPr/>
        </p:nvSpPr>
        <p:spPr>
          <a:xfrm>
            <a:off x="7943867" y="0"/>
            <a:ext cx="2137410" cy="7559040"/>
          </a:xfrm>
          <a:custGeom>
            <a:avLst/>
            <a:gdLst/>
            <a:ahLst/>
            <a:cxnLst/>
            <a:rect l="l" t="t" r="r" b="b"/>
            <a:pathLst>
              <a:path w="2137409" h="7559040">
                <a:moveTo>
                  <a:pt x="2137392" y="0"/>
                </a:moveTo>
                <a:lnTo>
                  <a:pt x="0" y="0"/>
                </a:lnTo>
                <a:lnTo>
                  <a:pt x="1323846" y="7559040"/>
                </a:lnTo>
                <a:lnTo>
                  <a:pt x="2137392" y="7559040"/>
                </a:lnTo>
                <a:lnTo>
                  <a:pt x="2137392" y="0"/>
                </a:lnTo>
                <a:close/>
              </a:path>
            </a:pathLst>
          </a:custGeom>
          <a:solidFill>
            <a:srgbClr val="5FCAEE">
              <a:alpha val="19215"/>
            </a:srgbClr>
          </a:solidFill>
        </p:spPr>
        <p:txBody>
          <a:bodyPr wrap="square" lIns="0" tIns="0" rIns="0" bIns="0" rtlCol="0"/>
          <a:lstStyle/>
          <a:p>
            <a:endParaRPr/>
          </a:p>
        </p:txBody>
      </p:sp>
      <p:sp>
        <p:nvSpPr>
          <p:cNvPr id="20" name="bg object 20"/>
          <p:cNvSpPr/>
          <p:nvPr/>
        </p:nvSpPr>
        <p:spPr>
          <a:xfrm>
            <a:off x="7318916" y="4321324"/>
            <a:ext cx="2762885" cy="3237865"/>
          </a:xfrm>
          <a:custGeom>
            <a:avLst/>
            <a:gdLst/>
            <a:ahLst/>
            <a:cxnLst/>
            <a:rect l="l" t="t" r="r" b="b"/>
            <a:pathLst>
              <a:path w="2762884" h="3237865">
                <a:moveTo>
                  <a:pt x="2762343" y="0"/>
                </a:moveTo>
                <a:lnTo>
                  <a:pt x="0" y="3237715"/>
                </a:lnTo>
                <a:lnTo>
                  <a:pt x="2762343" y="3237715"/>
                </a:lnTo>
                <a:lnTo>
                  <a:pt x="2762343" y="0"/>
                </a:lnTo>
                <a:close/>
              </a:path>
            </a:pathLst>
          </a:custGeom>
          <a:solidFill>
            <a:srgbClr val="17AFE3">
              <a:alpha val="65097"/>
            </a:srgbClr>
          </a:solidFill>
        </p:spPr>
        <p:txBody>
          <a:bodyPr wrap="square" lIns="0" tIns="0" rIns="0" bIns="0" rtlCol="0"/>
          <a:lstStyle/>
          <a:p>
            <a:endParaRPr/>
          </a:p>
        </p:txBody>
      </p:sp>
      <p:sp>
        <p:nvSpPr>
          <p:cNvPr id="21" name="bg object 21"/>
          <p:cNvSpPr/>
          <p:nvPr/>
        </p:nvSpPr>
        <p:spPr>
          <a:xfrm>
            <a:off x="7730525" y="0"/>
            <a:ext cx="2350770" cy="7559040"/>
          </a:xfrm>
          <a:custGeom>
            <a:avLst/>
            <a:gdLst/>
            <a:ahLst/>
            <a:cxnLst/>
            <a:rect l="l" t="t" r="r" b="b"/>
            <a:pathLst>
              <a:path w="2350770" h="7559040">
                <a:moveTo>
                  <a:pt x="2350734" y="0"/>
                </a:moveTo>
                <a:lnTo>
                  <a:pt x="0" y="0"/>
                </a:lnTo>
                <a:lnTo>
                  <a:pt x="2043984" y="7559040"/>
                </a:lnTo>
                <a:lnTo>
                  <a:pt x="2065639" y="7559040"/>
                </a:lnTo>
                <a:lnTo>
                  <a:pt x="2350734" y="7550605"/>
                </a:lnTo>
                <a:lnTo>
                  <a:pt x="2350734" y="0"/>
                </a:lnTo>
                <a:close/>
              </a:path>
            </a:pathLst>
          </a:custGeom>
          <a:solidFill>
            <a:srgbClr val="17AFE3">
              <a:alpha val="49411"/>
            </a:srgbClr>
          </a:solidFill>
        </p:spPr>
        <p:txBody>
          <a:bodyPr wrap="square" lIns="0" tIns="0" rIns="0" bIns="0" rtlCol="0"/>
          <a:lstStyle/>
          <a:p>
            <a:endParaRPr/>
          </a:p>
        </p:txBody>
      </p:sp>
      <p:sp>
        <p:nvSpPr>
          <p:cNvPr id="22" name="bg object 22"/>
          <p:cNvSpPr/>
          <p:nvPr/>
        </p:nvSpPr>
        <p:spPr>
          <a:xfrm>
            <a:off x="9145586" y="0"/>
            <a:ext cx="935990" cy="7559040"/>
          </a:xfrm>
          <a:custGeom>
            <a:avLst/>
            <a:gdLst/>
            <a:ahLst/>
            <a:cxnLst/>
            <a:rect l="l" t="t" r="r" b="b"/>
            <a:pathLst>
              <a:path w="935990" h="7559040">
                <a:moveTo>
                  <a:pt x="935673" y="0"/>
                </a:moveTo>
                <a:lnTo>
                  <a:pt x="744742" y="0"/>
                </a:lnTo>
                <a:lnTo>
                  <a:pt x="0" y="7559040"/>
                </a:lnTo>
                <a:lnTo>
                  <a:pt x="935673" y="7559040"/>
                </a:lnTo>
                <a:lnTo>
                  <a:pt x="935673" y="0"/>
                </a:lnTo>
                <a:close/>
              </a:path>
            </a:pathLst>
          </a:custGeom>
          <a:solidFill>
            <a:srgbClr val="2D83C3">
              <a:alpha val="69410"/>
            </a:srgbClr>
          </a:solidFill>
        </p:spPr>
        <p:txBody>
          <a:bodyPr wrap="square" lIns="0" tIns="0" rIns="0" bIns="0" rtlCol="0"/>
          <a:lstStyle/>
          <a:p>
            <a:endParaRPr/>
          </a:p>
        </p:txBody>
      </p:sp>
      <p:sp>
        <p:nvSpPr>
          <p:cNvPr id="23" name="bg object 23"/>
          <p:cNvSpPr/>
          <p:nvPr/>
        </p:nvSpPr>
        <p:spPr>
          <a:xfrm>
            <a:off x="8924576" y="0"/>
            <a:ext cx="1156970" cy="7559040"/>
          </a:xfrm>
          <a:custGeom>
            <a:avLst/>
            <a:gdLst/>
            <a:ahLst/>
            <a:cxnLst/>
            <a:rect l="l" t="t" r="r" b="b"/>
            <a:pathLst>
              <a:path w="1156970" h="7559040">
                <a:moveTo>
                  <a:pt x="1156683" y="0"/>
                </a:moveTo>
                <a:lnTo>
                  <a:pt x="0" y="0"/>
                </a:lnTo>
                <a:lnTo>
                  <a:pt x="1033660" y="7559040"/>
                </a:lnTo>
                <a:lnTo>
                  <a:pt x="1156683" y="7559040"/>
                </a:lnTo>
                <a:lnTo>
                  <a:pt x="1156683" y="0"/>
                </a:lnTo>
                <a:close/>
              </a:path>
            </a:pathLst>
          </a:custGeom>
          <a:solidFill>
            <a:srgbClr val="226192">
              <a:alpha val="81175"/>
            </a:srgbClr>
          </a:solidFill>
        </p:spPr>
        <p:txBody>
          <a:bodyPr wrap="square" lIns="0" tIns="0" rIns="0" bIns="0" rtlCol="0"/>
          <a:lstStyle/>
          <a:p>
            <a:endParaRPr/>
          </a:p>
        </p:txBody>
      </p:sp>
      <p:sp>
        <p:nvSpPr>
          <p:cNvPr id="24" name="bg object 24"/>
          <p:cNvSpPr/>
          <p:nvPr/>
        </p:nvSpPr>
        <p:spPr>
          <a:xfrm>
            <a:off x="8895050" y="5420201"/>
            <a:ext cx="1186815" cy="2139315"/>
          </a:xfrm>
          <a:custGeom>
            <a:avLst/>
            <a:gdLst/>
            <a:ahLst/>
            <a:cxnLst/>
            <a:rect l="l" t="t" r="r" b="b"/>
            <a:pathLst>
              <a:path w="1186815" h="2139315">
                <a:moveTo>
                  <a:pt x="1186209" y="0"/>
                </a:moveTo>
                <a:lnTo>
                  <a:pt x="0" y="2138838"/>
                </a:lnTo>
                <a:lnTo>
                  <a:pt x="136021" y="2138838"/>
                </a:lnTo>
                <a:lnTo>
                  <a:pt x="1186209" y="2133955"/>
                </a:lnTo>
                <a:lnTo>
                  <a:pt x="1186209" y="0"/>
                </a:lnTo>
                <a:close/>
              </a:path>
            </a:pathLst>
          </a:custGeom>
          <a:solidFill>
            <a:srgbClr val="17AFE3">
              <a:alpha val="65097"/>
            </a:srgbClr>
          </a:solidFill>
        </p:spPr>
        <p:txBody>
          <a:bodyPr wrap="square" lIns="0" tIns="0" rIns="0" bIns="0" rtlCol="0"/>
          <a:lstStyle/>
          <a:p>
            <a:endParaRPr/>
          </a:p>
        </p:txBody>
      </p:sp>
      <p:sp>
        <p:nvSpPr>
          <p:cNvPr id="2" name="Holder 2"/>
          <p:cNvSpPr>
            <a:spLocks noGrp="1"/>
          </p:cNvSpPr>
          <p:nvPr>
            <p:ph type="title"/>
          </p:nvPr>
        </p:nvSpPr>
        <p:spPr>
          <a:xfrm>
            <a:off x="490524" y="371932"/>
            <a:ext cx="7421245" cy="1085850"/>
          </a:xfrm>
          <a:prstGeom prst="rect">
            <a:avLst/>
          </a:prstGeom>
        </p:spPr>
        <p:txBody>
          <a:bodyPr wrap="square" lIns="0" tIns="0" rIns="0" bIns="0">
            <a:spAutoFit/>
          </a:bodyPr>
          <a:lstStyle>
            <a:lvl1pPr>
              <a:defRPr sz="3600" b="1"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2813685" y="3465322"/>
            <a:ext cx="4456429" cy="3685540"/>
          </a:xfrm>
          <a:prstGeom prst="rect">
            <a:avLst/>
          </a:prstGeom>
        </p:spPr>
        <p:txBody>
          <a:bodyPr wrap="square" lIns="0" tIns="0" rIns="0" bIns="0">
            <a:spAutoFit/>
          </a:bodyPr>
          <a:lstStyle>
            <a:lvl1pPr>
              <a:defRPr sz="32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3428492" y="7033450"/>
            <a:ext cx="3226816" cy="378142"/>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04190" y="7033450"/>
            <a:ext cx="2319274" cy="37814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4/7/2026</a:t>
            </a:fld>
            <a:endParaRPr lang="en-US"/>
          </a:p>
        </p:txBody>
      </p:sp>
      <p:sp>
        <p:nvSpPr>
          <p:cNvPr id="6" name="Holder 6"/>
          <p:cNvSpPr>
            <a:spLocks noGrp="1"/>
          </p:cNvSpPr>
          <p:nvPr>
            <p:ph type="sldNum" sz="quarter" idx="7"/>
          </p:nvPr>
        </p:nvSpPr>
        <p:spPr>
          <a:xfrm>
            <a:off x="7260336" y="7033450"/>
            <a:ext cx="2319274" cy="378142"/>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08100" y="1952625"/>
            <a:ext cx="8176259" cy="566822"/>
          </a:xfrm>
          <a:prstGeom prst="rect">
            <a:avLst/>
          </a:prstGeom>
        </p:spPr>
        <p:txBody>
          <a:bodyPr vert="horz" wrap="square" lIns="0" tIns="12700" rIns="0" bIns="0" rtlCol="0">
            <a:spAutoFit/>
          </a:bodyPr>
          <a:lstStyle/>
          <a:p>
            <a:r>
              <a:rPr lang="en-US" dirty="0"/>
              <a:t>AI Text Generator using Markov Chain</a:t>
            </a:r>
            <a:endParaRPr lang="en-IN" dirty="0"/>
          </a:p>
        </p:txBody>
      </p:sp>
      <p:sp>
        <p:nvSpPr>
          <p:cNvPr id="3" name="object 3"/>
          <p:cNvSpPr txBox="1">
            <a:spLocks noGrp="1"/>
          </p:cNvSpPr>
          <p:nvPr>
            <p:ph type="body" idx="1"/>
          </p:nvPr>
        </p:nvSpPr>
        <p:spPr>
          <a:xfrm>
            <a:off x="-37148" y="3095625"/>
            <a:ext cx="9919970" cy="4204356"/>
          </a:xfrm>
          <a:prstGeom prst="rect">
            <a:avLst/>
          </a:prstGeom>
        </p:spPr>
        <p:txBody>
          <a:bodyPr vert="horz" wrap="square" lIns="0" tIns="13335" rIns="0" bIns="0" rtlCol="0">
            <a:spAutoFit/>
          </a:bodyPr>
          <a:lstStyle/>
          <a:p>
            <a:pPr algn="ctr">
              <a:lnSpc>
                <a:spcPct val="100000"/>
              </a:lnSpc>
              <a:spcBef>
                <a:spcPts val="105"/>
              </a:spcBef>
            </a:pPr>
            <a:r>
              <a:rPr spc="-15" dirty="0"/>
              <a:t> </a:t>
            </a:r>
            <a:endParaRPr spc="-50" dirty="0"/>
          </a:p>
          <a:p>
            <a:pPr algn="ctr">
              <a:lnSpc>
                <a:spcPct val="100000"/>
              </a:lnSpc>
            </a:pPr>
            <a:r>
              <a:rPr lang="en-IN" spc="-10" dirty="0"/>
              <a:t>Avadhoot </a:t>
            </a:r>
            <a:r>
              <a:rPr lang="en-IN" spc="-10" dirty="0" err="1"/>
              <a:t>Virkar</a:t>
            </a:r>
            <a:r>
              <a:rPr lang="en-IN" spc="-10" dirty="0"/>
              <a:t>     - 22107064</a:t>
            </a:r>
          </a:p>
          <a:p>
            <a:pPr algn="ctr">
              <a:lnSpc>
                <a:spcPct val="100000"/>
              </a:lnSpc>
            </a:pPr>
            <a:r>
              <a:rPr lang="en-IN" dirty="0"/>
              <a:t>Chinmay Pawaskar - </a:t>
            </a:r>
            <a:r>
              <a:rPr lang="en-IN" spc="-10" dirty="0"/>
              <a:t>22107066</a:t>
            </a:r>
          </a:p>
          <a:p>
            <a:pPr algn="ctr">
              <a:lnSpc>
                <a:spcPct val="100000"/>
              </a:lnSpc>
            </a:pPr>
            <a:r>
              <a:rPr lang="en-IN" spc="-10" dirty="0"/>
              <a:t>Soham </a:t>
            </a:r>
            <a:r>
              <a:rPr lang="en-IN" spc="-10" dirty="0" err="1"/>
              <a:t>Shigvan</a:t>
            </a:r>
            <a:r>
              <a:rPr lang="en-IN" spc="-10" dirty="0"/>
              <a:t>         - 22107001</a:t>
            </a:r>
          </a:p>
          <a:p>
            <a:pPr algn="ctr">
              <a:lnSpc>
                <a:spcPct val="100000"/>
              </a:lnSpc>
            </a:pPr>
            <a:r>
              <a:rPr lang="en-IN" spc="-10" dirty="0" err="1"/>
              <a:t>Monish</a:t>
            </a:r>
            <a:r>
              <a:rPr lang="en-IN" spc="-10" dirty="0"/>
              <a:t> </a:t>
            </a:r>
            <a:r>
              <a:rPr lang="en-IN" dirty="0"/>
              <a:t>Mudaliar     -</a:t>
            </a:r>
            <a:r>
              <a:rPr lang="en-IN" spc="-10" dirty="0"/>
              <a:t> 22107024</a:t>
            </a:r>
          </a:p>
          <a:p>
            <a:pPr algn="ctr">
              <a:lnSpc>
                <a:spcPct val="100000"/>
              </a:lnSpc>
            </a:pPr>
            <a:endParaRPr spc="-10" dirty="0"/>
          </a:p>
          <a:p>
            <a:pPr algn="ctr">
              <a:lnSpc>
                <a:spcPct val="100000"/>
              </a:lnSpc>
              <a:spcBef>
                <a:spcPts val="3354"/>
              </a:spcBef>
            </a:pPr>
            <a:r>
              <a:rPr sz="2800" dirty="0"/>
              <a:t>Project</a:t>
            </a:r>
            <a:r>
              <a:rPr sz="2800" spc="-70" dirty="0"/>
              <a:t> </a:t>
            </a:r>
            <a:r>
              <a:rPr sz="2800" spc="-10" dirty="0"/>
              <a:t>Guide</a:t>
            </a:r>
            <a:endParaRPr sz="2800" dirty="0"/>
          </a:p>
          <a:p>
            <a:pPr algn="ctr">
              <a:lnSpc>
                <a:spcPct val="100000"/>
              </a:lnSpc>
              <a:spcBef>
                <a:spcPts val="15"/>
              </a:spcBef>
            </a:pPr>
            <a:r>
              <a:rPr sz="2400" dirty="0"/>
              <a:t>Prof.</a:t>
            </a:r>
            <a:r>
              <a:rPr sz="2400" spc="-65" dirty="0"/>
              <a:t> </a:t>
            </a:r>
            <a:r>
              <a:rPr lang="en-IN" sz="2400" spc="-10" dirty="0"/>
              <a:t>Ujjwala </a:t>
            </a:r>
            <a:r>
              <a:rPr lang="en-IN" sz="2400" spc="-10"/>
              <a:t>Pagare</a:t>
            </a:r>
            <a:endParaRPr sz="2400" dirty="0"/>
          </a:p>
        </p:txBody>
      </p:sp>
      <p:grpSp>
        <p:nvGrpSpPr>
          <p:cNvPr id="4" name="object 4"/>
          <p:cNvGrpSpPr/>
          <p:nvPr/>
        </p:nvGrpSpPr>
        <p:grpSpPr>
          <a:xfrm>
            <a:off x="0" y="146050"/>
            <a:ext cx="10081260" cy="1696720"/>
            <a:chOff x="0" y="146050"/>
            <a:chExt cx="10081260" cy="1696720"/>
          </a:xfrm>
        </p:grpSpPr>
        <p:pic>
          <p:nvPicPr>
            <p:cNvPr id="5" name="object 5"/>
            <p:cNvPicPr/>
            <p:nvPr/>
          </p:nvPicPr>
          <p:blipFill>
            <a:blip r:embed="rId2" cstate="print"/>
            <a:stretch>
              <a:fillRect/>
            </a:stretch>
          </p:blipFill>
          <p:spPr>
            <a:xfrm>
              <a:off x="0" y="1690166"/>
              <a:ext cx="10081259" cy="152349"/>
            </a:xfrm>
            <a:prstGeom prst="rect">
              <a:avLst/>
            </a:prstGeom>
          </p:spPr>
        </p:pic>
        <p:sp>
          <p:nvSpPr>
            <p:cNvPr id="6" name="object 6"/>
            <p:cNvSpPr/>
            <p:nvPr/>
          </p:nvSpPr>
          <p:spPr>
            <a:xfrm>
              <a:off x="0" y="1743075"/>
              <a:ext cx="10080625" cy="0"/>
            </a:xfrm>
            <a:custGeom>
              <a:avLst/>
              <a:gdLst/>
              <a:ahLst/>
              <a:cxnLst/>
              <a:rect l="l" t="t" r="r" b="b"/>
              <a:pathLst>
                <a:path w="10080625">
                  <a:moveTo>
                    <a:pt x="0" y="0"/>
                  </a:moveTo>
                  <a:lnTo>
                    <a:pt x="10080625" y="0"/>
                  </a:lnTo>
                </a:path>
              </a:pathLst>
            </a:custGeom>
            <a:ln w="25400">
              <a:solidFill>
                <a:srgbClr val="000000"/>
              </a:solidFill>
            </a:ln>
          </p:spPr>
          <p:txBody>
            <a:bodyPr wrap="square" lIns="0" tIns="0" rIns="0" bIns="0" rtlCol="0"/>
            <a:lstStyle/>
            <a:p>
              <a:endParaRPr/>
            </a:p>
          </p:txBody>
        </p:sp>
        <p:pic>
          <p:nvPicPr>
            <p:cNvPr id="7" name="object 7"/>
            <p:cNvPicPr/>
            <p:nvPr/>
          </p:nvPicPr>
          <p:blipFill>
            <a:blip r:embed="rId3" cstate="print"/>
            <a:stretch>
              <a:fillRect/>
            </a:stretch>
          </p:blipFill>
          <p:spPr>
            <a:xfrm>
              <a:off x="1079500" y="146050"/>
              <a:ext cx="7686675" cy="1571625"/>
            </a:xfrm>
            <a:prstGeom prst="rect">
              <a:avLst/>
            </a:prstGeom>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50233" y="368046"/>
            <a:ext cx="1780539" cy="574040"/>
          </a:xfrm>
          <a:prstGeom prst="rect">
            <a:avLst/>
          </a:prstGeom>
        </p:spPr>
        <p:txBody>
          <a:bodyPr vert="horz" wrap="square" lIns="0" tIns="12700" rIns="0" bIns="0" rtlCol="0">
            <a:spAutoFit/>
          </a:bodyPr>
          <a:lstStyle/>
          <a:p>
            <a:pPr marL="12700">
              <a:lnSpc>
                <a:spcPct val="100000"/>
              </a:lnSpc>
              <a:spcBef>
                <a:spcPts val="100"/>
              </a:spcBef>
            </a:pPr>
            <a:r>
              <a:rPr spc="-10" dirty="0"/>
              <a:t>Contents</a:t>
            </a:r>
          </a:p>
        </p:txBody>
      </p:sp>
      <p:sp>
        <p:nvSpPr>
          <p:cNvPr id="3" name="object 3"/>
          <p:cNvSpPr txBox="1"/>
          <p:nvPr/>
        </p:nvSpPr>
        <p:spPr>
          <a:xfrm>
            <a:off x="597204" y="1023733"/>
            <a:ext cx="7393940" cy="5244384"/>
          </a:xfrm>
          <a:prstGeom prst="rect">
            <a:avLst/>
          </a:prstGeom>
        </p:spPr>
        <p:txBody>
          <a:bodyPr vert="horz" wrap="square" lIns="0" tIns="164465" rIns="0" bIns="0" rtlCol="0">
            <a:spAutoFit/>
          </a:bodyPr>
          <a:lstStyle/>
          <a:p>
            <a:pPr marL="334010" indent="-321310">
              <a:lnSpc>
                <a:spcPct val="100000"/>
              </a:lnSpc>
              <a:spcBef>
                <a:spcPts val="1295"/>
              </a:spcBef>
              <a:buSzPct val="45833"/>
              <a:buFont typeface="Calibri"/>
              <a:buChar char="●"/>
              <a:tabLst>
                <a:tab pos="334010" algn="l"/>
              </a:tabLst>
            </a:pPr>
            <a:r>
              <a:rPr sz="2400" spc="-10" dirty="0">
                <a:latin typeface="Times New Roman"/>
                <a:cs typeface="Times New Roman"/>
              </a:rPr>
              <a:t>Abstract</a:t>
            </a:r>
            <a:endParaRPr sz="2400" dirty="0">
              <a:latin typeface="Times New Roman"/>
              <a:cs typeface="Times New Roman"/>
            </a:endParaRPr>
          </a:p>
          <a:p>
            <a:pPr marL="334010" indent="-321310">
              <a:lnSpc>
                <a:spcPct val="100000"/>
              </a:lnSpc>
              <a:spcBef>
                <a:spcPts val="1190"/>
              </a:spcBef>
              <a:buSzPct val="45833"/>
              <a:buFont typeface="Calibri"/>
              <a:buChar char="●"/>
              <a:tabLst>
                <a:tab pos="334010" algn="l"/>
              </a:tabLst>
            </a:pPr>
            <a:r>
              <a:rPr sz="2400" spc="-10" dirty="0">
                <a:latin typeface="Times New Roman"/>
                <a:cs typeface="Times New Roman"/>
              </a:rPr>
              <a:t>Introduction</a:t>
            </a:r>
            <a:endParaRPr sz="2400" dirty="0">
              <a:latin typeface="Times New Roman"/>
              <a:cs typeface="Times New Roman"/>
            </a:endParaRPr>
          </a:p>
          <a:p>
            <a:pPr marL="334010" indent="-321310">
              <a:lnSpc>
                <a:spcPct val="100000"/>
              </a:lnSpc>
              <a:spcBef>
                <a:spcPts val="1200"/>
              </a:spcBef>
              <a:buSzPct val="45833"/>
              <a:buFont typeface="Calibri"/>
              <a:buChar char="●"/>
              <a:tabLst>
                <a:tab pos="334010" algn="l"/>
              </a:tabLst>
            </a:pPr>
            <a:r>
              <a:rPr sz="2400" spc="-10" dirty="0">
                <a:latin typeface="Times New Roman"/>
                <a:cs typeface="Times New Roman"/>
              </a:rPr>
              <a:t>Motivation</a:t>
            </a:r>
            <a:endParaRPr sz="2400" dirty="0">
              <a:latin typeface="Times New Roman"/>
              <a:cs typeface="Times New Roman"/>
            </a:endParaRPr>
          </a:p>
          <a:p>
            <a:pPr marL="334010" indent="-321310">
              <a:lnSpc>
                <a:spcPct val="100000"/>
              </a:lnSpc>
              <a:spcBef>
                <a:spcPts val="1200"/>
              </a:spcBef>
              <a:buSzPct val="45833"/>
              <a:buFont typeface="Calibri"/>
              <a:buChar char="●"/>
              <a:tabLst>
                <a:tab pos="334010" algn="l"/>
              </a:tabLst>
            </a:pPr>
            <a:r>
              <a:rPr sz="2400" spc="-10" dirty="0">
                <a:latin typeface="Times New Roman"/>
                <a:cs typeface="Times New Roman"/>
              </a:rPr>
              <a:t>Objectives</a:t>
            </a:r>
            <a:endParaRPr sz="2400" dirty="0">
              <a:latin typeface="Times New Roman"/>
              <a:cs typeface="Times New Roman"/>
            </a:endParaRPr>
          </a:p>
          <a:p>
            <a:pPr marL="334010" indent="-321310">
              <a:lnSpc>
                <a:spcPct val="100000"/>
              </a:lnSpc>
              <a:spcBef>
                <a:spcPts val="1200"/>
              </a:spcBef>
              <a:buSzPct val="45833"/>
              <a:buFont typeface="Calibri"/>
              <a:buChar char="●"/>
              <a:tabLst>
                <a:tab pos="334010" algn="l"/>
              </a:tabLst>
            </a:pPr>
            <a:r>
              <a:rPr sz="2400" dirty="0">
                <a:latin typeface="Times New Roman"/>
                <a:cs typeface="Times New Roman"/>
              </a:rPr>
              <a:t>Research</a:t>
            </a:r>
            <a:r>
              <a:rPr sz="2400" spc="-15" dirty="0">
                <a:latin typeface="Times New Roman"/>
                <a:cs typeface="Times New Roman"/>
              </a:rPr>
              <a:t> </a:t>
            </a:r>
            <a:r>
              <a:rPr sz="2400" spc="-25" dirty="0">
                <a:latin typeface="Times New Roman"/>
                <a:cs typeface="Times New Roman"/>
              </a:rPr>
              <a:t>Gap</a:t>
            </a:r>
            <a:endParaRPr sz="2400" dirty="0">
              <a:latin typeface="Times New Roman"/>
              <a:cs typeface="Times New Roman"/>
            </a:endParaRPr>
          </a:p>
          <a:p>
            <a:pPr marL="334010" indent="-321310">
              <a:lnSpc>
                <a:spcPct val="100000"/>
              </a:lnSpc>
              <a:spcBef>
                <a:spcPts val="1200"/>
              </a:spcBef>
              <a:buSzPct val="45833"/>
              <a:buFont typeface="Calibri"/>
              <a:buChar char="●"/>
              <a:tabLst>
                <a:tab pos="334010" algn="l"/>
              </a:tabLst>
            </a:pPr>
            <a:r>
              <a:rPr sz="2400" dirty="0">
                <a:latin typeface="Times New Roman"/>
                <a:cs typeface="Times New Roman"/>
              </a:rPr>
              <a:t>Problem</a:t>
            </a:r>
            <a:r>
              <a:rPr sz="2400" spc="-15" dirty="0">
                <a:latin typeface="Times New Roman"/>
                <a:cs typeface="Times New Roman"/>
              </a:rPr>
              <a:t> </a:t>
            </a:r>
            <a:r>
              <a:rPr sz="2400" spc="-10" dirty="0">
                <a:latin typeface="Times New Roman"/>
                <a:cs typeface="Times New Roman"/>
              </a:rPr>
              <a:t>Definition</a:t>
            </a:r>
            <a:endParaRPr sz="2400" dirty="0">
              <a:latin typeface="Times New Roman"/>
              <a:cs typeface="Times New Roman"/>
            </a:endParaRPr>
          </a:p>
          <a:p>
            <a:pPr marL="334010" indent="-321310">
              <a:lnSpc>
                <a:spcPct val="100000"/>
              </a:lnSpc>
              <a:spcBef>
                <a:spcPts val="1200"/>
              </a:spcBef>
              <a:buSzPct val="45833"/>
              <a:buFont typeface="Calibri"/>
              <a:buChar char="●"/>
              <a:tabLst>
                <a:tab pos="334010" algn="l"/>
              </a:tabLst>
            </a:pPr>
            <a:r>
              <a:rPr sz="2400" spc="-10" dirty="0">
                <a:latin typeface="Times New Roman"/>
                <a:cs typeface="Times New Roman"/>
              </a:rPr>
              <a:t>Scope</a:t>
            </a:r>
            <a:endParaRPr sz="2400" dirty="0">
              <a:latin typeface="Times New Roman"/>
              <a:cs typeface="Times New Roman"/>
            </a:endParaRPr>
          </a:p>
          <a:p>
            <a:pPr marL="334010" indent="-321310">
              <a:lnSpc>
                <a:spcPct val="100000"/>
              </a:lnSpc>
              <a:spcBef>
                <a:spcPts val="1205"/>
              </a:spcBef>
              <a:buSzPct val="45833"/>
              <a:buFont typeface="Calibri"/>
              <a:buChar char="●"/>
              <a:tabLst>
                <a:tab pos="334010" algn="l"/>
              </a:tabLst>
            </a:pPr>
            <a:r>
              <a:rPr sz="2400" dirty="0">
                <a:latin typeface="Times New Roman"/>
                <a:cs typeface="Times New Roman"/>
              </a:rPr>
              <a:t>Technological</a:t>
            </a:r>
            <a:r>
              <a:rPr sz="2400" spc="-30" dirty="0">
                <a:latin typeface="Times New Roman"/>
                <a:cs typeface="Times New Roman"/>
              </a:rPr>
              <a:t> </a:t>
            </a:r>
            <a:r>
              <a:rPr sz="2400" spc="-10" dirty="0">
                <a:latin typeface="Times New Roman"/>
                <a:cs typeface="Times New Roman"/>
              </a:rPr>
              <a:t>Stack</a:t>
            </a:r>
            <a:endParaRPr sz="2400" dirty="0">
              <a:latin typeface="Times New Roman"/>
              <a:cs typeface="Times New Roman"/>
            </a:endParaRPr>
          </a:p>
          <a:p>
            <a:pPr marL="334010" indent="-321310">
              <a:lnSpc>
                <a:spcPct val="100000"/>
              </a:lnSpc>
              <a:spcBef>
                <a:spcPts val="1185"/>
              </a:spcBef>
              <a:buSzPct val="45833"/>
              <a:buFont typeface="Calibri"/>
              <a:buChar char="●"/>
              <a:tabLst>
                <a:tab pos="334010" algn="l"/>
              </a:tabLst>
            </a:pPr>
            <a:r>
              <a:rPr sz="2400" spc="-10">
                <a:latin typeface="Times New Roman"/>
                <a:cs typeface="Times New Roman"/>
              </a:rPr>
              <a:t>Implementation</a:t>
            </a:r>
            <a:endParaRPr sz="2400" dirty="0">
              <a:latin typeface="Times New Roman"/>
              <a:cs typeface="Times New Roman"/>
            </a:endParaRPr>
          </a:p>
          <a:p>
            <a:pPr marL="334010" indent="-321310">
              <a:lnSpc>
                <a:spcPct val="100000"/>
              </a:lnSpc>
              <a:spcBef>
                <a:spcPts val="1205"/>
              </a:spcBef>
              <a:buSzPct val="45833"/>
              <a:buFont typeface="Calibri"/>
              <a:buChar char="●"/>
              <a:tabLst>
                <a:tab pos="334010" algn="l"/>
              </a:tabLst>
            </a:pPr>
            <a:r>
              <a:rPr sz="2400" spc="-10" dirty="0">
                <a:latin typeface="Times New Roman"/>
                <a:cs typeface="Times New Roman"/>
              </a:rPr>
              <a:t>Conclusion</a:t>
            </a:r>
            <a:endParaRPr sz="2400" dirty="0">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8402" rIns="0" bIns="0" rtlCol="0">
            <a:spAutoFit/>
          </a:bodyPr>
          <a:lstStyle/>
          <a:p>
            <a:pPr marL="12700">
              <a:lnSpc>
                <a:spcPct val="100000"/>
              </a:lnSpc>
              <a:spcBef>
                <a:spcPts val="100"/>
              </a:spcBef>
            </a:pPr>
            <a:r>
              <a:rPr spc="-10" dirty="0"/>
              <a:t>Abstract</a:t>
            </a:r>
          </a:p>
        </p:txBody>
      </p:sp>
      <p:sp>
        <p:nvSpPr>
          <p:cNvPr id="3" name="object 3"/>
          <p:cNvSpPr txBox="1"/>
          <p:nvPr/>
        </p:nvSpPr>
        <p:spPr>
          <a:xfrm>
            <a:off x="420117" y="1599057"/>
            <a:ext cx="9117584" cy="4011168"/>
          </a:xfrm>
          <a:prstGeom prst="rect">
            <a:avLst/>
          </a:prstGeom>
        </p:spPr>
        <p:txBody>
          <a:bodyPr vert="horz" wrap="square" lIns="0" tIns="13335" rIns="0" bIns="0" rtlCol="0">
            <a:spAutoFit/>
          </a:bodyPr>
          <a:lstStyle/>
          <a:p>
            <a:pPr marL="12700" marR="5080" algn="just">
              <a:lnSpc>
                <a:spcPct val="100000"/>
              </a:lnSpc>
              <a:spcBef>
                <a:spcPts val="105"/>
              </a:spcBef>
            </a:pPr>
            <a:r>
              <a:rPr lang="en-US" sz="2100" dirty="0">
                <a:latin typeface="Times New Roman" panose="02020603050405020304" pitchFamily="18" charset="0"/>
                <a:cs typeface="Times New Roman" panose="02020603050405020304" pitchFamily="18" charset="0"/>
              </a:rPr>
              <a:t>This project presents the development of an AI-based Text Generator using a Markov Chain model, designed to automatically generate meaningful and contextually relevant text from user input. The system applies Natural Language Processing (NLP) techniques along with a trigram-based Markov model to learn word patterns and predict the next word in a sequence, enabling coherent text generation. It includes key stages such as data preprocessing, model training, and real-time text generation through a user-friendly interface. The results demonstrate improved coherence (up to ~82%) and efficient performance, making the system useful for applications like content creation, report writing, and chat-based interactions. Overall, the project highlights a simple yet effective approach to automated text generation with potential for future enhancements using advanced AI models</a:t>
            </a:r>
            <a:endParaRPr sz="21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8402" rIns="0" bIns="0" rtlCol="0">
            <a:spAutoFit/>
          </a:bodyPr>
          <a:lstStyle/>
          <a:p>
            <a:pPr marL="12700">
              <a:lnSpc>
                <a:spcPct val="100000"/>
              </a:lnSpc>
              <a:spcBef>
                <a:spcPts val="100"/>
              </a:spcBef>
            </a:pPr>
            <a:r>
              <a:rPr spc="-10" dirty="0"/>
              <a:t>Introduction</a:t>
            </a:r>
          </a:p>
        </p:txBody>
      </p:sp>
      <p:sp>
        <p:nvSpPr>
          <p:cNvPr id="3" name="object 3"/>
          <p:cNvSpPr txBox="1"/>
          <p:nvPr/>
        </p:nvSpPr>
        <p:spPr>
          <a:xfrm>
            <a:off x="491439" y="1587449"/>
            <a:ext cx="9099550" cy="1952458"/>
          </a:xfrm>
          <a:prstGeom prst="rect">
            <a:avLst/>
          </a:prstGeom>
        </p:spPr>
        <p:txBody>
          <a:bodyPr vert="horz" wrap="square" lIns="0" tIns="13335" rIns="0" bIns="0" rtlCol="0">
            <a:spAutoFit/>
          </a:bodyPr>
          <a:lstStyle/>
          <a:p>
            <a:pPr marL="12700" algn="just">
              <a:lnSpc>
                <a:spcPct val="100000"/>
              </a:lnSpc>
              <a:spcBef>
                <a:spcPts val="105"/>
              </a:spcBef>
              <a:tabLst>
                <a:tab pos="355600" algn="l"/>
              </a:tabLst>
            </a:pPr>
            <a:r>
              <a:rPr lang="en-US" sz="2100" dirty="0">
                <a:latin typeface="Times New Roman" panose="02020603050405020304" pitchFamily="18" charset="0"/>
                <a:cs typeface="Times New Roman" panose="02020603050405020304" pitchFamily="18" charset="0"/>
              </a:rPr>
              <a:t>This project focuses on developing an AI-based Text Generator using a Markov Chain model to automatically produce meaningful and coherent text from user input. It uses Natural Language Processing (NLP) techniques to learn patterns from textual data and generate context-aware sentences. The system aims to reduce manual effort in content creation and improve efficiency through a simple, fast, and user-friendly approach.</a:t>
            </a:r>
            <a:endParaRPr sz="21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3C639443-72B8-FD3C-ABC2-C8EC2E6D0B79}"/>
              </a:ext>
            </a:extLst>
          </p:cNvPr>
          <p:cNvSpPr txBox="1"/>
          <p:nvPr/>
        </p:nvSpPr>
        <p:spPr>
          <a:xfrm>
            <a:off x="442569" y="4022944"/>
            <a:ext cx="9197289" cy="2446824"/>
          </a:xfrm>
          <a:prstGeom prst="rect">
            <a:avLst/>
          </a:prstGeom>
          <a:noFill/>
        </p:spPr>
        <p:txBody>
          <a:bodyPr wrap="square" rtlCol="0">
            <a:spAutoFit/>
          </a:bodyPr>
          <a:lstStyle/>
          <a:p>
            <a:pPr algn="just"/>
            <a:r>
              <a:rPr lang="en-IN" sz="2400" b="1" dirty="0">
                <a:latin typeface="Times New Roman" panose="02020603050405020304" pitchFamily="18" charset="0"/>
                <a:cs typeface="Times New Roman" panose="02020603050405020304" pitchFamily="18" charset="0"/>
              </a:rPr>
              <a:t>Motivation</a:t>
            </a:r>
            <a:r>
              <a:rPr lang="en-IN" sz="2400" dirty="0">
                <a:latin typeface="Times New Roman" panose="02020603050405020304" pitchFamily="18" charset="0"/>
                <a:cs typeface="Times New Roman" panose="02020603050405020304" pitchFamily="18" charset="0"/>
              </a:rPr>
              <a:t> :</a:t>
            </a:r>
          </a:p>
          <a:p>
            <a:pPr algn="just"/>
            <a:endParaRPr lang="en-IN"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Reduce the time and effort required for manual content creation by automating text generation using AI techniques.</a:t>
            </a:r>
          </a:p>
          <a:p>
            <a:pPr marL="342900" indent="-342900" algn="just">
              <a:buFont typeface="Arial" panose="020B0604020202020204" pitchFamily="34" charset="0"/>
              <a:buChar char="•"/>
            </a:pPr>
            <a:endParaRPr lang="en-US" sz="21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100" dirty="0">
                <a:latin typeface="Times New Roman" panose="02020603050405020304" pitchFamily="18" charset="0"/>
                <a:cs typeface="Times New Roman" panose="02020603050405020304" pitchFamily="18" charset="0"/>
              </a:rPr>
              <a:t>Develop an intelligent system that can generate coherent and meaningful text, improving productivity in tasks like report writing and communication.</a:t>
            </a:r>
            <a:endParaRPr lang="en-IN" sz="21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8402" rIns="0" bIns="0" rtlCol="0">
            <a:spAutoFit/>
          </a:bodyPr>
          <a:lstStyle/>
          <a:p>
            <a:pPr marL="12700">
              <a:lnSpc>
                <a:spcPct val="100000"/>
              </a:lnSpc>
              <a:spcBef>
                <a:spcPts val="100"/>
              </a:spcBef>
            </a:pPr>
            <a:r>
              <a:rPr spc="-10" dirty="0"/>
              <a:t>Objectives</a:t>
            </a:r>
          </a:p>
        </p:txBody>
      </p:sp>
      <p:sp>
        <p:nvSpPr>
          <p:cNvPr id="3" name="object 3"/>
          <p:cNvSpPr txBox="1"/>
          <p:nvPr/>
        </p:nvSpPr>
        <p:spPr>
          <a:xfrm>
            <a:off x="581964" y="1746326"/>
            <a:ext cx="9097010" cy="2998898"/>
          </a:xfrm>
          <a:prstGeom prst="rect">
            <a:avLst/>
          </a:prstGeom>
        </p:spPr>
        <p:txBody>
          <a:bodyPr vert="horz" wrap="square" lIns="0" tIns="13335" rIns="0" bIns="0" rtlCol="0">
            <a:spAutoFit/>
          </a:bodyPr>
          <a:lstStyle/>
          <a:p>
            <a:pPr marL="355600" indent="-342900" algn="just">
              <a:lnSpc>
                <a:spcPct val="100000"/>
              </a:lnSpc>
              <a:spcBef>
                <a:spcPts val="105"/>
              </a:spcBef>
              <a:buFont typeface="Arial MT"/>
              <a:buChar char="•"/>
              <a:tabLst>
                <a:tab pos="355600" algn="l"/>
              </a:tabLst>
            </a:pPr>
            <a:r>
              <a:rPr lang="en-US" sz="2100" dirty="0">
                <a:latin typeface="Times New Roman"/>
                <a:cs typeface="Times New Roman"/>
              </a:rPr>
              <a:t>To design and develop an AI-based text generator using Markov Chain techniques.</a:t>
            </a:r>
          </a:p>
          <a:p>
            <a:pPr marL="355600" indent="-342900" algn="just">
              <a:lnSpc>
                <a:spcPct val="100000"/>
              </a:lnSpc>
              <a:spcBef>
                <a:spcPts val="105"/>
              </a:spcBef>
              <a:buFont typeface="Arial MT"/>
              <a:buChar char="•"/>
              <a:tabLst>
                <a:tab pos="355600" algn="l"/>
              </a:tabLst>
            </a:pPr>
            <a:endParaRPr lang="en-US" sz="2100" dirty="0">
              <a:latin typeface="Times New Roman"/>
              <a:cs typeface="Times New Roman"/>
            </a:endParaRPr>
          </a:p>
          <a:p>
            <a:pPr marL="355600" indent="-342900" algn="just">
              <a:lnSpc>
                <a:spcPct val="100000"/>
              </a:lnSpc>
              <a:spcBef>
                <a:spcPts val="105"/>
              </a:spcBef>
              <a:buFont typeface="Arial MT"/>
              <a:buChar char="•"/>
              <a:tabLst>
                <a:tab pos="355600" algn="l"/>
              </a:tabLst>
            </a:pPr>
            <a:r>
              <a:rPr lang="en-US" sz="2100" dirty="0">
                <a:latin typeface="Times New Roman"/>
                <a:cs typeface="Times New Roman"/>
              </a:rPr>
              <a:t>To implement NLP preprocessing methods like tokenization and cleaning for better data quality.</a:t>
            </a:r>
          </a:p>
          <a:p>
            <a:pPr marL="355600" indent="-342900" algn="just">
              <a:lnSpc>
                <a:spcPct val="100000"/>
              </a:lnSpc>
              <a:spcBef>
                <a:spcPts val="105"/>
              </a:spcBef>
              <a:buFont typeface="Arial MT"/>
              <a:buChar char="•"/>
              <a:tabLst>
                <a:tab pos="355600" algn="l"/>
              </a:tabLst>
            </a:pPr>
            <a:endParaRPr lang="en-US" sz="2100" dirty="0">
              <a:latin typeface="Times New Roman"/>
              <a:cs typeface="Times New Roman"/>
            </a:endParaRPr>
          </a:p>
          <a:p>
            <a:pPr marL="355600" indent="-342900" algn="just">
              <a:lnSpc>
                <a:spcPct val="100000"/>
              </a:lnSpc>
              <a:spcBef>
                <a:spcPts val="105"/>
              </a:spcBef>
              <a:buFont typeface="Arial MT"/>
              <a:buChar char="•"/>
              <a:tabLst>
                <a:tab pos="355600" algn="l"/>
              </a:tabLst>
            </a:pPr>
            <a:r>
              <a:rPr lang="en-US" sz="2100" dirty="0">
                <a:latin typeface="Times New Roman"/>
                <a:cs typeface="Times New Roman"/>
              </a:rPr>
              <a:t>To generate coherent, meaningful, and context-aware text based on user input.</a:t>
            </a:r>
          </a:p>
          <a:p>
            <a:pPr marL="355600" indent="-342900" algn="just">
              <a:lnSpc>
                <a:spcPct val="100000"/>
              </a:lnSpc>
              <a:spcBef>
                <a:spcPts val="105"/>
              </a:spcBef>
              <a:buFont typeface="Arial MT"/>
              <a:buChar char="•"/>
              <a:tabLst>
                <a:tab pos="355600" algn="l"/>
              </a:tabLst>
            </a:pPr>
            <a:endParaRPr lang="en-US" sz="2100" dirty="0">
              <a:latin typeface="Times New Roman"/>
              <a:cs typeface="Times New Roman"/>
            </a:endParaRPr>
          </a:p>
          <a:p>
            <a:pPr marL="355600" indent="-342900" algn="just">
              <a:lnSpc>
                <a:spcPct val="100000"/>
              </a:lnSpc>
              <a:spcBef>
                <a:spcPts val="105"/>
              </a:spcBef>
              <a:buFont typeface="Arial MT"/>
              <a:buChar char="•"/>
              <a:tabLst>
                <a:tab pos="355600" algn="l"/>
              </a:tabLst>
            </a:pPr>
            <a:r>
              <a:rPr lang="en-US" sz="2100" dirty="0">
                <a:latin typeface="Times New Roman"/>
                <a:cs typeface="Times New Roman"/>
              </a:rPr>
              <a:t>To build a simple and user-friendly interface for real-time text generation.</a:t>
            </a:r>
            <a:endParaRPr sz="2100" dirty="0">
              <a:latin typeface="Times New Roman"/>
              <a:cs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44398" y="462688"/>
            <a:ext cx="9275776" cy="575156"/>
          </a:xfrm>
          <a:prstGeom prst="rect">
            <a:avLst/>
          </a:prstGeom>
        </p:spPr>
        <p:txBody>
          <a:bodyPr vert="horz" wrap="square" lIns="0" tIns="61594" rIns="0" bIns="0" rtlCol="0">
            <a:spAutoFit/>
          </a:bodyPr>
          <a:lstStyle/>
          <a:p>
            <a:pPr marL="12700" marR="5080" indent="114300">
              <a:lnSpc>
                <a:spcPts val="4020"/>
              </a:lnSpc>
              <a:spcBef>
                <a:spcPts val="484"/>
              </a:spcBef>
            </a:pPr>
            <a:r>
              <a:rPr dirty="0"/>
              <a:t>Research</a:t>
            </a:r>
            <a:r>
              <a:rPr spc="-35" dirty="0"/>
              <a:t> </a:t>
            </a:r>
            <a:r>
              <a:rPr dirty="0"/>
              <a:t>Gap(Limitations</a:t>
            </a:r>
            <a:r>
              <a:rPr spc="-30" dirty="0"/>
              <a:t> </a:t>
            </a:r>
            <a:r>
              <a:rPr dirty="0"/>
              <a:t>of</a:t>
            </a:r>
            <a:r>
              <a:rPr spc="-30" dirty="0"/>
              <a:t> </a:t>
            </a:r>
            <a:r>
              <a:rPr spc="-10" dirty="0"/>
              <a:t>existing systems)</a:t>
            </a:r>
          </a:p>
        </p:txBody>
      </p:sp>
      <p:sp>
        <p:nvSpPr>
          <p:cNvPr id="3" name="object 3"/>
          <p:cNvSpPr txBox="1"/>
          <p:nvPr/>
        </p:nvSpPr>
        <p:spPr>
          <a:xfrm>
            <a:off x="439318" y="1792300"/>
            <a:ext cx="9098382" cy="4640373"/>
          </a:xfrm>
          <a:prstGeom prst="rect">
            <a:avLst/>
          </a:prstGeom>
        </p:spPr>
        <p:txBody>
          <a:bodyPr vert="horz" wrap="square" lIns="0" tIns="13335" rIns="0" bIns="0" rtlCol="0">
            <a:spAutoFit/>
          </a:bodyPr>
          <a:lstStyle/>
          <a:p>
            <a:pPr marL="351790" marR="5080" indent="-339090" algn="just">
              <a:lnSpc>
                <a:spcPct val="100000"/>
              </a:lnSpc>
              <a:spcBef>
                <a:spcPts val="105"/>
              </a:spcBef>
              <a:buFont typeface="Arial MT"/>
              <a:buChar char="•"/>
              <a:tabLst>
                <a:tab pos="355600" algn="l"/>
              </a:tabLst>
            </a:pPr>
            <a:r>
              <a:rPr lang="en-US" sz="2100" dirty="0">
                <a:latin typeface="Times New Roman"/>
                <a:cs typeface="Times New Roman"/>
              </a:rPr>
              <a:t>Existing text generation systems often produce repetitive or less meaningful outputs due to limited contextual understanding.</a:t>
            </a:r>
          </a:p>
          <a:p>
            <a:pPr marL="351790" marR="5080" indent="-339090" algn="just">
              <a:lnSpc>
                <a:spcPct val="100000"/>
              </a:lnSpc>
              <a:spcBef>
                <a:spcPts val="105"/>
              </a:spcBef>
              <a:buFont typeface="Arial MT"/>
              <a:buChar char="•"/>
              <a:tabLst>
                <a:tab pos="355600" algn="l"/>
              </a:tabLst>
            </a:pPr>
            <a:endParaRPr lang="en-US" sz="2100" dirty="0">
              <a:latin typeface="Times New Roman"/>
              <a:cs typeface="Times New Roman"/>
            </a:endParaRPr>
          </a:p>
          <a:p>
            <a:pPr marL="351790" marR="5080" indent="-339090" algn="just">
              <a:lnSpc>
                <a:spcPct val="100000"/>
              </a:lnSpc>
              <a:spcBef>
                <a:spcPts val="105"/>
              </a:spcBef>
              <a:buFont typeface="Arial MT"/>
              <a:buChar char="•"/>
              <a:tabLst>
                <a:tab pos="355600" algn="l"/>
              </a:tabLst>
            </a:pPr>
            <a:r>
              <a:rPr lang="en-US" sz="2100" dirty="0">
                <a:latin typeface="Times New Roman"/>
                <a:cs typeface="Times New Roman"/>
              </a:rPr>
              <a:t>Many models require large datasets and high computational power, making them difficult to implement for small-scale projects.</a:t>
            </a:r>
          </a:p>
          <a:p>
            <a:pPr marL="351790" marR="5080" indent="-339090" algn="just">
              <a:lnSpc>
                <a:spcPct val="100000"/>
              </a:lnSpc>
              <a:spcBef>
                <a:spcPts val="105"/>
              </a:spcBef>
              <a:buFont typeface="Arial MT"/>
              <a:buChar char="•"/>
              <a:tabLst>
                <a:tab pos="355600" algn="l"/>
              </a:tabLst>
            </a:pPr>
            <a:endParaRPr lang="en-US" sz="2100" dirty="0">
              <a:latin typeface="Times New Roman"/>
              <a:cs typeface="Times New Roman"/>
            </a:endParaRPr>
          </a:p>
          <a:p>
            <a:pPr marL="351790" marR="5080" indent="-339090" algn="just">
              <a:lnSpc>
                <a:spcPct val="100000"/>
              </a:lnSpc>
              <a:spcBef>
                <a:spcPts val="105"/>
              </a:spcBef>
              <a:buFont typeface="Arial MT"/>
              <a:buChar char="•"/>
              <a:tabLst>
                <a:tab pos="355600" algn="l"/>
              </a:tabLst>
            </a:pPr>
            <a:r>
              <a:rPr lang="en-US" sz="2100" dirty="0">
                <a:latin typeface="Times New Roman"/>
                <a:cs typeface="Times New Roman"/>
              </a:rPr>
              <a:t>Traditional approaches like N-gram or basic Markov models lack long-range context awareness.</a:t>
            </a:r>
          </a:p>
          <a:p>
            <a:pPr marL="351790" marR="5080" indent="-339090" algn="just">
              <a:lnSpc>
                <a:spcPct val="100000"/>
              </a:lnSpc>
              <a:spcBef>
                <a:spcPts val="105"/>
              </a:spcBef>
              <a:buFont typeface="Arial MT"/>
              <a:buChar char="•"/>
              <a:tabLst>
                <a:tab pos="355600" algn="l"/>
              </a:tabLst>
            </a:pPr>
            <a:endParaRPr lang="en-US" sz="2100" dirty="0">
              <a:latin typeface="Times New Roman"/>
              <a:cs typeface="Times New Roman"/>
            </a:endParaRPr>
          </a:p>
          <a:p>
            <a:pPr marL="351790" marR="5080" indent="-339090" algn="just">
              <a:lnSpc>
                <a:spcPct val="100000"/>
              </a:lnSpc>
              <a:spcBef>
                <a:spcPts val="105"/>
              </a:spcBef>
              <a:buFont typeface="Arial MT"/>
              <a:buChar char="•"/>
              <a:tabLst>
                <a:tab pos="355600" algn="l"/>
              </a:tabLst>
            </a:pPr>
            <a:r>
              <a:rPr lang="en-US" sz="2100" dirty="0">
                <a:latin typeface="Times New Roman"/>
                <a:cs typeface="Times New Roman"/>
              </a:rPr>
              <a:t>Lack of simple, lightweight systems that balance performance and efficiency for real-time applications.</a:t>
            </a:r>
          </a:p>
          <a:p>
            <a:pPr marL="351790" marR="5080" indent="-339090" algn="just">
              <a:lnSpc>
                <a:spcPct val="100000"/>
              </a:lnSpc>
              <a:spcBef>
                <a:spcPts val="105"/>
              </a:spcBef>
              <a:buFont typeface="Arial MT"/>
              <a:buChar char="•"/>
              <a:tabLst>
                <a:tab pos="355600" algn="l"/>
              </a:tabLst>
            </a:pPr>
            <a:endParaRPr lang="en-US" sz="2100" dirty="0">
              <a:latin typeface="Times New Roman"/>
              <a:cs typeface="Times New Roman"/>
            </a:endParaRPr>
          </a:p>
          <a:p>
            <a:pPr marL="351790" marR="5080" indent="-339090" algn="just">
              <a:lnSpc>
                <a:spcPct val="100000"/>
              </a:lnSpc>
              <a:spcBef>
                <a:spcPts val="105"/>
              </a:spcBef>
              <a:buFont typeface="Arial MT"/>
              <a:buChar char="•"/>
              <a:tabLst>
                <a:tab pos="355600" algn="l"/>
              </a:tabLst>
            </a:pPr>
            <a:r>
              <a:rPr lang="en-US" sz="2100" dirty="0">
                <a:latin typeface="Times New Roman"/>
                <a:cs typeface="Times New Roman"/>
              </a:rPr>
              <a:t>Limited customization and user control in existing systems for generating specific types of content.</a:t>
            </a:r>
            <a:endParaRPr sz="2100" dirty="0">
              <a:latin typeface="Times New Roman"/>
              <a:cs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30378" rIns="0" bIns="0" rtlCol="0">
            <a:spAutoFit/>
          </a:bodyPr>
          <a:lstStyle/>
          <a:p>
            <a:pPr marL="386715">
              <a:lnSpc>
                <a:spcPct val="100000"/>
              </a:lnSpc>
              <a:spcBef>
                <a:spcPts val="100"/>
              </a:spcBef>
            </a:pPr>
            <a:r>
              <a:rPr dirty="0"/>
              <a:t>Problem</a:t>
            </a:r>
            <a:r>
              <a:rPr spc="-140" dirty="0"/>
              <a:t> </a:t>
            </a:r>
            <a:r>
              <a:rPr spc="-10" dirty="0"/>
              <a:t>Definition</a:t>
            </a:r>
          </a:p>
        </p:txBody>
      </p:sp>
      <p:sp>
        <p:nvSpPr>
          <p:cNvPr id="3" name="object 3"/>
          <p:cNvSpPr txBox="1"/>
          <p:nvPr/>
        </p:nvSpPr>
        <p:spPr>
          <a:xfrm>
            <a:off x="450951" y="1692071"/>
            <a:ext cx="9181897" cy="4178708"/>
          </a:xfrm>
          <a:prstGeom prst="rect">
            <a:avLst/>
          </a:prstGeom>
        </p:spPr>
        <p:txBody>
          <a:bodyPr vert="horz" wrap="square" lIns="0" tIns="13335" rIns="0" bIns="0" rtlCol="0">
            <a:spAutoFit/>
          </a:bodyPr>
          <a:lstStyle/>
          <a:p>
            <a:pPr marL="330200" marR="5080" indent="-317500" algn="just">
              <a:lnSpc>
                <a:spcPct val="100000"/>
              </a:lnSpc>
              <a:spcBef>
                <a:spcPts val="105"/>
              </a:spcBef>
              <a:buFont typeface="Arial MT"/>
              <a:buChar char="•"/>
              <a:tabLst>
                <a:tab pos="332740" algn="l"/>
              </a:tabLst>
            </a:pPr>
            <a:r>
              <a:rPr lang="en-US" sz="2200" dirty="0">
                <a:latin typeface="Times New Roman"/>
                <a:cs typeface="Times New Roman"/>
              </a:rPr>
              <a:t>Manual text generation is time-consuming and requires strong language skills and creativity.</a:t>
            </a:r>
          </a:p>
          <a:p>
            <a:pPr marL="330200" marR="5080" indent="-317500" algn="just">
              <a:lnSpc>
                <a:spcPct val="100000"/>
              </a:lnSpc>
              <a:spcBef>
                <a:spcPts val="105"/>
              </a:spcBef>
              <a:buFont typeface="Arial MT"/>
              <a:buChar char="•"/>
              <a:tabLst>
                <a:tab pos="332740" algn="l"/>
              </a:tabLst>
            </a:pPr>
            <a:endParaRPr lang="en-US" sz="2200" dirty="0">
              <a:latin typeface="Times New Roman"/>
              <a:cs typeface="Times New Roman"/>
            </a:endParaRPr>
          </a:p>
          <a:p>
            <a:pPr marL="330200" marR="5080" indent="-317500" algn="just">
              <a:lnSpc>
                <a:spcPct val="100000"/>
              </a:lnSpc>
              <a:spcBef>
                <a:spcPts val="105"/>
              </a:spcBef>
              <a:buFont typeface="Arial MT"/>
              <a:buChar char="•"/>
              <a:tabLst>
                <a:tab pos="332740" algn="l"/>
              </a:tabLst>
            </a:pPr>
            <a:r>
              <a:rPr lang="en-US" sz="2200" dirty="0">
                <a:latin typeface="Times New Roman"/>
                <a:cs typeface="Times New Roman"/>
              </a:rPr>
              <a:t>Users often struggle to create meaningful and well-structured content efficiently.</a:t>
            </a:r>
          </a:p>
          <a:p>
            <a:pPr marL="330200" marR="5080" indent="-317500" algn="just">
              <a:lnSpc>
                <a:spcPct val="100000"/>
              </a:lnSpc>
              <a:spcBef>
                <a:spcPts val="105"/>
              </a:spcBef>
              <a:buFont typeface="Arial MT"/>
              <a:buChar char="•"/>
              <a:tabLst>
                <a:tab pos="332740" algn="l"/>
              </a:tabLst>
            </a:pPr>
            <a:endParaRPr lang="en-US" sz="2200" dirty="0">
              <a:latin typeface="Times New Roman"/>
              <a:cs typeface="Times New Roman"/>
            </a:endParaRPr>
          </a:p>
          <a:p>
            <a:pPr marL="330200" marR="5080" indent="-317500" algn="just">
              <a:lnSpc>
                <a:spcPct val="100000"/>
              </a:lnSpc>
              <a:spcBef>
                <a:spcPts val="105"/>
              </a:spcBef>
              <a:buFont typeface="Arial MT"/>
              <a:buChar char="•"/>
              <a:tabLst>
                <a:tab pos="332740" algn="l"/>
              </a:tabLst>
            </a:pPr>
            <a:r>
              <a:rPr lang="en-US" sz="2200" dirty="0">
                <a:latin typeface="Times New Roman"/>
                <a:cs typeface="Times New Roman"/>
              </a:rPr>
              <a:t>Existing systems generate generic, repetitive, or contextually irrelevant text.</a:t>
            </a:r>
          </a:p>
          <a:p>
            <a:pPr marL="330200" marR="5080" indent="-317500" algn="just">
              <a:lnSpc>
                <a:spcPct val="100000"/>
              </a:lnSpc>
              <a:spcBef>
                <a:spcPts val="105"/>
              </a:spcBef>
              <a:buFont typeface="Arial MT"/>
              <a:buChar char="•"/>
              <a:tabLst>
                <a:tab pos="332740" algn="l"/>
              </a:tabLst>
            </a:pPr>
            <a:endParaRPr lang="en-US" sz="2200" dirty="0">
              <a:latin typeface="Times New Roman"/>
              <a:cs typeface="Times New Roman"/>
            </a:endParaRPr>
          </a:p>
          <a:p>
            <a:pPr marL="330200" marR="5080" indent="-317500" algn="just">
              <a:lnSpc>
                <a:spcPct val="100000"/>
              </a:lnSpc>
              <a:spcBef>
                <a:spcPts val="105"/>
              </a:spcBef>
              <a:buFont typeface="Arial MT"/>
              <a:buChar char="•"/>
              <a:tabLst>
                <a:tab pos="332740" algn="l"/>
              </a:tabLst>
            </a:pPr>
            <a:r>
              <a:rPr lang="en-US" sz="2200" dirty="0">
                <a:latin typeface="Times New Roman"/>
                <a:cs typeface="Times New Roman"/>
              </a:rPr>
              <a:t>Lack of proper understanding of user input leads to poor quality outputs.</a:t>
            </a:r>
          </a:p>
          <a:p>
            <a:pPr marL="330200" marR="5080" indent="-317500" algn="just">
              <a:lnSpc>
                <a:spcPct val="100000"/>
              </a:lnSpc>
              <a:spcBef>
                <a:spcPts val="105"/>
              </a:spcBef>
              <a:buFont typeface="Arial MT"/>
              <a:buChar char="•"/>
              <a:tabLst>
                <a:tab pos="332740" algn="l"/>
              </a:tabLst>
            </a:pPr>
            <a:endParaRPr lang="en-US" sz="2200" dirty="0">
              <a:latin typeface="Times New Roman"/>
              <a:cs typeface="Times New Roman"/>
            </a:endParaRPr>
          </a:p>
          <a:p>
            <a:pPr marL="330200" marR="5080" indent="-317500" algn="just">
              <a:lnSpc>
                <a:spcPct val="100000"/>
              </a:lnSpc>
              <a:spcBef>
                <a:spcPts val="105"/>
              </a:spcBef>
              <a:buFont typeface="Arial MT"/>
              <a:buChar char="•"/>
              <a:tabLst>
                <a:tab pos="332740" algn="l"/>
              </a:tabLst>
            </a:pPr>
            <a:r>
              <a:rPr lang="en-US" sz="2200" dirty="0">
                <a:latin typeface="Times New Roman"/>
                <a:cs typeface="Times New Roman"/>
              </a:rPr>
              <a:t>Need for an intelligent system that can generate accurate, coherent, and context-aware text automatically.</a:t>
            </a:r>
            <a:endParaRPr sz="2200" dirty="0">
              <a:latin typeface="Times New Roman"/>
              <a:cs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43078" rIns="0" bIns="0" rtlCol="0">
            <a:spAutoFit/>
          </a:bodyPr>
          <a:lstStyle/>
          <a:p>
            <a:pPr marL="578485">
              <a:lnSpc>
                <a:spcPct val="100000"/>
              </a:lnSpc>
              <a:spcBef>
                <a:spcPts val="100"/>
              </a:spcBef>
            </a:pPr>
            <a:r>
              <a:rPr spc="-10" dirty="0"/>
              <a:t>Scope</a:t>
            </a:r>
          </a:p>
        </p:txBody>
      </p:sp>
      <p:sp>
        <p:nvSpPr>
          <p:cNvPr id="3" name="object 3"/>
          <p:cNvSpPr txBox="1"/>
          <p:nvPr/>
        </p:nvSpPr>
        <p:spPr>
          <a:xfrm>
            <a:off x="698500" y="1784404"/>
            <a:ext cx="8972449" cy="3994042"/>
          </a:xfrm>
          <a:prstGeom prst="rect">
            <a:avLst/>
          </a:prstGeom>
        </p:spPr>
        <p:txBody>
          <a:bodyPr vert="horz" wrap="square" lIns="0" tIns="13335" rIns="0" bIns="0" rtlCol="0">
            <a:spAutoFit/>
          </a:bodyPr>
          <a:lstStyle/>
          <a:p>
            <a:pPr marL="332740" marR="5080" indent="-320040" algn="just">
              <a:lnSpc>
                <a:spcPct val="100000"/>
              </a:lnSpc>
              <a:spcBef>
                <a:spcPts val="105"/>
              </a:spcBef>
              <a:buSzPct val="70000"/>
              <a:buFont typeface="Arial MT"/>
              <a:buChar char="•"/>
              <a:tabLst>
                <a:tab pos="332740" algn="l"/>
              </a:tabLst>
            </a:pPr>
            <a:r>
              <a:rPr lang="en-US" sz="2100" dirty="0">
                <a:latin typeface="Times New Roman"/>
                <a:cs typeface="Times New Roman"/>
              </a:rPr>
              <a:t>Can be used for automated content creation such as reports, articles, and emails.</a:t>
            </a:r>
          </a:p>
          <a:p>
            <a:pPr marL="332740" marR="5080" indent="-320040" algn="just">
              <a:lnSpc>
                <a:spcPct val="100000"/>
              </a:lnSpc>
              <a:spcBef>
                <a:spcPts val="105"/>
              </a:spcBef>
              <a:buSzPct val="70000"/>
              <a:buFont typeface="Arial MT"/>
              <a:buChar char="•"/>
              <a:tabLst>
                <a:tab pos="332740" algn="l"/>
              </a:tabLst>
            </a:pPr>
            <a:endParaRPr lang="en-US" sz="2100" dirty="0">
              <a:latin typeface="Times New Roman"/>
              <a:cs typeface="Times New Roman"/>
            </a:endParaRPr>
          </a:p>
          <a:p>
            <a:pPr marL="332740" marR="5080" indent="-320040" algn="just">
              <a:lnSpc>
                <a:spcPct val="100000"/>
              </a:lnSpc>
              <a:spcBef>
                <a:spcPts val="105"/>
              </a:spcBef>
              <a:buSzPct val="70000"/>
              <a:buFont typeface="Arial MT"/>
              <a:buChar char="•"/>
              <a:tabLst>
                <a:tab pos="332740" algn="l"/>
              </a:tabLst>
            </a:pPr>
            <a:r>
              <a:rPr lang="en-US" sz="2100" dirty="0">
                <a:latin typeface="Times New Roman"/>
                <a:cs typeface="Times New Roman"/>
              </a:rPr>
              <a:t>Applicable in chatbots and virtual assistants for generating human-like responses.</a:t>
            </a:r>
          </a:p>
          <a:p>
            <a:pPr marL="332740" marR="5080" indent="-320040" algn="just">
              <a:lnSpc>
                <a:spcPct val="100000"/>
              </a:lnSpc>
              <a:spcBef>
                <a:spcPts val="105"/>
              </a:spcBef>
              <a:buSzPct val="70000"/>
              <a:buFont typeface="Arial MT"/>
              <a:buChar char="•"/>
              <a:tabLst>
                <a:tab pos="332740" algn="l"/>
              </a:tabLst>
            </a:pPr>
            <a:endParaRPr lang="en-US" sz="2100" dirty="0">
              <a:latin typeface="Times New Roman"/>
              <a:cs typeface="Times New Roman"/>
            </a:endParaRPr>
          </a:p>
          <a:p>
            <a:pPr marL="332740" marR="5080" indent="-320040" algn="just">
              <a:lnSpc>
                <a:spcPct val="100000"/>
              </a:lnSpc>
              <a:spcBef>
                <a:spcPts val="105"/>
              </a:spcBef>
              <a:buSzPct val="70000"/>
              <a:buFont typeface="Arial MT"/>
              <a:buChar char="•"/>
              <a:tabLst>
                <a:tab pos="332740" algn="l"/>
              </a:tabLst>
            </a:pPr>
            <a:r>
              <a:rPr lang="en-US" sz="2100" dirty="0">
                <a:latin typeface="Times New Roman"/>
                <a:cs typeface="Times New Roman"/>
              </a:rPr>
              <a:t>Useful in education for assisting students in writing and learning tasks.</a:t>
            </a:r>
          </a:p>
          <a:p>
            <a:pPr marL="332740" marR="5080" indent="-320040" algn="just">
              <a:lnSpc>
                <a:spcPct val="100000"/>
              </a:lnSpc>
              <a:spcBef>
                <a:spcPts val="105"/>
              </a:spcBef>
              <a:buSzPct val="70000"/>
              <a:buFont typeface="Arial MT"/>
              <a:buChar char="•"/>
              <a:tabLst>
                <a:tab pos="332740" algn="l"/>
              </a:tabLst>
            </a:pPr>
            <a:endParaRPr lang="en-US" sz="2100" dirty="0">
              <a:latin typeface="Times New Roman"/>
              <a:cs typeface="Times New Roman"/>
            </a:endParaRPr>
          </a:p>
          <a:p>
            <a:pPr marL="332740" marR="5080" indent="-320040" algn="just">
              <a:lnSpc>
                <a:spcPct val="100000"/>
              </a:lnSpc>
              <a:spcBef>
                <a:spcPts val="105"/>
              </a:spcBef>
              <a:buSzPct val="70000"/>
              <a:buFont typeface="Arial MT"/>
              <a:buChar char="•"/>
              <a:tabLst>
                <a:tab pos="332740" algn="l"/>
              </a:tabLst>
            </a:pPr>
            <a:r>
              <a:rPr lang="en-US" sz="2100" dirty="0">
                <a:latin typeface="Times New Roman"/>
                <a:cs typeface="Times New Roman"/>
              </a:rPr>
              <a:t>Can be extended with advanced AI models for improved accuracy and contextual understanding.</a:t>
            </a:r>
          </a:p>
          <a:p>
            <a:pPr marL="332740" marR="5080" indent="-320040" algn="just">
              <a:lnSpc>
                <a:spcPct val="100000"/>
              </a:lnSpc>
              <a:spcBef>
                <a:spcPts val="105"/>
              </a:spcBef>
              <a:buSzPct val="70000"/>
              <a:buFont typeface="Arial MT"/>
              <a:buChar char="•"/>
              <a:tabLst>
                <a:tab pos="332740" algn="l"/>
              </a:tabLst>
            </a:pPr>
            <a:endParaRPr lang="en-US" sz="2100" dirty="0">
              <a:latin typeface="Times New Roman"/>
              <a:cs typeface="Times New Roman"/>
            </a:endParaRPr>
          </a:p>
          <a:p>
            <a:pPr marL="332740" marR="5080" indent="-320040" algn="just">
              <a:lnSpc>
                <a:spcPct val="100000"/>
              </a:lnSpc>
              <a:spcBef>
                <a:spcPts val="105"/>
              </a:spcBef>
              <a:buSzPct val="70000"/>
              <a:buFont typeface="Arial MT"/>
              <a:buChar char="•"/>
              <a:tabLst>
                <a:tab pos="332740" algn="l"/>
              </a:tabLst>
            </a:pPr>
            <a:r>
              <a:rPr lang="en-US" sz="2100" dirty="0">
                <a:latin typeface="Times New Roman"/>
                <a:cs typeface="Times New Roman"/>
              </a:rPr>
              <a:t>Has potential for integration with web applications for real-time text generation services.</a:t>
            </a:r>
            <a:endParaRPr sz="2100" dirty="0">
              <a:latin typeface="Times New Roman"/>
              <a:cs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93014-5C7C-B409-F7F1-31ED160F4DBB}"/>
              </a:ext>
            </a:extLst>
          </p:cNvPr>
          <p:cNvSpPr>
            <a:spLocks noGrp="1"/>
          </p:cNvSpPr>
          <p:nvPr>
            <p:ph type="title"/>
          </p:nvPr>
        </p:nvSpPr>
        <p:spPr>
          <a:xfrm>
            <a:off x="622300" y="657225"/>
            <a:ext cx="7421245" cy="553998"/>
          </a:xfrm>
        </p:spPr>
        <p:txBody>
          <a:bodyPr/>
          <a:lstStyle/>
          <a:p>
            <a:r>
              <a:rPr lang="en-IN" dirty="0"/>
              <a:t>Proposed System Architecture </a:t>
            </a:r>
          </a:p>
        </p:txBody>
      </p:sp>
      <p:sp>
        <p:nvSpPr>
          <p:cNvPr id="3" name="Text Placeholder 2">
            <a:extLst>
              <a:ext uri="{FF2B5EF4-FFF2-40B4-BE49-F238E27FC236}">
                <a16:creationId xmlns:a16="http://schemas.microsoft.com/office/drawing/2014/main" id="{3C44FE7E-B103-CB6D-367F-D3020750DEE9}"/>
              </a:ext>
            </a:extLst>
          </p:cNvPr>
          <p:cNvSpPr>
            <a:spLocks noGrp="1"/>
          </p:cNvSpPr>
          <p:nvPr>
            <p:ph type="body" idx="1"/>
          </p:nvPr>
        </p:nvSpPr>
        <p:spPr>
          <a:xfrm>
            <a:off x="6184900" y="1938655"/>
            <a:ext cx="4456429" cy="492443"/>
          </a:xfrm>
        </p:spPr>
        <p:txBody>
          <a:bodyPr/>
          <a:lstStyle/>
          <a:p>
            <a:r>
              <a:rPr lang="en-IN" dirty="0"/>
              <a:t>*</a:t>
            </a:r>
          </a:p>
        </p:txBody>
      </p:sp>
      <p:pic>
        <p:nvPicPr>
          <p:cNvPr id="4" name="Picture 3">
            <a:extLst>
              <a:ext uri="{FF2B5EF4-FFF2-40B4-BE49-F238E27FC236}">
                <a16:creationId xmlns:a16="http://schemas.microsoft.com/office/drawing/2014/main" id="{A7B3E1B5-454A-F847-3597-DAD0AA871FE0}"/>
              </a:ext>
            </a:extLst>
          </p:cNvPr>
          <p:cNvPicPr/>
          <p:nvPr/>
        </p:nvPicPr>
        <p:blipFill>
          <a:blip r:embed="rId2"/>
          <a:stretch>
            <a:fillRect/>
          </a:stretch>
        </p:blipFill>
        <p:spPr>
          <a:xfrm>
            <a:off x="1765300" y="1495425"/>
            <a:ext cx="6125845" cy="5538113"/>
          </a:xfrm>
          <a:prstGeom prst="rect">
            <a:avLst/>
          </a:prstGeom>
        </p:spPr>
      </p:pic>
      <p:sp>
        <p:nvSpPr>
          <p:cNvPr id="5" name="Rectangle 4">
            <a:extLst>
              <a:ext uri="{FF2B5EF4-FFF2-40B4-BE49-F238E27FC236}">
                <a16:creationId xmlns:a16="http://schemas.microsoft.com/office/drawing/2014/main" id="{121EFB4D-1EC1-5DAB-B5F8-2BD2A757B16F}"/>
              </a:ext>
            </a:extLst>
          </p:cNvPr>
          <p:cNvSpPr/>
          <p:nvPr/>
        </p:nvSpPr>
        <p:spPr>
          <a:xfrm>
            <a:off x="5727700" y="1647825"/>
            <a:ext cx="1524000" cy="381000"/>
          </a:xfrm>
          <a:prstGeom prst="rect">
            <a:avLst/>
          </a:prstGeom>
          <a:solidFill>
            <a:schemeClr val="tx2">
              <a:lumMod val="20000"/>
              <a:lumOff val="80000"/>
            </a:schemeClr>
          </a:solidFill>
          <a:ln>
            <a:solidFill>
              <a:schemeClr val="tx2">
                <a:lumMod val="20000"/>
                <a:lumOff val="8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8507141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8402" rIns="0" bIns="0" rtlCol="0">
            <a:spAutoFit/>
          </a:bodyPr>
          <a:lstStyle/>
          <a:p>
            <a:pPr marL="12700">
              <a:lnSpc>
                <a:spcPct val="100000"/>
              </a:lnSpc>
              <a:spcBef>
                <a:spcPts val="100"/>
              </a:spcBef>
            </a:pPr>
            <a:r>
              <a:rPr spc="-10" dirty="0"/>
              <a:t>Technological</a:t>
            </a:r>
            <a:r>
              <a:rPr spc="-110" dirty="0"/>
              <a:t> </a:t>
            </a:r>
            <a:r>
              <a:rPr spc="-10" dirty="0"/>
              <a:t>Stack</a:t>
            </a:r>
          </a:p>
        </p:txBody>
      </p:sp>
      <p:sp>
        <p:nvSpPr>
          <p:cNvPr id="3" name="object 3"/>
          <p:cNvSpPr txBox="1"/>
          <p:nvPr/>
        </p:nvSpPr>
        <p:spPr>
          <a:xfrm>
            <a:off x="490524" y="1647825"/>
            <a:ext cx="8442960" cy="4809650"/>
          </a:xfrm>
          <a:prstGeom prst="rect">
            <a:avLst/>
          </a:prstGeom>
        </p:spPr>
        <p:txBody>
          <a:bodyPr vert="horz" wrap="square" lIns="0" tIns="13335" rIns="0" bIns="0" rtlCol="0">
            <a:spAutoFit/>
          </a:bodyPr>
          <a:lstStyle/>
          <a:p>
            <a:pPr marL="299085" indent="-286385">
              <a:lnSpc>
                <a:spcPct val="100000"/>
              </a:lnSpc>
              <a:spcBef>
                <a:spcPts val="105"/>
              </a:spcBef>
              <a:buFont typeface="Arial MT"/>
              <a:buChar char="•"/>
              <a:tabLst>
                <a:tab pos="299085" algn="l"/>
              </a:tabLst>
            </a:pPr>
            <a:r>
              <a:rPr lang="en-IN" sz="2000" b="1" dirty="0">
                <a:latin typeface="Times New Roman"/>
                <a:cs typeface="Times New Roman"/>
              </a:rPr>
              <a:t>Frontend: </a:t>
            </a:r>
            <a:r>
              <a:rPr lang="en-IN" sz="2000" dirty="0">
                <a:latin typeface="Times New Roman"/>
                <a:cs typeface="Times New Roman"/>
              </a:rPr>
              <a:t>HTML, CSS, JavaScript (for user interface and interaction)</a:t>
            </a:r>
          </a:p>
          <a:p>
            <a:pPr marL="299085" indent="-286385">
              <a:lnSpc>
                <a:spcPct val="100000"/>
              </a:lnSpc>
              <a:spcBef>
                <a:spcPts val="105"/>
              </a:spcBef>
              <a:buFont typeface="Arial MT"/>
              <a:buChar char="•"/>
              <a:tabLst>
                <a:tab pos="299085" algn="l"/>
              </a:tabLst>
            </a:pPr>
            <a:endParaRPr lang="en-IN" sz="2000" dirty="0">
              <a:latin typeface="Times New Roman"/>
              <a:cs typeface="Times New Roman"/>
            </a:endParaRPr>
          </a:p>
          <a:p>
            <a:pPr marL="299085" indent="-286385">
              <a:lnSpc>
                <a:spcPct val="100000"/>
              </a:lnSpc>
              <a:spcBef>
                <a:spcPts val="105"/>
              </a:spcBef>
              <a:buFont typeface="Arial MT"/>
              <a:buChar char="•"/>
              <a:tabLst>
                <a:tab pos="299085" algn="l"/>
              </a:tabLst>
            </a:pPr>
            <a:r>
              <a:rPr lang="en-IN" sz="2000" b="1" dirty="0">
                <a:latin typeface="Times New Roman"/>
                <a:cs typeface="Times New Roman"/>
              </a:rPr>
              <a:t>Backend</a:t>
            </a:r>
            <a:r>
              <a:rPr lang="en-IN" sz="2000" dirty="0">
                <a:latin typeface="Times New Roman"/>
                <a:cs typeface="Times New Roman"/>
              </a:rPr>
              <a:t>: Python, Flask (for handling requests and text generation logic)</a:t>
            </a:r>
          </a:p>
          <a:p>
            <a:pPr marL="299085" indent="-286385">
              <a:lnSpc>
                <a:spcPct val="100000"/>
              </a:lnSpc>
              <a:spcBef>
                <a:spcPts val="105"/>
              </a:spcBef>
              <a:buFont typeface="Arial MT"/>
              <a:buChar char="•"/>
              <a:tabLst>
                <a:tab pos="299085" algn="l"/>
              </a:tabLst>
            </a:pPr>
            <a:endParaRPr lang="en-IN" sz="2000" dirty="0">
              <a:latin typeface="Times New Roman"/>
              <a:cs typeface="Times New Roman"/>
            </a:endParaRPr>
          </a:p>
          <a:p>
            <a:pPr marL="299085" indent="-286385">
              <a:lnSpc>
                <a:spcPct val="100000"/>
              </a:lnSpc>
              <a:spcBef>
                <a:spcPts val="105"/>
              </a:spcBef>
              <a:buFont typeface="Arial MT"/>
              <a:buChar char="•"/>
              <a:tabLst>
                <a:tab pos="299085" algn="l"/>
              </a:tabLst>
            </a:pPr>
            <a:r>
              <a:rPr lang="en-IN" sz="2000" b="1" dirty="0">
                <a:latin typeface="Times New Roman"/>
                <a:cs typeface="Times New Roman"/>
              </a:rPr>
              <a:t>Machine Learning Model: </a:t>
            </a:r>
            <a:r>
              <a:rPr lang="en-IN" sz="2000" dirty="0">
                <a:latin typeface="Times New Roman"/>
                <a:cs typeface="Times New Roman"/>
              </a:rPr>
              <a:t>Markov Chain Model</a:t>
            </a:r>
          </a:p>
          <a:p>
            <a:pPr marL="299085" indent="-286385">
              <a:lnSpc>
                <a:spcPct val="100000"/>
              </a:lnSpc>
              <a:spcBef>
                <a:spcPts val="105"/>
              </a:spcBef>
              <a:buFont typeface="Arial MT"/>
              <a:buChar char="•"/>
              <a:tabLst>
                <a:tab pos="299085" algn="l"/>
              </a:tabLst>
            </a:pPr>
            <a:endParaRPr lang="en-IN" sz="2000" b="1" dirty="0">
              <a:latin typeface="Times New Roman"/>
              <a:cs typeface="Times New Roman"/>
            </a:endParaRPr>
          </a:p>
          <a:p>
            <a:pPr marL="299085" indent="-286385">
              <a:lnSpc>
                <a:spcPct val="100000"/>
              </a:lnSpc>
              <a:spcBef>
                <a:spcPts val="105"/>
              </a:spcBef>
              <a:buFont typeface="Arial MT"/>
              <a:buChar char="•"/>
              <a:tabLst>
                <a:tab pos="299085" algn="l"/>
              </a:tabLst>
            </a:pPr>
            <a:r>
              <a:rPr lang="en-IN" sz="2000" b="1" dirty="0">
                <a:latin typeface="Times New Roman"/>
                <a:cs typeface="Times New Roman"/>
              </a:rPr>
              <a:t>NLP Techniques: </a:t>
            </a:r>
            <a:r>
              <a:rPr lang="en-IN" sz="2000" dirty="0">
                <a:latin typeface="Times New Roman"/>
                <a:cs typeface="Times New Roman"/>
              </a:rPr>
              <a:t>Tokenization, Text Cleaning, Normalization</a:t>
            </a:r>
          </a:p>
          <a:p>
            <a:pPr marL="299085" indent="-286385">
              <a:lnSpc>
                <a:spcPct val="100000"/>
              </a:lnSpc>
              <a:spcBef>
                <a:spcPts val="105"/>
              </a:spcBef>
              <a:buFont typeface="Arial MT"/>
              <a:buChar char="•"/>
              <a:tabLst>
                <a:tab pos="299085" algn="l"/>
              </a:tabLst>
            </a:pPr>
            <a:endParaRPr lang="en-IN" sz="2000" b="1" dirty="0">
              <a:latin typeface="Times New Roman"/>
              <a:cs typeface="Times New Roman"/>
            </a:endParaRPr>
          </a:p>
          <a:p>
            <a:pPr marL="299085" indent="-286385">
              <a:lnSpc>
                <a:spcPct val="100000"/>
              </a:lnSpc>
              <a:spcBef>
                <a:spcPts val="105"/>
              </a:spcBef>
              <a:buFont typeface="Arial MT"/>
              <a:buChar char="•"/>
              <a:tabLst>
                <a:tab pos="299085" algn="l"/>
              </a:tabLst>
            </a:pPr>
            <a:r>
              <a:rPr lang="en-IN" sz="2000" b="1" dirty="0">
                <a:latin typeface="Times New Roman"/>
                <a:cs typeface="Times New Roman"/>
              </a:rPr>
              <a:t>Text Processing Libraries: </a:t>
            </a:r>
            <a:r>
              <a:rPr lang="en-IN" sz="2000" dirty="0">
                <a:latin typeface="Times New Roman"/>
                <a:cs typeface="Times New Roman"/>
              </a:rPr>
              <a:t>NLTK / re (Regular Expressions)</a:t>
            </a:r>
          </a:p>
          <a:p>
            <a:pPr marL="299085" indent="-286385">
              <a:lnSpc>
                <a:spcPct val="100000"/>
              </a:lnSpc>
              <a:spcBef>
                <a:spcPts val="105"/>
              </a:spcBef>
              <a:buFont typeface="Arial MT"/>
              <a:buChar char="•"/>
              <a:tabLst>
                <a:tab pos="299085" algn="l"/>
              </a:tabLst>
            </a:pPr>
            <a:endParaRPr lang="en-IN" sz="2000" b="1" dirty="0">
              <a:latin typeface="Times New Roman"/>
              <a:cs typeface="Times New Roman"/>
            </a:endParaRPr>
          </a:p>
          <a:p>
            <a:pPr marL="299085" indent="-286385">
              <a:lnSpc>
                <a:spcPct val="100000"/>
              </a:lnSpc>
              <a:spcBef>
                <a:spcPts val="105"/>
              </a:spcBef>
              <a:buFont typeface="Arial MT"/>
              <a:buChar char="•"/>
              <a:tabLst>
                <a:tab pos="299085" algn="l"/>
              </a:tabLst>
            </a:pPr>
            <a:r>
              <a:rPr lang="en-IN" sz="2000" b="1" dirty="0">
                <a:latin typeface="Times New Roman"/>
                <a:cs typeface="Times New Roman"/>
              </a:rPr>
              <a:t>Data Processing: </a:t>
            </a:r>
            <a:r>
              <a:rPr lang="en-IN" sz="2000" dirty="0">
                <a:latin typeface="Times New Roman"/>
                <a:cs typeface="Times New Roman"/>
              </a:rPr>
              <a:t>Python standard libraries (lists, dictionaries)</a:t>
            </a:r>
          </a:p>
          <a:p>
            <a:pPr marL="12700">
              <a:lnSpc>
                <a:spcPct val="100000"/>
              </a:lnSpc>
              <a:spcBef>
                <a:spcPts val="105"/>
              </a:spcBef>
              <a:tabLst>
                <a:tab pos="299085" algn="l"/>
              </a:tabLst>
            </a:pPr>
            <a:endParaRPr lang="en-IN" sz="2000" b="1" dirty="0">
              <a:latin typeface="Times New Roman"/>
              <a:cs typeface="Times New Roman"/>
            </a:endParaRPr>
          </a:p>
          <a:p>
            <a:pPr marL="299085" indent="-286385">
              <a:lnSpc>
                <a:spcPct val="100000"/>
              </a:lnSpc>
              <a:spcBef>
                <a:spcPts val="105"/>
              </a:spcBef>
              <a:buFont typeface="Arial MT"/>
              <a:buChar char="•"/>
              <a:tabLst>
                <a:tab pos="299085" algn="l"/>
              </a:tabLst>
            </a:pPr>
            <a:r>
              <a:rPr lang="en-IN" sz="2000" b="1" dirty="0">
                <a:latin typeface="Times New Roman"/>
                <a:cs typeface="Times New Roman"/>
              </a:rPr>
              <a:t>Model Storage: </a:t>
            </a:r>
            <a:r>
              <a:rPr lang="en-IN" sz="2000" dirty="0">
                <a:latin typeface="Times New Roman"/>
                <a:cs typeface="Times New Roman"/>
              </a:rPr>
              <a:t>Serialized model using Pickle (.</a:t>
            </a:r>
            <a:r>
              <a:rPr lang="en-IN" sz="2000" dirty="0" err="1">
                <a:latin typeface="Times New Roman"/>
                <a:cs typeface="Times New Roman"/>
              </a:rPr>
              <a:t>pkl</a:t>
            </a:r>
            <a:r>
              <a:rPr lang="en-IN" sz="2000" dirty="0">
                <a:latin typeface="Times New Roman"/>
                <a:cs typeface="Times New Roman"/>
              </a:rPr>
              <a:t>)</a:t>
            </a:r>
          </a:p>
          <a:p>
            <a:pPr marL="299085" indent="-286385">
              <a:lnSpc>
                <a:spcPct val="100000"/>
              </a:lnSpc>
              <a:spcBef>
                <a:spcPts val="105"/>
              </a:spcBef>
              <a:buFont typeface="Arial MT"/>
              <a:buChar char="•"/>
              <a:tabLst>
                <a:tab pos="299085" algn="l"/>
              </a:tabLst>
            </a:pPr>
            <a:endParaRPr lang="en-IN" sz="2000" b="1" dirty="0">
              <a:latin typeface="Times New Roman"/>
              <a:cs typeface="Times New Roman"/>
            </a:endParaRPr>
          </a:p>
          <a:p>
            <a:pPr marL="299085" indent="-286385">
              <a:lnSpc>
                <a:spcPct val="100000"/>
              </a:lnSpc>
              <a:spcBef>
                <a:spcPts val="105"/>
              </a:spcBef>
              <a:buFont typeface="Arial MT"/>
              <a:buChar char="•"/>
              <a:tabLst>
                <a:tab pos="299085" algn="l"/>
              </a:tabLst>
            </a:pPr>
            <a:r>
              <a:rPr lang="en-IN" sz="2000" b="1" dirty="0">
                <a:latin typeface="Times New Roman"/>
                <a:cs typeface="Times New Roman"/>
              </a:rPr>
              <a:t>API Communication: </a:t>
            </a:r>
            <a:r>
              <a:rPr lang="en-IN" sz="2000" dirty="0">
                <a:latin typeface="Times New Roman"/>
                <a:cs typeface="Times New Roman"/>
              </a:rPr>
              <a:t>REST API using Flask and Fetch API (JavaScript</a:t>
            </a:r>
            <a:r>
              <a:rPr lang="en-IN" sz="2000" b="1" dirty="0">
                <a:latin typeface="Times New Roman"/>
                <a:cs typeface="Times New Roman"/>
              </a:rPr>
              <a:t>)</a:t>
            </a:r>
            <a:endParaRPr sz="2000" dirty="0">
              <a:latin typeface="Times New Roman"/>
              <a:cs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5" name="object 5"/>
          <p:cNvGrpSpPr/>
          <p:nvPr/>
        </p:nvGrpSpPr>
        <p:grpSpPr>
          <a:xfrm>
            <a:off x="5652387" y="-4762"/>
            <a:ext cx="4434205" cy="7569200"/>
            <a:chOff x="5652387" y="-4762"/>
            <a:chExt cx="4434205" cy="7569200"/>
          </a:xfrm>
        </p:grpSpPr>
        <p:sp>
          <p:nvSpPr>
            <p:cNvPr id="6" name="object 6"/>
            <p:cNvSpPr/>
            <p:nvPr/>
          </p:nvSpPr>
          <p:spPr>
            <a:xfrm>
              <a:off x="5657149" y="0"/>
              <a:ext cx="4424680" cy="7559675"/>
            </a:xfrm>
            <a:custGeom>
              <a:avLst/>
              <a:gdLst/>
              <a:ahLst/>
              <a:cxnLst/>
              <a:rect l="l" t="t" r="r" b="b"/>
              <a:pathLst>
                <a:path w="4424680" h="7559675">
                  <a:moveTo>
                    <a:pt x="0" y="7559040"/>
                  </a:moveTo>
                  <a:lnTo>
                    <a:pt x="4424110" y="4608028"/>
                  </a:lnTo>
                </a:path>
                <a:path w="4424680" h="7559675">
                  <a:moveTo>
                    <a:pt x="2107249" y="0"/>
                  </a:moveTo>
                  <a:lnTo>
                    <a:pt x="3450274" y="7559673"/>
                  </a:lnTo>
                </a:path>
              </a:pathLst>
            </a:custGeom>
            <a:ln w="9525">
              <a:solidFill>
                <a:srgbClr val="5FCAEE"/>
              </a:solidFill>
            </a:ln>
          </p:spPr>
          <p:txBody>
            <a:bodyPr wrap="square" lIns="0" tIns="0" rIns="0" bIns="0" rtlCol="0"/>
            <a:lstStyle/>
            <a:p>
              <a:endParaRPr/>
            </a:p>
          </p:txBody>
        </p:sp>
        <p:sp>
          <p:nvSpPr>
            <p:cNvPr id="7" name="object 7"/>
            <p:cNvSpPr/>
            <p:nvPr/>
          </p:nvSpPr>
          <p:spPr>
            <a:xfrm>
              <a:off x="7598019" y="0"/>
              <a:ext cx="2483485" cy="7559040"/>
            </a:xfrm>
            <a:custGeom>
              <a:avLst/>
              <a:gdLst/>
              <a:ahLst/>
              <a:cxnLst/>
              <a:rect l="l" t="t" r="r" b="b"/>
              <a:pathLst>
                <a:path w="2483484" h="7559040">
                  <a:moveTo>
                    <a:pt x="2230510" y="0"/>
                  </a:moveTo>
                  <a:lnTo>
                    <a:pt x="0" y="7559040"/>
                  </a:lnTo>
                  <a:lnTo>
                    <a:pt x="2483240" y="7559040"/>
                  </a:lnTo>
                  <a:lnTo>
                    <a:pt x="2483240" y="8964"/>
                  </a:lnTo>
                  <a:lnTo>
                    <a:pt x="2230510" y="0"/>
                  </a:lnTo>
                  <a:close/>
                </a:path>
              </a:pathLst>
            </a:custGeom>
            <a:solidFill>
              <a:srgbClr val="5FCAEE">
                <a:alpha val="35293"/>
              </a:srgbClr>
            </a:solidFill>
          </p:spPr>
          <p:txBody>
            <a:bodyPr wrap="square" lIns="0" tIns="0" rIns="0" bIns="0" rtlCol="0"/>
            <a:lstStyle/>
            <a:p>
              <a:endParaRPr/>
            </a:p>
          </p:txBody>
        </p:sp>
        <p:sp>
          <p:nvSpPr>
            <p:cNvPr id="8" name="object 8"/>
            <p:cNvSpPr/>
            <p:nvPr/>
          </p:nvSpPr>
          <p:spPr>
            <a:xfrm>
              <a:off x="7943867" y="0"/>
              <a:ext cx="2137410" cy="7559040"/>
            </a:xfrm>
            <a:custGeom>
              <a:avLst/>
              <a:gdLst/>
              <a:ahLst/>
              <a:cxnLst/>
              <a:rect l="l" t="t" r="r" b="b"/>
              <a:pathLst>
                <a:path w="2137409" h="7559040">
                  <a:moveTo>
                    <a:pt x="2137392" y="0"/>
                  </a:moveTo>
                  <a:lnTo>
                    <a:pt x="0" y="0"/>
                  </a:lnTo>
                  <a:lnTo>
                    <a:pt x="1323846" y="7559040"/>
                  </a:lnTo>
                  <a:lnTo>
                    <a:pt x="2137392" y="7559040"/>
                  </a:lnTo>
                  <a:lnTo>
                    <a:pt x="2137392" y="0"/>
                  </a:lnTo>
                  <a:close/>
                </a:path>
              </a:pathLst>
            </a:custGeom>
            <a:solidFill>
              <a:srgbClr val="5FCAEE">
                <a:alpha val="19215"/>
              </a:srgbClr>
            </a:solidFill>
          </p:spPr>
          <p:txBody>
            <a:bodyPr wrap="square" lIns="0" tIns="0" rIns="0" bIns="0" rtlCol="0"/>
            <a:lstStyle/>
            <a:p>
              <a:endParaRPr/>
            </a:p>
          </p:txBody>
        </p:sp>
        <p:sp>
          <p:nvSpPr>
            <p:cNvPr id="9" name="object 9"/>
            <p:cNvSpPr/>
            <p:nvPr/>
          </p:nvSpPr>
          <p:spPr>
            <a:xfrm>
              <a:off x="7318916" y="4321324"/>
              <a:ext cx="2762885" cy="3237865"/>
            </a:xfrm>
            <a:custGeom>
              <a:avLst/>
              <a:gdLst/>
              <a:ahLst/>
              <a:cxnLst/>
              <a:rect l="l" t="t" r="r" b="b"/>
              <a:pathLst>
                <a:path w="2762884" h="3237865">
                  <a:moveTo>
                    <a:pt x="2762343" y="0"/>
                  </a:moveTo>
                  <a:lnTo>
                    <a:pt x="0" y="3237715"/>
                  </a:lnTo>
                  <a:lnTo>
                    <a:pt x="2762343" y="3237715"/>
                  </a:lnTo>
                  <a:lnTo>
                    <a:pt x="2762343" y="0"/>
                  </a:lnTo>
                  <a:close/>
                </a:path>
              </a:pathLst>
            </a:custGeom>
            <a:solidFill>
              <a:srgbClr val="17AFE3">
                <a:alpha val="65097"/>
              </a:srgbClr>
            </a:solidFill>
          </p:spPr>
          <p:txBody>
            <a:bodyPr wrap="square" lIns="0" tIns="0" rIns="0" bIns="0" rtlCol="0"/>
            <a:lstStyle/>
            <a:p>
              <a:endParaRPr/>
            </a:p>
          </p:txBody>
        </p:sp>
        <p:sp>
          <p:nvSpPr>
            <p:cNvPr id="10" name="object 10"/>
            <p:cNvSpPr/>
            <p:nvPr/>
          </p:nvSpPr>
          <p:spPr>
            <a:xfrm>
              <a:off x="7730525" y="0"/>
              <a:ext cx="2350770" cy="7559040"/>
            </a:xfrm>
            <a:custGeom>
              <a:avLst/>
              <a:gdLst/>
              <a:ahLst/>
              <a:cxnLst/>
              <a:rect l="l" t="t" r="r" b="b"/>
              <a:pathLst>
                <a:path w="2350770" h="7559040">
                  <a:moveTo>
                    <a:pt x="2350734" y="0"/>
                  </a:moveTo>
                  <a:lnTo>
                    <a:pt x="0" y="0"/>
                  </a:lnTo>
                  <a:lnTo>
                    <a:pt x="2043984" y="7559040"/>
                  </a:lnTo>
                  <a:lnTo>
                    <a:pt x="2065639" y="7559040"/>
                  </a:lnTo>
                  <a:lnTo>
                    <a:pt x="2350734" y="7550605"/>
                  </a:lnTo>
                  <a:lnTo>
                    <a:pt x="2350734" y="0"/>
                  </a:lnTo>
                  <a:close/>
                </a:path>
              </a:pathLst>
            </a:custGeom>
            <a:solidFill>
              <a:srgbClr val="17AFE3">
                <a:alpha val="49411"/>
              </a:srgbClr>
            </a:solidFill>
          </p:spPr>
          <p:txBody>
            <a:bodyPr wrap="square" lIns="0" tIns="0" rIns="0" bIns="0" rtlCol="0"/>
            <a:lstStyle/>
            <a:p>
              <a:endParaRPr/>
            </a:p>
          </p:txBody>
        </p:sp>
        <p:sp>
          <p:nvSpPr>
            <p:cNvPr id="11" name="object 11"/>
            <p:cNvSpPr/>
            <p:nvPr/>
          </p:nvSpPr>
          <p:spPr>
            <a:xfrm>
              <a:off x="9145586" y="0"/>
              <a:ext cx="935990" cy="7559040"/>
            </a:xfrm>
            <a:custGeom>
              <a:avLst/>
              <a:gdLst/>
              <a:ahLst/>
              <a:cxnLst/>
              <a:rect l="l" t="t" r="r" b="b"/>
              <a:pathLst>
                <a:path w="935990" h="7559040">
                  <a:moveTo>
                    <a:pt x="935673" y="0"/>
                  </a:moveTo>
                  <a:lnTo>
                    <a:pt x="744742" y="0"/>
                  </a:lnTo>
                  <a:lnTo>
                    <a:pt x="0" y="7559040"/>
                  </a:lnTo>
                  <a:lnTo>
                    <a:pt x="935673" y="7559040"/>
                  </a:lnTo>
                  <a:lnTo>
                    <a:pt x="935673" y="0"/>
                  </a:lnTo>
                  <a:close/>
                </a:path>
              </a:pathLst>
            </a:custGeom>
            <a:solidFill>
              <a:srgbClr val="2D83C3">
                <a:alpha val="69410"/>
              </a:srgbClr>
            </a:solidFill>
          </p:spPr>
          <p:txBody>
            <a:bodyPr wrap="square" lIns="0" tIns="0" rIns="0" bIns="0" rtlCol="0"/>
            <a:lstStyle/>
            <a:p>
              <a:endParaRPr/>
            </a:p>
          </p:txBody>
        </p:sp>
        <p:sp>
          <p:nvSpPr>
            <p:cNvPr id="12" name="object 12"/>
            <p:cNvSpPr/>
            <p:nvPr/>
          </p:nvSpPr>
          <p:spPr>
            <a:xfrm>
              <a:off x="8924576" y="0"/>
              <a:ext cx="1156970" cy="7559040"/>
            </a:xfrm>
            <a:custGeom>
              <a:avLst/>
              <a:gdLst/>
              <a:ahLst/>
              <a:cxnLst/>
              <a:rect l="l" t="t" r="r" b="b"/>
              <a:pathLst>
                <a:path w="1156970" h="7559040">
                  <a:moveTo>
                    <a:pt x="1156683" y="0"/>
                  </a:moveTo>
                  <a:lnTo>
                    <a:pt x="0" y="0"/>
                  </a:lnTo>
                  <a:lnTo>
                    <a:pt x="1033660" y="7559040"/>
                  </a:lnTo>
                  <a:lnTo>
                    <a:pt x="1156683" y="7559040"/>
                  </a:lnTo>
                  <a:lnTo>
                    <a:pt x="1156683" y="0"/>
                  </a:lnTo>
                  <a:close/>
                </a:path>
              </a:pathLst>
            </a:custGeom>
            <a:solidFill>
              <a:srgbClr val="226192">
                <a:alpha val="81175"/>
              </a:srgbClr>
            </a:solidFill>
          </p:spPr>
          <p:txBody>
            <a:bodyPr wrap="square" lIns="0" tIns="0" rIns="0" bIns="0" rtlCol="0"/>
            <a:lstStyle/>
            <a:p>
              <a:endParaRPr/>
            </a:p>
          </p:txBody>
        </p:sp>
        <p:sp>
          <p:nvSpPr>
            <p:cNvPr id="13" name="object 13"/>
            <p:cNvSpPr/>
            <p:nvPr/>
          </p:nvSpPr>
          <p:spPr>
            <a:xfrm>
              <a:off x="8895050" y="5420201"/>
              <a:ext cx="1186815" cy="2139315"/>
            </a:xfrm>
            <a:custGeom>
              <a:avLst/>
              <a:gdLst/>
              <a:ahLst/>
              <a:cxnLst/>
              <a:rect l="l" t="t" r="r" b="b"/>
              <a:pathLst>
                <a:path w="1186815" h="2139315">
                  <a:moveTo>
                    <a:pt x="1186209" y="0"/>
                  </a:moveTo>
                  <a:lnTo>
                    <a:pt x="0" y="2138838"/>
                  </a:lnTo>
                  <a:lnTo>
                    <a:pt x="136021" y="2138838"/>
                  </a:lnTo>
                  <a:lnTo>
                    <a:pt x="1186209" y="2133955"/>
                  </a:lnTo>
                  <a:lnTo>
                    <a:pt x="1186209" y="0"/>
                  </a:lnTo>
                  <a:close/>
                </a:path>
              </a:pathLst>
            </a:custGeom>
            <a:solidFill>
              <a:srgbClr val="17AFE3">
                <a:alpha val="65097"/>
              </a:srgbClr>
            </a:solidFill>
          </p:spPr>
          <p:txBody>
            <a:bodyPr wrap="square" lIns="0" tIns="0" rIns="0" bIns="0" rtlCol="0"/>
            <a:lstStyle/>
            <a:p>
              <a:endParaRPr/>
            </a:p>
          </p:txBody>
        </p:sp>
      </p:grpSp>
      <p:sp>
        <p:nvSpPr>
          <p:cNvPr id="14" name="object 14"/>
          <p:cNvSpPr txBox="1">
            <a:spLocks noGrp="1"/>
          </p:cNvSpPr>
          <p:nvPr>
            <p:ph type="title"/>
          </p:nvPr>
        </p:nvSpPr>
        <p:spPr>
          <a:prstGeom prst="rect">
            <a:avLst/>
          </a:prstGeom>
        </p:spPr>
        <p:txBody>
          <a:bodyPr vert="horz" wrap="square" lIns="0" tIns="330378" rIns="0" bIns="0" rtlCol="0">
            <a:spAutoFit/>
          </a:bodyPr>
          <a:lstStyle/>
          <a:p>
            <a:pPr marL="272415">
              <a:lnSpc>
                <a:spcPct val="100000"/>
              </a:lnSpc>
              <a:spcBef>
                <a:spcPts val="100"/>
              </a:spcBef>
            </a:pPr>
            <a:r>
              <a:rPr spc="-10" dirty="0"/>
              <a:t>Implementation</a:t>
            </a:r>
          </a:p>
        </p:txBody>
      </p:sp>
      <p:sp>
        <p:nvSpPr>
          <p:cNvPr id="15" name="object 15"/>
          <p:cNvSpPr txBox="1"/>
          <p:nvPr/>
        </p:nvSpPr>
        <p:spPr>
          <a:xfrm>
            <a:off x="1509537" y="6354999"/>
            <a:ext cx="7620000" cy="320601"/>
          </a:xfrm>
          <a:prstGeom prst="rect">
            <a:avLst/>
          </a:prstGeom>
        </p:spPr>
        <p:txBody>
          <a:bodyPr vert="horz" wrap="square" lIns="0" tIns="12700" rIns="0" bIns="0" rtlCol="0">
            <a:spAutoFit/>
          </a:bodyPr>
          <a:lstStyle/>
          <a:p>
            <a:pPr marL="12700">
              <a:lnSpc>
                <a:spcPct val="100000"/>
              </a:lnSpc>
              <a:spcBef>
                <a:spcPts val="100"/>
              </a:spcBef>
            </a:pPr>
            <a:r>
              <a:rPr sz="2000" b="1" dirty="0">
                <a:latin typeface="Times New Roman"/>
                <a:cs typeface="Times New Roman"/>
              </a:rPr>
              <a:t>Figure</a:t>
            </a:r>
            <a:r>
              <a:rPr sz="2000" b="1" spc="-20" dirty="0">
                <a:latin typeface="Times New Roman"/>
                <a:cs typeface="Times New Roman"/>
              </a:rPr>
              <a:t> </a:t>
            </a:r>
            <a:r>
              <a:rPr lang="en-IN" sz="2000" b="1" spc="-20" dirty="0">
                <a:latin typeface="Times New Roman"/>
                <a:cs typeface="Times New Roman"/>
              </a:rPr>
              <a:t>1</a:t>
            </a:r>
            <a:r>
              <a:rPr sz="2000" b="1" dirty="0">
                <a:latin typeface="Times New Roman"/>
                <a:cs typeface="Times New Roman"/>
              </a:rPr>
              <a:t>.</a:t>
            </a:r>
            <a:r>
              <a:rPr sz="2000" b="1" spc="-20" dirty="0">
                <a:latin typeface="Times New Roman"/>
                <a:cs typeface="Times New Roman"/>
              </a:rPr>
              <a:t> </a:t>
            </a:r>
            <a:r>
              <a:rPr lang="en-US" sz="2000" b="1" dirty="0">
                <a:latin typeface="Times New Roman"/>
                <a:cs typeface="Times New Roman"/>
              </a:rPr>
              <a:t>AI Text Generator User Interface with Generated Output</a:t>
            </a:r>
            <a:endParaRPr sz="2000" b="1" dirty="0">
              <a:latin typeface="Times New Roman"/>
              <a:cs typeface="Times New Roman"/>
            </a:endParaRPr>
          </a:p>
        </p:txBody>
      </p:sp>
      <p:pic>
        <p:nvPicPr>
          <p:cNvPr id="3" name="Picture 2">
            <a:extLst>
              <a:ext uri="{FF2B5EF4-FFF2-40B4-BE49-F238E27FC236}">
                <a16:creationId xmlns:a16="http://schemas.microsoft.com/office/drawing/2014/main" id="{79E15507-0631-107F-EED2-4B238A1661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2094" y="1622063"/>
            <a:ext cx="9176815" cy="443354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68402" rIns="0" bIns="0" rtlCol="0">
            <a:spAutoFit/>
          </a:bodyPr>
          <a:lstStyle/>
          <a:p>
            <a:pPr marL="12700">
              <a:lnSpc>
                <a:spcPct val="100000"/>
              </a:lnSpc>
              <a:spcBef>
                <a:spcPts val="100"/>
              </a:spcBef>
            </a:pPr>
            <a:r>
              <a:rPr spc="-10" dirty="0"/>
              <a:t>Conclusion</a:t>
            </a:r>
          </a:p>
        </p:txBody>
      </p:sp>
      <p:sp>
        <p:nvSpPr>
          <p:cNvPr id="3" name="object 3"/>
          <p:cNvSpPr txBox="1"/>
          <p:nvPr/>
        </p:nvSpPr>
        <p:spPr>
          <a:xfrm>
            <a:off x="618540" y="1569465"/>
            <a:ext cx="9071560" cy="2921954"/>
          </a:xfrm>
          <a:prstGeom prst="rect">
            <a:avLst/>
          </a:prstGeom>
        </p:spPr>
        <p:txBody>
          <a:bodyPr vert="horz" wrap="square" lIns="0" tIns="13335" rIns="0" bIns="0" rtlCol="0">
            <a:spAutoFit/>
          </a:bodyPr>
          <a:lstStyle/>
          <a:p>
            <a:pPr marL="12700" marR="234950" algn="just">
              <a:lnSpc>
                <a:spcPct val="100000"/>
              </a:lnSpc>
              <a:spcBef>
                <a:spcPts val="105"/>
              </a:spcBef>
            </a:pPr>
            <a:r>
              <a:rPr lang="en-US" sz="2100" dirty="0">
                <a:latin typeface="Times New Roman" panose="02020603050405020304" pitchFamily="18" charset="0"/>
                <a:cs typeface="Times New Roman" panose="02020603050405020304" pitchFamily="18" charset="0"/>
              </a:rPr>
              <a:t>The AI-based Text Generator using a Markov Chain model successfully demonstrates how simple machine learning and NLP techniques can be used to generate coherent and meaningful text automatically. The system effectively learns word patterns from the dataset and produces contextually relevant outputs with good efficiency and speed. Although it has some limitations in handling long-range context, it provides a strong foundation for automated content generation. Overall, the project highlights the practical application of AI in reducing manual effort and can be further enhanced using advanced models for better accuracy and performance.</a:t>
            </a:r>
            <a:endParaRPr sz="21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35451" y="3384042"/>
            <a:ext cx="2896235" cy="574040"/>
          </a:xfrm>
          <a:prstGeom prst="rect">
            <a:avLst/>
          </a:prstGeom>
        </p:spPr>
        <p:txBody>
          <a:bodyPr vert="horz" wrap="square" lIns="0" tIns="12700" rIns="0" bIns="0" rtlCol="0">
            <a:spAutoFit/>
          </a:bodyPr>
          <a:lstStyle/>
          <a:p>
            <a:pPr marL="12700">
              <a:lnSpc>
                <a:spcPct val="100000"/>
              </a:lnSpc>
              <a:spcBef>
                <a:spcPts val="100"/>
              </a:spcBef>
            </a:pPr>
            <a:r>
              <a:rPr dirty="0"/>
              <a:t>Thank</a:t>
            </a:r>
            <a:r>
              <a:rPr spc="-25" dirty="0"/>
              <a:t> </a:t>
            </a:r>
            <a:r>
              <a:rPr spc="-10" dirty="0"/>
              <a:t>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112</TotalTime>
  <Words>778</Words>
  <Application>Microsoft Office PowerPoint</Application>
  <PresentationFormat>Custom</PresentationFormat>
  <Paragraphs>90</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Arial MT</vt:lpstr>
      <vt:lpstr>Calibri</vt:lpstr>
      <vt:lpstr>Times New Roman</vt:lpstr>
      <vt:lpstr>Office Theme</vt:lpstr>
      <vt:lpstr>AI Text Generator using Markov Chain</vt:lpstr>
      <vt:lpstr>Contents</vt:lpstr>
      <vt:lpstr>Abstract</vt:lpstr>
      <vt:lpstr>Introduction</vt:lpstr>
      <vt:lpstr>Objectives</vt:lpstr>
      <vt:lpstr>Research Gap(Limitations of existing systems)</vt:lpstr>
      <vt:lpstr>Problem Definition</vt:lpstr>
      <vt:lpstr>Scope</vt:lpstr>
      <vt:lpstr>Proposed System Architecture </vt:lpstr>
      <vt:lpstr>Technological Stack</vt:lpstr>
      <vt:lpstr>Implementation</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v b</dc:creator>
  <cp:lastModifiedBy>Avadhoot Virkar</cp:lastModifiedBy>
  <cp:revision>7</cp:revision>
  <dcterms:created xsi:type="dcterms:W3CDTF">2026-03-15T09:14:29Z</dcterms:created>
  <dcterms:modified xsi:type="dcterms:W3CDTF">2026-04-07T08:21:42Z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2025-10-08T00:00:00Z</vt:filetime>
  </property>
  <property fmtid="{D5CDD505-2E9C-101B-9397-08002B2CF9AE}" pid="3" name="Creator">
    <vt:lpwstr>Microsoft® PowerPoint® 2021</vt:lpwstr>
  </property>
  <property fmtid="{D5CDD505-2E9C-101B-9397-08002B2CF9AE}" pid="4" name="LastSaved">
    <vt:filetime>2026-03-15T00:00:00Z</vt:filetime>
  </property>
  <property fmtid="{D5CDD505-2E9C-101B-9397-08002B2CF9AE}" pid="5" name="Producer">
    <vt:lpwstr>Microsoft® PowerPoint® 2021</vt:lpwstr>
  </property>
</Properties>
</file>