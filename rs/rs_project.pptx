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1" r:id="rId6"/>
    <p:sldId id="262" r:id="rId7"/>
    <p:sldId id="263" r:id="rId8"/>
    <p:sldId id="264" r:id="rId9"/>
    <p:sldId id="265" r:id="rId10"/>
    <p:sldId id="267" r:id="rId11"/>
    <p:sldId id="272" r:id="rId12"/>
    <p:sldId id="269" r:id="rId13"/>
    <p:sldId id="270" r:id="rId14"/>
    <p:sldId id="271" r:id="rId15"/>
  </p:sldIdLst>
  <p:sldSz cx="10083800" cy="7562850"/>
  <p:notesSz cx="100838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1" d="100"/>
          <a:sy n="71" d="100"/>
        </p:scale>
        <p:origin x="1579"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70388" cy="3794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711825" y="0"/>
            <a:ext cx="4370388" cy="379413"/>
          </a:xfrm>
          <a:prstGeom prst="rect">
            <a:avLst/>
          </a:prstGeom>
        </p:spPr>
        <p:txBody>
          <a:bodyPr vert="horz" lIns="91440" tIns="45720" rIns="91440" bIns="45720" rtlCol="0"/>
          <a:lstStyle>
            <a:lvl1pPr algn="r">
              <a:defRPr sz="1200"/>
            </a:lvl1pPr>
          </a:lstStyle>
          <a:p>
            <a:fld id="{CB36E8FD-2D30-47BA-BA79-AD4F1C07488B}" type="datetimeFigureOut">
              <a:rPr lang="en-IN" smtClean="0"/>
              <a:t>08-04-2026</a:t>
            </a:fld>
            <a:endParaRPr lang="en-IN"/>
          </a:p>
        </p:txBody>
      </p:sp>
      <p:sp>
        <p:nvSpPr>
          <p:cNvPr id="4" name="Slide Image Placeholder 3"/>
          <p:cNvSpPr>
            <a:spLocks noGrp="1" noRot="1" noChangeAspect="1"/>
          </p:cNvSpPr>
          <p:nvPr>
            <p:ph type="sldImg" idx="2"/>
          </p:nvPr>
        </p:nvSpPr>
        <p:spPr>
          <a:xfrm>
            <a:off x="3341688" y="946150"/>
            <a:ext cx="3400425" cy="255111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8063" y="3640138"/>
            <a:ext cx="8067675" cy="29781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183438"/>
            <a:ext cx="4370388" cy="3794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711825" y="7183438"/>
            <a:ext cx="4370388" cy="379412"/>
          </a:xfrm>
          <a:prstGeom prst="rect">
            <a:avLst/>
          </a:prstGeom>
        </p:spPr>
        <p:txBody>
          <a:bodyPr vert="horz" lIns="91440" tIns="45720" rIns="91440" bIns="45720" rtlCol="0" anchor="b"/>
          <a:lstStyle>
            <a:lvl1pPr algn="r">
              <a:defRPr sz="1200"/>
            </a:lvl1pPr>
          </a:lstStyle>
          <a:p>
            <a:fld id="{57D07182-0DE0-4CF3-B66E-089ACA107653}" type="slidenum">
              <a:rPr lang="en-IN" smtClean="0"/>
              <a:t>‹#›</a:t>
            </a:fld>
            <a:endParaRPr lang="en-IN"/>
          </a:p>
        </p:txBody>
      </p:sp>
    </p:spTree>
    <p:extLst>
      <p:ext uri="{BB962C8B-B14F-4D97-AF65-F5344CB8AC3E}">
        <p14:creationId xmlns:p14="http://schemas.microsoft.com/office/powerpoint/2010/main" val="3012120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6285" y="2344483"/>
            <a:ext cx="8571230" cy="1588198"/>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512570" y="4235196"/>
            <a:ext cx="7058660" cy="1890712"/>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04190" y="1739455"/>
            <a:ext cx="4386453"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93157" y="1739455"/>
            <a:ext cx="4386453"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483636"/>
            <a:ext cx="494030" cy="3075940"/>
          </a:xfrm>
          <a:custGeom>
            <a:avLst/>
            <a:gdLst/>
            <a:ahLst/>
            <a:cxnLst/>
            <a:rect l="l" t="t" r="r" b="b"/>
            <a:pathLst>
              <a:path w="494030" h="3075940">
                <a:moveTo>
                  <a:pt x="0" y="0"/>
                </a:moveTo>
                <a:lnTo>
                  <a:pt x="0" y="3075403"/>
                </a:lnTo>
                <a:lnTo>
                  <a:pt x="493669" y="3075403"/>
                </a:lnTo>
                <a:lnTo>
                  <a:pt x="0" y="0"/>
                </a:lnTo>
                <a:close/>
              </a:path>
            </a:pathLst>
          </a:custGeom>
          <a:solidFill>
            <a:srgbClr val="5FCAEE">
              <a:alpha val="69410"/>
            </a:srgbClr>
          </a:solidFill>
        </p:spPr>
        <p:txBody>
          <a:bodyPr wrap="square" lIns="0" tIns="0" rIns="0" bIns="0" rtlCol="0"/>
          <a:lstStyle/>
          <a:p>
            <a:endParaRPr/>
          </a:p>
        </p:txBody>
      </p:sp>
      <p:sp>
        <p:nvSpPr>
          <p:cNvPr id="17" name="bg object 17"/>
          <p:cNvSpPr/>
          <p:nvPr/>
        </p:nvSpPr>
        <p:spPr>
          <a:xfrm>
            <a:off x="5657149" y="0"/>
            <a:ext cx="4424680" cy="7559675"/>
          </a:xfrm>
          <a:custGeom>
            <a:avLst/>
            <a:gdLst/>
            <a:ahLst/>
            <a:cxnLst/>
            <a:rect l="l" t="t" r="r" b="b"/>
            <a:pathLst>
              <a:path w="4424680" h="7559675">
                <a:moveTo>
                  <a:pt x="0" y="7559040"/>
                </a:moveTo>
                <a:lnTo>
                  <a:pt x="4424110" y="4608028"/>
                </a:lnTo>
              </a:path>
              <a:path w="4424680" h="7559675">
                <a:moveTo>
                  <a:pt x="2107249" y="0"/>
                </a:moveTo>
                <a:lnTo>
                  <a:pt x="3450274" y="7559673"/>
                </a:lnTo>
              </a:path>
            </a:pathLst>
          </a:custGeom>
          <a:ln w="9525">
            <a:solidFill>
              <a:srgbClr val="5FCAEE"/>
            </a:solidFill>
          </a:ln>
        </p:spPr>
        <p:txBody>
          <a:bodyPr wrap="square" lIns="0" tIns="0" rIns="0" bIns="0" rtlCol="0"/>
          <a:lstStyle/>
          <a:p>
            <a:endParaRPr/>
          </a:p>
        </p:txBody>
      </p:sp>
      <p:sp>
        <p:nvSpPr>
          <p:cNvPr id="18" name="bg object 18"/>
          <p:cNvSpPr/>
          <p:nvPr/>
        </p:nvSpPr>
        <p:spPr>
          <a:xfrm>
            <a:off x="7598019" y="0"/>
            <a:ext cx="2483485" cy="7559040"/>
          </a:xfrm>
          <a:custGeom>
            <a:avLst/>
            <a:gdLst/>
            <a:ahLst/>
            <a:cxnLst/>
            <a:rect l="l" t="t" r="r" b="b"/>
            <a:pathLst>
              <a:path w="2483484" h="7559040">
                <a:moveTo>
                  <a:pt x="2230510" y="0"/>
                </a:moveTo>
                <a:lnTo>
                  <a:pt x="0" y="7559040"/>
                </a:lnTo>
                <a:lnTo>
                  <a:pt x="2483240" y="7559040"/>
                </a:lnTo>
                <a:lnTo>
                  <a:pt x="2483240" y="8964"/>
                </a:lnTo>
                <a:lnTo>
                  <a:pt x="2230510" y="0"/>
                </a:lnTo>
                <a:close/>
              </a:path>
            </a:pathLst>
          </a:custGeom>
          <a:solidFill>
            <a:srgbClr val="5FCAEE">
              <a:alpha val="35293"/>
            </a:srgbClr>
          </a:solidFill>
        </p:spPr>
        <p:txBody>
          <a:bodyPr wrap="square" lIns="0" tIns="0" rIns="0" bIns="0" rtlCol="0"/>
          <a:lstStyle/>
          <a:p>
            <a:endParaRPr/>
          </a:p>
        </p:txBody>
      </p:sp>
      <p:sp>
        <p:nvSpPr>
          <p:cNvPr id="19" name="bg object 19"/>
          <p:cNvSpPr/>
          <p:nvPr/>
        </p:nvSpPr>
        <p:spPr>
          <a:xfrm>
            <a:off x="7943867" y="0"/>
            <a:ext cx="2137410" cy="7559040"/>
          </a:xfrm>
          <a:custGeom>
            <a:avLst/>
            <a:gdLst/>
            <a:ahLst/>
            <a:cxnLst/>
            <a:rect l="l" t="t" r="r" b="b"/>
            <a:pathLst>
              <a:path w="2137409" h="7559040">
                <a:moveTo>
                  <a:pt x="2137392" y="0"/>
                </a:moveTo>
                <a:lnTo>
                  <a:pt x="0" y="0"/>
                </a:lnTo>
                <a:lnTo>
                  <a:pt x="1323846" y="7559040"/>
                </a:lnTo>
                <a:lnTo>
                  <a:pt x="2137392" y="7559040"/>
                </a:lnTo>
                <a:lnTo>
                  <a:pt x="2137392" y="0"/>
                </a:lnTo>
                <a:close/>
              </a:path>
            </a:pathLst>
          </a:custGeom>
          <a:solidFill>
            <a:srgbClr val="5FCAEE">
              <a:alpha val="19215"/>
            </a:srgbClr>
          </a:solidFill>
        </p:spPr>
        <p:txBody>
          <a:bodyPr wrap="square" lIns="0" tIns="0" rIns="0" bIns="0" rtlCol="0"/>
          <a:lstStyle/>
          <a:p>
            <a:endParaRPr/>
          </a:p>
        </p:txBody>
      </p:sp>
      <p:sp>
        <p:nvSpPr>
          <p:cNvPr id="20" name="bg object 20"/>
          <p:cNvSpPr/>
          <p:nvPr/>
        </p:nvSpPr>
        <p:spPr>
          <a:xfrm>
            <a:off x="7318916" y="4321324"/>
            <a:ext cx="2762885" cy="3237865"/>
          </a:xfrm>
          <a:custGeom>
            <a:avLst/>
            <a:gdLst/>
            <a:ahLst/>
            <a:cxnLst/>
            <a:rect l="l" t="t" r="r" b="b"/>
            <a:pathLst>
              <a:path w="2762884" h="3237865">
                <a:moveTo>
                  <a:pt x="2762343" y="0"/>
                </a:moveTo>
                <a:lnTo>
                  <a:pt x="0" y="3237715"/>
                </a:lnTo>
                <a:lnTo>
                  <a:pt x="2762343" y="3237715"/>
                </a:lnTo>
                <a:lnTo>
                  <a:pt x="2762343" y="0"/>
                </a:lnTo>
                <a:close/>
              </a:path>
            </a:pathLst>
          </a:custGeom>
          <a:solidFill>
            <a:srgbClr val="17AFE3">
              <a:alpha val="65097"/>
            </a:srgbClr>
          </a:solidFill>
        </p:spPr>
        <p:txBody>
          <a:bodyPr wrap="square" lIns="0" tIns="0" rIns="0" bIns="0" rtlCol="0"/>
          <a:lstStyle/>
          <a:p>
            <a:endParaRPr/>
          </a:p>
        </p:txBody>
      </p:sp>
      <p:sp>
        <p:nvSpPr>
          <p:cNvPr id="21" name="bg object 21"/>
          <p:cNvSpPr/>
          <p:nvPr/>
        </p:nvSpPr>
        <p:spPr>
          <a:xfrm>
            <a:off x="7730525" y="0"/>
            <a:ext cx="2350770" cy="7559040"/>
          </a:xfrm>
          <a:custGeom>
            <a:avLst/>
            <a:gdLst/>
            <a:ahLst/>
            <a:cxnLst/>
            <a:rect l="l" t="t" r="r" b="b"/>
            <a:pathLst>
              <a:path w="2350770" h="755904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p:spPr>
        <p:txBody>
          <a:bodyPr wrap="square" lIns="0" tIns="0" rIns="0" bIns="0" rtlCol="0"/>
          <a:lstStyle/>
          <a:p>
            <a:endParaRPr/>
          </a:p>
        </p:txBody>
      </p:sp>
      <p:sp>
        <p:nvSpPr>
          <p:cNvPr id="22" name="bg object 22"/>
          <p:cNvSpPr/>
          <p:nvPr/>
        </p:nvSpPr>
        <p:spPr>
          <a:xfrm>
            <a:off x="9145586" y="0"/>
            <a:ext cx="935990" cy="7559040"/>
          </a:xfrm>
          <a:custGeom>
            <a:avLst/>
            <a:gdLst/>
            <a:ahLst/>
            <a:cxnLst/>
            <a:rect l="l" t="t" r="r" b="b"/>
            <a:pathLst>
              <a:path w="935990" h="7559040">
                <a:moveTo>
                  <a:pt x="935673" y="0"/>
                </a:moveTo>
                <a:lnTo>
                  <a:pt x="744742" y="0"/>
                </a:lnTo>
                <a:lnTo>
                  <a:pt x="0" y="7559040"/>
                </a:lnTo>
                <a:lnTo>
                  <a:pt x="935673" y="7559040"/>
                </a:lnTo>
                <a:lnTo>
                  <a:pt x="935673" y="0"/>
                </a:lnTo>
                <a:close/>
              </a:path>
            </a:pathLst>
          </a:custGeom>
          <a:solidFill>
            <a:srgbClr val="2D83C3">
              <a:alpha val="69410"/>
            </a:srgbClr>
          </a:solidFill>
        </p:spPr>
        <p:txBody>
          <a:bodyPr wrap="square" lIns="0" tIns="0" rIns="0" bIns="0" rtlCol="0"/>
          <a:lstStyle/>
          <a:p>
            <a:endParaRPr/>
          </a:p>
        </p:txBody>
      </p:sp>
      <p:sp>
        <p:nvSpPr>
          <p:cNvPr id="23" name="bg object 23"/>
          <p:cNvSpPr/>
          <p:nvPr/>
        </p:nvSpPr>
        <p:spPr>
          <a:xfrm>
            <a:off x="8924576" y="0"/>
            <a:ext cx="1156970" cy="7559040"/>
          </a:xfrm>
          <a:custGeom>
            <a:avLst/>
            <a:gdLst/>
            <a:ahLst/>
            <a:cxnLst/>
            <a:rect l="l" t="t" r="r" b="b"/>
            <a:pathLst>
              <a:path w="1156970" h="7559040">
                <a:moveTo>
                  <a:pt x="1156683" y="0"/>
                </a:moveTo>
                <a:lnTo>
                  <a:pt x="0" y="0"/>
                </a:lnTo>
                <a:lnTo>
                  <a:pt x="1033660" y="7559040"/>
                </a:lnTo>
                <a:lnTo>
                  <a:pt x="1156683" y="7559040"/>
                </a:lnTo>
                <a:lnTo>
                  <a:pt x="1156683" y="0"/>
                </a:lnTo>
                <a:close/>
              </a:path>
            </a:pathLst>
          </a:custGeom>
          <a:solidFill>
            <a:srgbClr val="226192">
              <a:alpha val="81175"/>
            </a:srgbClr>
          </a:solidFill>
        </p:spPr>
        <p:txBody>
          <a:bodyPr wrap="square" lIns="0" tIns="0" rIns="0" bIns="0" rtlCol="0"/>
          <a:lstStyle/>
          <a:p>
            <a:endParaRPr/>
          </a:p>
        </p:txBody>
      </p:sp>
      <p:sp>
        <p:nvSpPr>
          <p:cNvPr id="24" name="bg object 24"/>
          <p:cNvSpPr/>
          <p:nvPr/>
        </p:nvSpPr>
        <p:spPr>
          <a:xfrm>
            <a:off x="8895050" y="5420201"/>
            <a:ext cx="1186815" cy="2139315"/>
          </a:xfrm>
          <a:custGeom>
            <a:avLst/>
            <a:gdLst/>
            <a:ahLst/>
            <a:cxnLst/>
            <a:rect l="l" t="t" r="r" b="b"/>
            <a:pathLst>
              <a:path w="1186815" h="2139315">
                <a:moveTo>
                  <a:pt x="1186209" y="0"/>
                </a:moveTo>
                <a:lnTo>
                  <a:pt x="0" y="2138838"/>
                </a:lnTo>
                <a:lnTo>
                  <a:pt x="136021" y="2138838"/>
                </a:lnTo>
                <a:lnTo>
                  <a:pt x="1186209" y="2133955"/>
                </a:lnTo>
                <a:lnTo>
                  <a:pt x="1186209" y="0"/>
                </a:lnTo>
                <a:close/>
              </a:path>
            </a:pathLst>
          </a:custGeom>
          <a:solidFill>
            <a:srgbClr val="17AFE3">
              <a:alpha val="65097"/>
            </a:srgbClr>
          </a:solidFill>
        </p:spPr>
        <p:txBody>
          <a:bodyPr wrap="square" lIns="0" tIns="0" rIns="0" bIns="0" rtlCol="0"/>
          <a:lstStyle/>
          <a:p>
            <a:endParaRPr/>
          </a:p>
        </p:txBody>
      </p:sp>
      <p:sp>
        <p:nvSpPr>
          <p:cNvPr id="2" name="Holder 2"/>
          <p:cNvSpPr>
            <a:spLocks noGrp="1"/>
          </p:cNvSpPr>
          <p:nvPr>
            <p:ph type="title"/>
          </p:nvPr>
        </p:nvSpPr>
        <p:spPr>
          <a:xfrm>
            <a:off x="490524" y="371932"/>
            <a:ext cx="7421245" cy="108585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813685" y="3465322"/>
            <a:ext cx="4456429" cy="368554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428492" y="7033450"/>
            <a:ext cx="3226816"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4190" y="7033450"/>
            <a:ext cx="2319274"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4/8/2026</a:t>
            </a:fld>
            <a:endParaRPr lang="en-US"/>
          </a:p>
        </p:txBody>
      </p:sp>
      <p:sp>
        <p:nvSpPr>
          <p:cNvPr id="6" name="Holder 6"/>
          <p:cNvSpPr>
            <a:spLocks noGrp="1"/>
          </p:cNvSpPr>
          <p:nvPr>
            <p:ph type="sldNum" sz="quarter" idx="7"/>
          </p:nvPr>
        </p:nvSpPr>
        <p:spPr>
          <a:xfrm>
            <a:off x="7260336" y="7033450"/>
            <a:ext cx="2319274"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5900" y="1934621"/>
            <a:ext cx="10081259" cy="566822"/>
          </a:xfrm>
          <a:prstGeom prst="rect">
            <a:avLst/>
          </a:prstGeom>
        </p:spPr>
        <p:txBody>
          <a:bodyPr vert="horz" wrap="square" lIns="0" tIns="12700" rIns="0" bIns="0" rtlCol="0">
            <a:spAutoFit/>
          </a:bodyPr>
          <a:lstStyle/>
          <a:p>
            <a:pPr marL="1671320" marR="5080" indent="-1658620" algn="ctr">
              <a:spcBef>
                <a:spcPts val="100"/>
              </a:spcBef>
            </a:pPr>
            <a:r>
              <a:rPr lang="en-IN" dirty="0"/>
              <a:t>     Movie Recommendation System</a:t>
            </a:r>
            <a:endParaRPr u="sng" spc="-10" dirty="0">
              <a:uFill>
                <a:solidFill>
                  <a:srgbClr val="000000"/>
                </a:solidFill>
              </a:uFill>
            </a:endParaRPr>
          </a:p>
        </p:txBody>
      </p:sp>
      <p:sp>
        <p:nvSpPr>
          <p:cNvPr id="3" name="object 3"/>
          <p:cNvSpPr txBox="1">
            <a:spLocks noGrp="1"/>
          </p:cNvSpPr>
          <p:nvPr>
            <p:ph type="body" idx="1"/>
          </p:nvPr>
        </p:nvSpPr>
        <p:spPr>
          <a:xfrm>
            <a:off x="241300" y="3095625"/>
            <a:ext cx="9624059" cy="4204356"/>
          </a:xfrm>
          <a:prstGeom prst="rect">
            <a:avLst/>
          </a:prstGeom>
        </p:spPr>
        <p:txBody>
          <a:bodyPr vert="horz" wrap="square" lIns="0" tIns="13335" rIns="0" bIns="0" rtlCol="0">
            <a:spAutoFit/>
          </a:bodyPr>
          <a:lstStyle/>
          <a:p>
            <a:pPr algn="ctr">
              <a:lnSpc>
                <a:spcPct val="100000"/>
              </a:lnSpc>
              <a:spcBef>
                <a:spcPts val="105"/>
              </a:spcBef>
            </a:pPr>
            <a:r>
              <a:rPr dirty="0"/>
              <a:t>Group</a:t>
            </a:r>
            <a:r>
              <a:rPr spc="-45" dirty="0"/>
              <a:t> </a:t>
            </a:r>
            <a:r>
              <a:rPr dirty="0"/>
              <a:t>No.</a:t>
            </a:r>
            <a:r>
              <a:rPr spc="-15" dirty="0"/>
              <a:t> </a:t>
            </a:r>
            <a:endParaRPr spc="-50" dirty="0"/>
          </a:p>
          <a:p>
            <a:pPr algn="ctr">
              <a:lnSpc>
                <a:spcPct val="100000"/>
              </a:lnSpc>
            </a:pPr>
            <a:r>
              <a:rPr lang="en-IN" spc="-10" dirty="0"/>
              <a:t>Avadhoot </a:t>
            </a:r>
            <a:r>
              <a:rPr lang="en-IN" spc="-10" dirty="0" err="1"/>
              <a:t>Virkar</a:t>
            </a:r>
            <a:r>
              <a:rPr lang="en-IN" spc="-10" dirty="0"/>
              <a:t>     - </a:t>
            </a:r>
            <a:r>
              <a:rPr spc="-10" dirty="0"/>
              <a:t>221070</a:t>
            </a:r>
            <a:r>
              <a:rPr lang="en-IN" spc="-10" dirty="0"/>
              <a:t>64</a:t>
            </a:r>
            <a:endParaRPr spc="-10" dirty="0"/>
          </a:p>
          <a:p>
            <a:pPr algn="ctr">
              <a:lnSpc>
                <a:spcPct val="100000"/>
              </a:lnSpc>
            </a:pPr>
            <a:r>
              <a:rPr lang="en-US" dirty="0"/>
              <a:t>Chinmay Pawaskar - </a:t>
            </a:r>
            <a:r>
              <a:rPr spc="-10" dirty="0"/>
              <a:t>221070</a:t>
            </a:r>
            <a:r>
              <a:rPr lang="en-US" spc="-10" dirty="0"/>
              <a:t>66</a:t>
            </a:r>
            <a:endParaRPr spc="-10" dirty="0"/>
          </a:p>
          <a:p>
            <a:pPr algn="ctr">
              <a:lnSpc>
                <a:spcPct val="100000"/>
              </a:lnSpc>
            </a:pPr>
            <a:r>
              <a:rPr lang="sv-SE" spc="-10" dirty="0"/>
              <a:t>Soham Shigvan         - 22107001</a:t>
            </a:r>
          </a:p>
          <a:p>
            <a:pPr algn="ctr">
              <a:lnSpc>
                <a:spcPct val="100000"/>
              </a:lnSpc>
            </a:pPr>
            <a:r>
              <a:rPr lang="sv-SE" spc="-10" dirty="0"/>
              <a:t>Monish </a:t>
            </a:r>
            <a:r>
              <a:rPr lang="en-IN" dirty="0"/>
              <a:t>Mudaliar     -</a:t>
            </a:r>
            <a:r>
              <a:rPr lang="sv-SE" spc="-10" dirty="0"/>
              <a:t> 22107024</a:t>
            </a:r>
          </a:p>
          <a:p>
            <a:pPr algn="ctr">
              <a:lnSpc>
                <a:spcPct val="100000"/>
              </a:lnSpc>
            </a:pPr>
            <a:endParaRPr spc="-10" dirty="0"/>
          </a:p>
          <a:p>
            <a:pPr algn="ctr">
              <a:lnSpc>
                <a:spcPct val="100000"/>
              </a:lnSpc>
              <a:spcBef>
                <a:spcPts val="3354"/>
              </a:spcBef>
            </a:pPr>
            <a:r>
              <a:rPr sz="2800" dirty="0"/>
              <a:t>Project</a:t>
            </a:r>
            <a:r>
              <a:rPr sz="2800" spc="-70" dirty="0"/>
              <a:t> </a:t>
            </a:r>
            <a:r>
              <a:rPr sz="2800" spc="-10" dirty="0"/>
              <a:t>Guide</a:t>
            </a:r>
            <a:endParaRPr sz="2800" dirty="0"/>
          </a:p>
          <a:p>
            <a:pPr algn="ctr">
              <a:lnSpc>
                <a:spcPct val="100000"/>
              </a:lnSpc>
              <a:spcBef>
                <a:spcPts val="15"/>
              </a:spcBef>
            </a:pPr>
            <a:r>
              <a:rPr sz="2400" dirty="0"/>
              <a:t>Prof.</a:t>
            </a:r>
            <a:r>
              <a:rPr sz="2400" spc="-65" dirty="0"/>
              <a:t> </a:t>
            </a:r>
            <a:r>
              <a:rPr lang="en-IN" sz="2400" spc="-10" dirty="0"/>
              <a:t>Richa Singh</a:t>
            </a:r>
            <a:endParaRPr sz="2400" dirty="0"/>
          </a:p>
        </p:txBody>
      </p:sp>
      <p:grpSp>
        <p:nvGrpSpPr>
          <p:cNvPr id="4" name="object 4"/>
          <p:cNvGrpSpPr/>
          <p:nvPr/>
        </p:nvGrpSpPr>
        <p:grpSpPr>
          <a:xfrm>
            <a:off x="0" y="146050"/>
            <a:ext cx="10081260" cy="1696720"/>
            <a:chOff x="0" y="146050"/>
            <a:chExt cx="10081260" cy="1696720"/>
          </a:xfrm>
        </p:grpSpPr>
        <p:pic>
          <p:nvPicPr>
            <p:cNvPr id="5" name="object 5"/>
            <p:cNvPicPr/>
            <p:nvPr/>
          </p:nvPicPr>
          <p:blipFill>
            <a:blip r:embed="rId2" cstate="print"/>
            <a:stretch>
              <a:fillRect/>
            </a:stretch>
          </p:blipFill>
          <p:spPr>
            <a:xfrm>
              <a:off x="0" y="1690166"/>
              <a:ext cx="10081259" cy="152349"/>
            </a:xfrm>
            <a:prstGeom prst="rect">
              <a:avLst/>
            </a:prstGeom>
          </p:spPr>
        </p:pic>
        <p:sp>
          <p:nvSpPr>
            <p:cNvPr id="6" name="object 6"/>
            <p:cNvSpPr/>
            <p:nvPr/>
          </p:nvSpPr>
          <p:spPr>
            <a:xfrm>
              <a:off x="0" y="1743075"/>
              <a:ext cx="10080625" cy="0"/>
            </a:xfrm>
            <a:custGeom>
              <a:avLst/>
              <a:gdLst/>
              <a:ahLst/>
              <a:cxnLst/>
              <a:rect l="l" t="t" r="r" b="b"/>
              <a:pathLst>
                <a:path w="10080625">
                  <a:moveTo>
                    <a:pt x="0" y="0"/>
                  </a:moveTo>
                  <a:lnTo>
                    <a:pt x="10080625" y="0"/>
                  </a:lnTo>
                </a:path>
              </a:pathLst>
            </a:custGeom>
            <a:ln w="25400">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079500" y="146050"/>
              <a:ext cx="7686675" cy="157162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0233" y="368046"/>
            <a:ext cx="1780539" cy="574040"/>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3" name="object 3"/>
          <p:cNvSpPr txBox="1"/>
          <p:nvPr/>
        </p:nvSpPr>
        <p:spPr>
          <a:xfrm>
            <a:off x="597204" y="1023733"/>
            <a:ext cx="7393940" cy="5244384"/>
          </a:xfrm>
          <a:prstGeom prst="rect">
            <a:avLst/>
          </a:prstGeom>
        </p:spPr>
        <p:txBody>
          <a:bodyPr vert="horz" wrap="square" lIns="0" tIns="164465" rIns="0" bIns="0" rtlCol="0">
            <a:spAutoFit/>
          </a:bodyPr>
          <a:lstStyle/>
          <a:p>
            <a:pPr marL="334010" indent="-321310">
              <a:lnSpc>
                <a:spcPct val="100000"/>
              </a:lnSpc>
              <a:spcBef>
                <a:spcPts val="1295"/>
              </a:spcBef>
              <a:buSzPct val="45833"/>
              <a:buFont typeface="Calibri"/>
              <a:buChar char="●"/>
              <a:tabLst>
                <a:tab pos="334010" algn="l"/>
              </a:tabLst>
            </a:pPr>
            <a:r>
              <a:rPr sz="2400" spc="-10" dirty="0">
                <a:latin typeface="Times New Roman"/>
                <a:cs typeface="Times New Roman"/>
              </a:rPr>
              <a:t>Abstract</a:t>
            </a:r>
            <a:endParaRPr sz="2400" dirty="0">
              <a:latin typeface="Times New Roman"/>
              <a:cs typeface="Times New Roman"/>
            </a:endParaRPr>
          </a:p>
          <a:p>
            <a:pPr marL="334010" indent="-321310">
              <a:lnSpc>
                <a:spcPct val="100000"/>
              </a:lnSpc>
              <a:spcBef>
                <a:spcPts val="1190"/>
              </a:spcBef>
              <a:buSzPct val="45833"/>
              <a:buFont typeface="Calibri"/>
              <a:buChar char="●"/>
              <a:tabLst>
                <a:tab pos="334010" algn="l"/>
              </a:tabLst>
            </a:pPr>
            <a:r>
              <a:rPr sz="2400" spc="-10" dirty="0">
                <a:latin typeface="Times New Roman"/>
                <a:cs typeface="Times New Roman"/>
              </a:rPr>
              <a:t>Introduction</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spc="-10" dirty="0">
                <a:latin typeface="Times New Roman"/>
                <a:cs typeface="Times New Roman"/>
              </a:rPr>
              <a:t>Motivation</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spc="-10" dirty="0">
                <a:latin typeface="Times New Roman"/>
                <a:cs typeface="Times New Roman"/>
              </a:rPr>
              <a:t>Objectives</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dirty="0">
                <a:latin typeface="Times New Roman"/>
                <a:cs typeface="Times New Roman"/>
              </a:rPr>
              <a:t>Research</a:t>
            </a:r>
            <a:r>
              <a:rPr sz="2400" spc="-15" dirty="0">
                <a:latin typeface="Times New Roman"/>
                <a:cs typeface="Times New Roman"/>
              </a:rPr>
              <a:t> </a:t>
            </a:r>
            <a:r>
              <a:rPr sz="2400" spc="-25" dirty="0">
                <a:latin typeface="Times New Roman"/>
                <a:cs typeface="Times New Roman"/>
              </a:rPr>
              <a:t>Gap</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dirty="0">
                <a:latin typeface="Times New Roman"/>
                <a:cs typeface="Times New Roman"/>
              </a:rPr>
              <a:t>Problem</a:t>
            </a:r>
            <a:r>
              <a:rPr sz="2400" spc="-15" dirty="0">
                <a:latin typeface="Times New Roman"/>
                <a:cs typeface="Times New Roman"/>
              </a:rPr>
              <a:t> </a:t>
            </a:r>
            <a:r>
              <a:rPr sz="2400" spc="-10" dirty="0">
                <a:latin typeface="Times New Roman"/>
                <a:cs typeface="Times New Roman"/>
              </a:rPr>
              <a:t>Definition</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spc="-10" dirty="0">
                <a:latin typeface="Times New Roman"/>
                <a:cs typeface="Times New Roman"/>
              </a:rPr>
              <a:t>Scope</a:t>
            </a:r>
            <a:endParaRPr sz="2400" dirty="0">
              <a:latin typeface="Times New Roman"/>
              <a:cs typeface="Times New Roman"/>
            </a:endParaRPr>
          </a:p>
          <a:p>
            <a:pPr marL="334010" indent="-321310">
              <a:lnSpc>
                <a:spcPct val="100000"/>
              </a:lnSpc>
              <a:spcBef>
                <a:spcPts val="1205"/>
              </a:spcBef>
              <a:buSzPct val="45833"/>
              <a:buFont typeface="Calibri"/>
              <a:buChar char="●"/>
              <a:tabLst>
                <a:tab pos="334010" algn="l"/>
              </a:tabLst>
            </a:pPr>
            <a:r>
              <a:rPr sz="2400" dirty="0">
                <a:latin typeface="Times New Roman"/>
                <a:cs typeface="Times New Roman"/>
              </a:rPr>
              <a:t>Technological</a:t>
            </a:r>
            <a:r>
              <a:rPr sz="2400" spc="-30" dirty="0">
                <a:latin typeface="Times New Roman"/>
                <a:cs typeface="Times New Roman"/>
              </a:rPr>
              <a:t> </a:t>
            </a:r>
            <a:r>
              <a:rPr sz="2400" spc="-10" dirty="0">
                <a:latin typeface="Times New Roman"/>
                <a:cs typeface="Times New Roman"/>
              </a:rPr>
              <a:t>Stack</a:t>
            </a:r>
            <a:endParaRPr sz="2400" dirty="0">
              <a:latin typeface="Times New Roman"/>
              <a:cs typeface="Times New Roman"/>
            </a:endParaRPr>
          </a:p>
          <a:p>
            <a:pPr marL="334010" indent="-321310">
              <a:lnSpc>
                <a:spcPct val="100000"/>
              </a:lnSpc>
              <a:spcBef>
                <a:spcPts val="1185"/>
              </a:spcBef>
              <a:buSzPct val="45833"/>
              <a:buFont typeface="Calibri"/>
              <a:buChar char="●"/>
              <a:tabLst>
                <a:tab pos="334010" algn="l"/>
              </a:tabLst>
            </a:pPr>
            <a:r>
              <a:rPr sz="2400" spc="-10">
                <a:latin typeface="Times New Roman"/>
                <a:cs typeface="Times New Roman"/>
              </a:rPr>
              <a:t>Implementation</a:t>
            </a:r>
            <a:endParaRPr sz="2400" dirty="0">
              <a:latin typeface="Times New Roman"/>
              <a:cs typeface="Times New Roman"/>
            </a:endParaRPr>
          </a:p>
          <a:p>
            <a:pPr marL="334010" indent="-321310">
              <a:lnSpc>
                <a:spcPct val="100000"/>
              </a:lnSpc>
              <a:spcBef>
                <a:spcPts val="1205"/>
              </a:spcBef>
              <a:buSzPct val="45833"/>
              <a:buFont typeface="Calibri"/>
              <a:buChar char="●"/>
              <a:tabLst>
                <a:tab pos="334010" algn="l"/>
              </a:tabLst>
            </a:pPr>
            <a:r>
              <a:rPr sz="2400" spc="-10" dirty="0">
                <a:latin typeface="Times New Roman"/>
                <a:cs typeface="Times New Roman"/>
              </a:rPr>
              <a:t>Conclusion</a:t>
            </a:r>
            <a:endParaRPr sz="24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Abstract</a:t>
            </a:r>
          </a:p>
        </p:txBody>
      </p:sp>
      <p:sp>
        <p:nvSpPr>
          <p:cNvPr id="3" name="object 3"/>
          <p:cNvSpPr txBox="1"/>
          <p:nvPr/>
        </p:nvSpPr>
        <p:spPr>
          <a:xfrm>
            <a:off x="420116" y="1599057"/>
            <a:ext cx="9346183" cy="3245119"/>
          </a:xfrm>
          <a:prstGeom prst="rect">
            <a:avLst/>
          </a:prstGeom>
        </p:spPr>
        <p:txBody>
          <a:bodyPr vert="horz" wrap="square" lIns="0" tIns="13335" rIns="0" bIns="0" rtlCol="0">
            <a:spAutoFit/>
          </a:bodyPr>
          <a:lstStyle/>
          <a:p>
            <a:pPr marL="12700" marR="5080" algn="just">
              <a:lnSpc>
                <a:spcPct val="100000"/>
              </a:lnSpc>
              <a:spcBef>
                <a:spcPts val="105"/>
              </a:spcBef>
            </a:pPr>
            <a:r>
              <a:rPr lang="en-US" sz="2100" dirty="0">
                <a:latin typeface="Times New Roman" panose="02020603050405020304" pitchFamily="18" charset="0"/>
                <a:cs typeface="Times New Roman" panose="02020603050405020304" pitchFamily="18" charset="0"/>
              </a:rPr>
              <a:t>The rapid growth of digital entertainment platforms has made it challenging for users to find relevant movies from vast content libraries. This project presents a Content-Based Movie Recommendation System that suggests movies based on user input using metadata from the TMDB 5000 dataset, including genres, keywords, cast, crew, and overviews. It applies NLP techniques like tokenization and stemming, followed by Count Vectorization to convert text into numerical form. Cosine Similarity is used to identify and recommend similar movies. The system is deployed using </a:t>
            </a:r>
            <a:r>
              <a:rPr lang="en-US" sz="2100" dirty="0" err="1">
                <a:latin typeface="Times New Roman" panose="02020603050405020304" pitchFamily="18" charset="0"/>
                <a:cs typeface="Times New Roman" panose="02020603050405020304" pitchFamily="18" charset="0"/>
              </a:rPr>
              <a:t>Streamlit</a:t>
            </a:r>
            <a:r>
              <a:rPr lang="en-US" sz="2100" dirty="0">
                <a:latin typeface="Times New Roman" panose="02020603050405020304" pitchFamily="18" charset="0"/>
                <a:cs typeface="Times New Roman" panose="02020603050405020304" pitchFamily="18" charset="0"/>
              </a:rPr>
              <a:t>, offering a simple and interactive interface where users can quickly get personalized recommendations. It ensures fast performance through efficient computation and can be further enhanced using hybrid recommendation techniques.</a:t>
            </a:r>
            <a:endParaRPr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Introduction</a:t>
            </a:r>
          </a:p>
        </p:txBody>
      </p:sp>
      <p:sp>
        <p:nvSpPr>
          <p:cNvPr id="3" name="object 3"/>
          <p:cNvSpPr txBox="1"/>
          <p:nvPr/>
        </p:nvSpPr>
        <p:spPr>
          <a:xfrm>
            <a:off x="491439" y="1587449"/>
            <a:ext cx="9099550" cy="2598788"/>
          </a:xfrm>
          <a:prstGeom prst="rect">
            <a:avLst/>
          </a:prstGeom>
        </p:spPr>
        <p:txBody>
          <a:bodyPr vert="horz" wrap="square" lIns="0" tIns="13335" rIns="0" bIns="0" rtlCol="0">
            <a:spAutoFit/>
          </a:bodyPr>
          <a:lstStyle/>
          <a:p>
            <a:pPr marL="12700">
              <a:lnSpc>
                <a:spcPct val="100000"/>
              </a:lnSpc>
              <a:spcBef>
                <a:spcPts val="105"/>
              </a:spcBef>
              <a:tabLst>
                <a:tab pos="355600" algn="l"/>
              </a:tabLst>
            </a:pPr>
            <a:r>
              <a:rPr lang="en-US" sz="2100" dirty="0">
                <a:latin typeface="Times New Roman" panose="02020603050405020304" pitchFamily="18" charset="0"/>
                <a:cs typeface="Times New Roman" panose="02020603050405020304" pitchFamily="18" charset="0"/>
              </a:rPr>
              <a:t>In the modern digital era, the rapid growth of online streaming platforms has led to a vast collection of movies, making it difficult for users to find relevant content. To address this problem, a Content-Based Movie Recommendation System is developed that suggests movies based on their features such as genres, keywords, cast, and overview. The system uses Natural Language Processing (NLP) and machine learning techniques like vectorization and cosine similarity to analyze movie data and provide accurate, fast, and personalized recommendations through an interactive interface</a:t>
            </a:r>
            <a:endParaRPr sz="21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6212AEC-43D8-17EA-F07F-B380830EE319}"/>
              </a:ext>
            </a:extLst>
          </p:cNvPr>
          <p:cNvSpPr txBox="1"/>
          <p:nvPr/>
        </p:nvSpPr>
        <p:spPr>
          <a:xfrm>
            <a:off x="490524" y="4513462"/>
            <a:ext cx="9504376" cy="3062377"/>
          </a:xfrm>
          <a:prstGeom prst="rect">
            <a:avLst/>
          </a:prstGeom>
          <a:noFill/>
        </p:spPr>
        <p:txBody>
          <a:bodyPr wrap="square" rtlCol="0">
            <a:spAutoFit/>
          </a:bodyPr>
          <a:lstStyle>
            <a:defPPr>
              <a:defRPr kern="0"/>
            </a:defPPr>
            <a:lvl1pPr>
              <a:defRPr sz="2300" spc="-10">
                <a:latin typeface="Times New Roman" panose="02020603050405020304" pitchFamily="18" charset="0"/>
                <a:cs typeface="Times New Roman" panose="02020603050405020304" pitchFamily="18" charset="0"/>
              </a:defRPr>
            </a:lvl1pPr>
          </a:lstStyle>
          <a:p>
            <a:r>
              <a:rPr lang="en-IN" b="1" dirty="0"/>
              <a:t>Motivation</a:t>
            </a:r>
            <a:r>
              <a:rPr lang="en-IN" dirty="0"/>
              <a:t> :</a:t>
            </a:r>
          </a:p>
          <a:p>
            <a:endParaRPr lang="en-IN" dirty="0"/>
          </a:p>
          <a:p>
            <a:pPr marL="342900" indent="-342900">
              <a:buFont typeface="Arial" panose="020B0604020202020204" pitchFamily="34" charset="0"/>
              <a:buChar char="•"/>
            </a:pPr>
            <a:r>
              <a:rPr lang="en-US" sz="2100" dirty="0"/>
              <a:t>Overcome information overload and help users quickly find relevant movies.</a:t>
            </a:r>
          </a:p>
          <a:p>
            <a:pPr marL="342900" indent="-342900">
              <a:buFont typeface="Arial" panose="020B0604020202020204" pitchFamily="34" charset="0"/>
              <a:buChar char="•"/>
            </a:pPr>
            <a:endParaRPr lang="en-US" sz="2100" dirty="0"/>
          </a:p>
          <a:p>
            <a:pPr marL="342900" indent="-342900">
              <a:buFont typeface="Arial" panose="020B0604020202020204" pitchFamily="34" charset="0"/>
              <a:buChar char="•"/>
            </a:pPr>
            <a:r>
              <a:rPr lang="en-US" sz="2100" dirty="0"/>
              <a:t>Reduce dependency on user history and solve the cold-start problem.</a:t>
            </a:r>
          </a:p>
          <a:p>
            <a:pPr marL="342900" indent="-342900">
              <a:buFont typeface="Arial" panose="020B0604020202020204" pitchFamily="34" charset="0"/>
              <a:buChar char="•"/>
            </a:pPr>
            <a:endParaRPr lang="en-US" sz="2100" dirty="0"/>
          </a:p>
          <a:p>
            <a:pPr marL="342900" indent="-342900">
              <a:buFont typeface="Arial" panose="020B0604020202020204" pitchFamily="34" charset="0"/>
              <a:buChar char="•"/>
            </a:pPr>
            <a:r>
              <a:rPr lang="en-US" sz="2100" dirty="0"/>
              <a:t>P</a:t>
            </a:r>
            <a:r>
              <a:rPr lang="en-US" sz="2100"/>
              <a:t>rovide </a:t>
            </a:r>
            <a:r>
              <a:rPr lang="en-US" sz="2100" dirty="0"/>
              <a:t>fast, accurate, and personalized recommendations using content-based filtering</a:t>
            </a:r>
            <a:endParaRPr lang="en-IN" sz="2100" dirty="0"/>
          </a:p>
          <a:p>
            <a:endParaRPr lang="en-IN"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Objectives</a:t>
            </a:r>
          </a:p>
        </p:txBody>
      </p:sp>
      <p:sp>
        <p:nvSpPr>
          <p:cNvPr id="3" name="object 3"/>
          <p:cNvSpPr txBox="1"/>
          <p:nvPr/>
        </p:nvSpPr>
        <p:spPr>
          <a:xfrm>
            <a:off x="411632" y="1457782"/>
            <a:ext cx="8973668" cy="3296415"/>
          </a:xfrm>
          <a:prstGeom prst="rect">
            <a:avLst/>
          </a:prstGeom>
        </p:spPr>
        <p:txBody>
          <a:bodyPr vert="horz" wrap="square" lIns="0" tIns="13335" rIns="0" bIns="0" rtlCol="0">
            <a:spAutoFit/>
          </a:bodyPr>
          <a:lstStyle/>
          <a:p>
            <a:pPr marL="355600" indent="-342900" algn="just">
              <a:lnSpc>
                <a:spcPct val="100000"/>
              </a:lnSpc>
              <a:spcBef>
                <a:spcPts val="105"/>
              </a:spcBef>
              <a:buFont typeface="Arial MT"/>
              <a:buChar char="•"/>
              <a:tabLst>
                <a:tab pos="355600" algn="l"/>
              </a:tabLst>
            </a:pPr>
            <a:r>
              <a:rPr lang="en-US" sz="2100" dirty="0">
                <a:latin typeface="Times New Roman"/>
                <a:cs typeface="Times New Roman"/>
              </a:rPr>
              <a:t>To preprocess textual movie data using NLP techniques like tokenization and stemming, and perform feature engineering on the TMDB dataset for accurate analysis.</a:t>
            </a:r>
          </a:p>
          <a:p>
            <a:pPr marL="355600" indent="-342900" algn="just">
              <a:lnSpc>
                <a:spcPct val="100000"/>
              </a:lnSpc>
              <a:spcBef>
                <a:spcPts val="105"/>
              </a:spcBef>
              <a:buFont typeface="Arial MT"/>
              <a:buChar char="•"/>
              <a:tabLst>
                <a:tab pos="355600" algn="l"/>
              </a:tabLst>
            </a:pPr>
            <a:endParaRPr lang="en-US" sz="2100" dirty="0">
              <a:latin typeface="Times New Roman"/>
              <a:cs typeface="Times New Roman"/>
            </a:endParaRPr>
          </a:p>
          <a:p>
            <a:pPr marL="355600" indent="-342900" algn="just">
              <a:lnSpc>
                <a:spcPct val="100000"/>
              </a:lnSpc>
              <a:spcBef>
                <a:spcPts val="105"/>
              </a:spcBef>
              <a:buFont typeface="Arial MT"/>
              <a:buChar char="•"/>
              <a:tabLst>
                <a:tab pos="355600" algn="l"/>
              </a:tabLst>
            </a:pPr>
            <a:r>
              <a:rPr lang="en-US" sz="2100" dirty="0">
                <a:latin typeface="Times New Roman"/>
                <a:cs typeface="Times New Roman"/>
              </a:rPr>
              <a:t>To convert movie text data into numerical feature vectors using Count Vectorization and measure similarity between movies using Cosine Similarity for generating recommendations.</a:t>
            </a:r>
          </a:p>
          <a:p>
            <a:pPr marL="355600" indent="-342900" algn="just">
              <a:lnSpc>
                <a:spcPct val="100000"/>
              </a:lnSpc>
              <a:spcBef>
                <a:spcPts val="105"/>
              </a:spcBef>
              <a:buFont typeface="Arial MT"/>
              <a:buChar char="•"/>
              <a:tabLst>
                <a:tab pos="355600" algn="l"/>
              </a:tabLst>
            </a:pPr>
            <a:endParaRPr lang="en-US" sz="2100" dirty="0">
              <a:latin typeface="Times New Roman"/>
              <a:cs typeface="Times New Roman"/>
            </a:endParaRPr>
          </a:p>
          <a:p>
            <a:pPr marL="355600" indent="-342900" algn="just">
              <a:lnSpc>
                <a:spcPct val="100000"/>
              </a:lnSpc>
              <a:spcBef>
                <a:spcPts val="105"/>
              </a:spcBef>
              <a:buFont typeface="Arial MT"/>
              <a:buChar char="•"/>
              <a:tabLst>
                <a:tab pos="355600" algn="l"/>
              </a:tabLst>
            </a:pPr>
            <a:r>
              <a:rPr lang="en-US" sz="2100" dirty="0">
                <a:latin typeface="Times New Roman"/>
                <a:cs typeface="Times New Roman"/>
              </a:rPr>
              <a:t>To develop an interactive web application using </a:t>
            </a:r>
            <a:r>
              <a:rPr lang="en-US" sz="2100" dirty="0" err="1">
                <a:latin typeface="Times New Roman"/>
                <a:cs typeface="Times New Roman"/>
              </a:rPr>
              <a:t>Streamlit</a:t>
            </a:r>
            <a:r>
              <a:rPr lang="en-US" sz="2100" dirty="0">
                <a:latin typeface="Times New Roman"/>
                <a:cs typeface="Times New Roman"/>
              </a:rPr>
              <a:t> that provides real-time movie recommendations based on user input.</a:t>
            </a:r>
            <a:endParaRPr sz="21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9318" y="581025"/>
            <a:ext cx="10342576" cy="575156"/>
          </a:xfrm>
          <a:prstGeom prst="rect">
            <a:avLst/>
          </a:prstGeom>
        </p:spPr>
        <p:txBody>
          <a:bodyPr vert="horz" wrap="square" lIns="0" tIns="61594" rIns="0" bIns="0" rtlCol="0">
            <a:spAutoFit/>
          </a:bodyPr>
          <a:lstStyle/>
          <a:p>
            <a:pPr marL="12700" marR="5080" indent="114300">
              <a:lnSpc>
                <a:spcPts val="4020"/>
              </a:lnSpc>
              <a:spcBef>
                <a:spcPts val="484"/>
              </a:spcBef>
            </a:pPr>
            <a:r>
              <a:rPr dirty="0"/>
              <a:t>Research</a:t>
            </a:r>
            <a:r>
              <a:rPr spc="-35" dirty="0"/>
              <a:t> </a:t>
            </a:r>
            <a:r>
              <a:rPr dirty="0"/>
              <a:t>Gap(Limitations</a:t>
            </a:r>
            <a:r>
              <a:rPr spc="-30" dirty="0"/>
              <a:t> </a:t>
            </a:r>
            <a:r>
              <a:rPr dirty="0"/>
              <a:t>of</a:t>
            </a:r>
            <a:r>
              <a:rPr spc="-30" dirty="0"/>
              <a:t> </a:t>
            </a:r>
            <a:r>
              <a:rPr spc="-10" dirty="0"/>
              <a:t>existing</a:t>
            </a:r>
            <a:r>
              <a:rPr lang="en-IN" spc="-10" dirty="0"/>
              <a:t> </a:t>
            </a:r>
            <a:r>
              <a:rPr spc="-10" dirty="0"/>
              <a:t>systems)</a:t>
            </a:r>
          </a:p>
        </p:txBody>
      </p:sp>
      <p:sp>
        <p:nvSpPr>
          <p:cNvPr id="3" name="object 3"/>
          <p:cNvSpPr txBox="1"/>
          <p:nvPr/>
        </p:nvSpPr>
        <p:spPr>
          <a:xfrm>
            <a:off x="439318" y="1792300"/>
            <a:ext cx="8628380" cy="4732706"/>
          </a:xfrm>
          <a:prstGeom prst="rect">
            <a:avLst/>
          </a:prstGeom>
        </p:spPr>
        <p:txBody>
          <a:bodyPr vert="horz" wrap="square" lIns="0" tIns="13335" rIns="0" bIns="0" rtlCol="0">
            <a:spAutoFit/>
          </a:bodyPr>
          <a:lstStyle/>
          <a:p>
            <a:pPr marL="351790" marR="5080" indent="-339090" algn="just">
              <a:lnSpc>
                <a:spcPct val="100000"/>
              </a:lnSpc>
              <a:spcBef>
                <a:spcPts val="105"/>
              </a:spcBef>
              <a:buFont typeface="Arial MT"/>
              <a:buChar char="•"/>
              <a:tabLst>
                <a:tab pos="355600" algn="l"/>
              </a:tabLst>
            </a:pPr>
            <a:r>
              <a:rPr lang="en-US" sz="2000" dirty="0">
                <a:latin typeface="Times New Roman"/>
                <a:cs typeface="Times New Roman"/>
              </a:rPr>
              <a:t>Many existing movie platforms rely mainly on keyword-based search, requiring users to know the exact movie name instead of suggesting similar movies automatically.</a:t>
            </a:r>
          </a:p>
          <a:p>
            <a:pPr marL="351790" marR="5080" indent="-339090" algn="just">
              <a:lnSpc>
                <a:spcPct val="100000"/>
              </a:lnSpc>
              <a:spcBef>
                <a:spcPts val="105"/>
              </a:spcBef>
              <a:buFont typeface="Arial MT"/>
              <a:buChar char="•"/>
              <a:tabLst>
                <a:tab pos="355600" algn="l"/>
              </a:tabLst>
            </a:pPr>
            <a:endParaRPr lang="en-US" sz="2000" dirty="0">
              <a:latin typeface="Times New Roman"/>
              <a:cs typeface="Times New Roman"/>
            </a:endParaRPr>
          </a:p>
          <a:p>
            <a:pPr marL="351790" marR="5080" indent="-339090" algn="just">
              <a:lnSpc>
                <a:spcPct val="100000"/>
              </a:lnSpc>
              <a:spcBef>
                <a:spcPts val="105"/>
              </a:spcBef>
              <a:buFont typeface="Arial MT"/>
              <a:buChar char="•"/>
              <a:tabLst>
                <a:tab pos="355600" algn="l"/>
              </a:tabLst>
            </a:pPr>
            <a:r>
              <a:rPr lang="en-US" sz="2000" dirty="0">
                <a:latin typeface="Times New Roman"/>
                <a:cs typeface="Times New Roman"/>
              </a:rPr>
              <a:t>Several systems do not effectively use machine learning or NLP techniques, leading to less accurate and less meaningful recommendations.</a:t>
            </a:r>
          </a:p>
          <a:p>
            <a:pPr marL="351790" marR="5080" indent="-339090" algn="just">
              <a:lnSpc>
                <a:spcPct val="100000"/>
              </a:lnSpc>
              <a:spcBef>
                <a:spcPts val="105"/>
              </a:spcBef>
              <a:buFont typeface="Arial MT"/>
              <a:buChar char="•"/>
              <a:tabLst>
                <a:tab pos="355600" algn="l"/>
              </a:tabLst>
            </a:pPr>
            <a:endParaRPr lang="en-US" sz="2000" dirty="0">
              <a:latin typeface="Times New Roman"/>
              <a:cs typeface="Times New Roman"/>
            </a:endParaRPr>
          </a:p>
          <a:p>
            <a:pPr marL="351790" marR="5080" indent="-339090" algn="just">
              <a:lnSpc>
                <a:spcPct val="100000"/>
              </a:lnSpc>
              <a:spcBef>
                <a:spcPts val="105"/>
              </a:spcBef>
              <a:buFont typeface="Arial MT"/>
              <a:buChar char="•"/>
              <a:tabLst>
                <a:tab pos="355600" algn="l"/>
              </a:tabLst>
            </a:pPr>
            <a:r>
              <a:rPr lang="en-US" sz="2000" dirty="0">
                <a:latin typeface="Times New Roman"/>
                <a:cs typeface="Times New Roman"/>
              </a:rPr>
              <a:t>Some recommendation systems depend on user ratings or history, causing the cold-start problem for new users or new movies.</a:t>
            </a:r>
          </a:p>
          <a:p>
            <a:pPr marL="351790" marR="5080" indent="-339090" algn="just">
              <a:lnSpc>
                <a:spcPct val="100000"/>
              </a:lnSpc>
              <a:spcBef>
                <a:spcPts val="105"/>
              </a:spcBef>
              <a:buFont typeface="Arial MT"/>
              <a:buChar char="•"/>
              <a:tabLst>
                <a:tab pos="355600" algn="l"/>
              </a:tabLst>
            </a:pPr>
            <a:endParaRPr lang="en-US" sz="2000" dirty="0">
              <a:latin typeface="Times New Roman"/>
              <a:cs typeface="Times New Roman"/>
            </a:endParaRPr>
          </a:p>
          <a:p>
            <a:pPr marL="351790" marR="5080" indent="-339090" algn="just">
              <a:lnSpc>
                <a:spcPct val="100000"/>
              </a:lnSpc>
              <a:spcBef>
                <a:spcPts val="105"/>
              </a:spcBef>
              <a:buFont typeface="Arial MT"/>
              <a:buChar char="•"/>
              <a:tabLst>
                <a:tab pos="355600" algn="l"/>
              </a:tabLst>
            </a:pPr>
            <a:r>
              <a:rPr lang="en-US" sz="2000" dirty="0">
                <a:latin typeface="Times New Roman"/>
                <a:cs typeface="Times New Roman"/>
              </a:rPr>
              <a:t>Existing systems often fail to properly analyze movie content features like genres, cast, and overview, reducing recommendation quality.</a:t>
            </a:r>
          </a:p>
          <a:p>
            <a:pPr marL="351790" marR="5080" indent="-339090" algn="just">
              <a:lnSpc>
                <a:spcPct val="100000"/>
              </a:lnSpc>
              <a:spcBef>
                <a:spcPts val="105"/>
              </a:spcBef>
              <a:buFont typeface="Arial MT"/>
              <a:buChar char="•"/>
              <a:tabLst>
                <a:tab pos="355600" algn="l"/>
              </a:tabLst>
            </a:pPr>
            <a:endParaRPr lang="en-US" sz="2000" dirty="0">
              <a:latin typeface="Times New Roman"/>
              <a:cs typeface="Times New Roman"/>
            </a:endParaRPr>
          </a:p>
          <a:p>
            <a:pPr marL="351790" marR="5080" indent="-339090" algn="just">
              <a:lnSpc>
                <a:spcPct val="100000"/>
              </a:lnSpc>
              <a:spcBef>
                <a:spcPts val="105"/>
              </a:spcBef>
              <a:buFont typeface="Arial MT"/>
              <a:buChar char="•"/>
              <a:tabLst>
                <a:tab pos="355600" algn="l"/>
              </a:tabLst>
            </a:pPr>
            <a:r>
              <a:rPr lang="en-US" sz="2000" dirty="0">
                <a:latin typeface="Times New Roman"/>
                <a:cs typeface="Times New Roman"/>
              </a:rPr>
              <a:t>Many platforms lack a simple and interactive interface for quick search and real-time movie recommendations.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30378" rIns="0" bIns="0" rtlCol="0">
            <a:spAutoFit/>
          </a:bodyPr>
          <a:lstStyle/>
          <a:p>
            <a:pPr marL="386715">
              <a:lnSpc>
                <a:spcPct val="100000"/>
              </a:lnSpc>
              <a:spcBef>
                <a:spcPts val="100"/>
              </a:spcBef>
            </a:pPr>
            <a:r>
              <a:rPr dirty="0"/>
              <a:t>Problem</a:t>
            </a:r>
            <a:r>
              <a:rPr spc="-140" dirty="0"/>
              <a:t> </a:t>
            </a:r>
            <a:r>
              <a:rPr spc="-10" dirty="0"/>
              <a:t>Definition</a:t>
            </a:r>
          </a:p>
        </p:txBody>
      </p:sp>
      <p:sp>
        <p:nvSpPr>
          <p:cNvPr id="3" name="object 3"/>
          <p:cNvSpPr txBox="1"/>
          <p:nvPr/>
        </p:nvSpPr>
        <p:spPr>
          <a:xfrm>
            <a:off x="432003" y="1848993"/>
            <a:ext cx="9258097" cy="4963538"/>
          </a:xfrm>
          <a:prstGeom prst="rect">
            <a:avLst/>
          </a:prstGeom>
        </p:spPr>
        <p:txBody>
          <a:bodyPr vert="horz" wrap="square" lIns="0" tIns="13335" rIns="0" bIns="0" rtlCol="0">
            <a:spAutoFit/>
          </a:bodyPr>
          <a:lstStyle/>
          <a:p>
            <a:pPr marL="330200" marR="5080" indent="-317500" algn="just">
              <a:lnSpc>
                <a:spcPct val="100000"/>
              </a:lnSpc>
              <a:spcBef>
                <a:spcPts val="105"/>
              </a:spcBef>
              <a:buFont typeface="Arial MT"/>
              <a:buChar char="•"/>
              <a:tabLst>
                <a:tab pos="332740" algn="l"/>
              </a:tabLst>
            </a:pPr>
            <a:r>
              <a:rPr lang="en-US" sz="2100" dirty="0">
                <a:latin typeface="Times New Roman"/>
                <a:cs typeface="Times New Roman"/>
              </a:rPr>
              <a:t>Many users struggle to decide which movie to watch due to the vast availability of content across different platforms.</a:t>
            </a:r>
          </a:p>
          <a:p>
            <a:pPr marL="330200" marR="5080" indent="-317500" algn="just">
              <a:lnSpc>
                <a:spcPct val="100000"/>
              </a:lnSpc>
              <a:spcBef>
                <a:spcPts val="105"/>
              </a:spcBef>
              <a:buFont typeface="Arial MT"/>
              <a:buChar char="•"/>
              <a:tabLst>
                <a:tab pos="332740" algn="l"/>
              </a:tabLst>
            </a:pPr>
            <a:endParaRPr lang="en-US" sz="2100" dirty="0">
              <a:latin typeface="Times New Roman"/>
              <a:cs typeface="Times New Roman"/>
            </a:endParaRPr>
          </a:p>
          <a:p>
            <a:pPr marL="330200" marR="5080" indent="-317500" algn="just">
              <a:lnSpc>
                <a:spcPct val="100000"/>
              </a:lnSpc>
              <a:spcBef>
                <a:spcPts val="105"/>
              </a:spcBef>
              <a:buFont typeface="Arial MT"/>
              <a:buChar char="•"/>
              <a:tabLst>
                <a:tab pos="332740" algn="l"/>
              </a:tabLst>
            </a:pPr>
            <a:r>
              <a:rPr lang="en-US" sz="2100" dirty="0">
                <a:latin typeface="Times New Roman"/>
                <a:cs typeface="Times New Roman"/>
              </a:rPr>
              <a:t>Traditional search systems require users to know the exact movie name, making it difficult to discover similar or relevant movies.</a:t>
            </a:r>
          </a:p>
          <a:p>
            <a:pPr marL="330200" marR="5080" indent="-317500" algn="just">
              <a:lnSpc>
                <a:spcPct val="100000"/>
              </a:lnSpc>
              <a:spcBef>
                <a:spcPts val="105"/>
              </a:spcBef>
              <a:buFont typeface="Arial MT"/>
              <a:buChar char="•"/>
              <a:tabLst>
                <a:tab pos="332740" algn="l"/>
              </a:tabLst>
            </a:pPr>
            <a:endParaRPr lang="en-US" sz="2100" dirty="0">
              <a:latin typeface="Times New Roman"/>
              <a:cs typeface="Times New Roman"/>
            </a:endParaRPr>
          </a:p>
          <a:p>
            <a:pPr marL="330200" marR="5080" indent="-317500" algn="just">
              <a:lnSpc>
                <a:spcPct val="100000"/>
              </a:lnSpc>
              <a:spcBef>
                <a:spcPts val="105"/>
              </a:spcBef>
              <a:buFont typeface="Arial MT"/>
              <a:buChar char="•"/>
              <a:tabLst>
                <a:tab pos="332740" algn="l"/>
              </a:tabLst>
            </a:pPr>
            <a:r>
              <a:rPr lang="en-US" sz="2100" dirty="0">
                <a:latin typeface="Times New Roman"/>
                <a:cs typeface="Times New Roman"/>
              </a:rPr>
              <a:t>Existing systems often lack intelligent mechanisms to analyze movie content such as genres, cast, and overview for better recommendations.</a:t>
            </a:r>
          </a:p>
          <a:p>
            <a:pPr marL="330200" marR="5080" indent="-317500" algn="just">
              <a:lnSpc>
                <a:spcPct val="100000"/>
              </a:lnSpc>
              <a:spcBef>
                <a:spcPts val="105"/>
              </a:spcBef>
              <a:buFont typeface="Arial MT"/>
              <a:buChar char="•"/>
              <a:tabLst>
                <a:tab pos="332740" algn="l"/>
              </a:tabLst>
            </a:pPr>
            <a:endParaRPr lang="en-US" sz="2100" dirty="0">
              <a:latin typeface="Times New Roman"/>
              <a:cs typeface="Times New Roman"/>
            </a:endParaRPr>
          </a:p>
          <a:p>
            <a:pPr marL="330200" marR="5080" indent="-317500" algn="just">
              <a:lnSpc>
                <a:spcPct val="100000"/>
              </a:lnSpc>
              <a:spcBef>
                <a:spcPts val="105"/>
              </a:spcBef>
              <a:buFont typeface="Arial MT"/>
              <a:buChar char="•"/>
              <a:tabLst>
                <a:tab pos="332740" algn="l"/>
              </a:tabLst>
            </a:pPr>
            <a:r>
              <a:rPr lang="en-US" sz="2100" dirty="0">
                <a:latin typeface="Times New Roman"/>
                <a:cs typeface="Times New Roman"/>
              </a:rPr>
              <a:t>Some systems depend heavily on user ratings or history, leading to the cold-start problem for new users or newly added movies.</a:t>
            </a:r>
          </a:p>
          <a:p>
            <a:pPr marL="330200" marR="5080" indent="-317500" algn="just">
              <a:lnSpc>
                <a:spcPct val="100000"/>
              </a:lnSpc>
              <a:spcBef>
                <a:spcPts val="105"/>
              </a:spcBef>
              <a:buFont typeface="Arial MT"/>
              <a:buChar char="•"/>
              <a:tabLst>
                <a:tab pos="332740" algn="l"/>
              </a:tabLst>
            </a:pPr>
            <a:endParaRPr lang="en-US" sz="2100" dirty="0">
              <a:latin typeface="Times New Roman"/>
              <a:cs typeface="Times New Roman"/>
            </a:endParaRPr>
          </a:p>
          <a:p>
            <a:pPr marL="330200" marR="5080" indent="-317500" algn="just">
              <a:lnSpc>
                <a:spcPct val="100000"/>
              </a:lnSpc>
              <a:spcBef>
                <a:spcPts val="105"/>
              </a:spcBef>
              <a:buFont typeface="Arial MT"/>
              <a:buChar char="•"/>
              <a:tabLst>
                <a:tab pos="332740" algn="l"/>
              </a:tabLst>
            </a:pPr>
            <a:r>
              <a:rPr lang="en-US" sz="2100" dirty="0">
                <a:latin typeface="Times New Roman"/>
                <a:cs typeface="Times New Roman"/>
              </a:rPr>
              <a:t>Therefore, this project aims to develop a content-based movie recommendation system that suggests similar movies using NLP techniques and similarity-based algorithms.</a:t>
            </a:r>
            <a:endParaRPr sz="21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3078" rIns="0" bIns="0" rtlCol="0">
            <a:spAutoFit/>
          </a:bodyPr>
          <a:lstStyle/>
          <a:p>
            <a:pPr marL="578485">
              <a:lnSpc>
                <a:spcPct val="100000"/>
              </a:lnSpc>
              <a:spcBef>
                <a:spcPts val="100"/>
              </a:spcBef>
            </a:pPr>
            <a:r>
              <a:rPr spc="-10" dirty="0"/>
              <a:t>Scope</a:t>
            </a:r>
          </a:p>
        </p:txBody>
      </p:sp>
      <p:sp>
        <p:nvSpPr>
          <p:cNvPr id="3" name="object 3"/>
          <p:cNvSpPr txBox="1"/>
          <p:nvPr/>
        </p:nvSpPr>
        <p:spPr>
          <a:xfrm>
            <a:off x="432003" y="1928241"/>
            <a:ext cx="9258097" cy="4976362"/>
          </a:xfrm>
          <a:prstGeom prst="rect">
            <a:avLst/>
          </a:prstGeom>
        </p:spPr>
        <p:txBody>
          <a:bodyPr vert="horz" wrap="square" lIns="0" tIns="13335" rIns="0" bIns="0" rtlCol="0">
            <a:spAutoFit/>
          </a:bodyPr>
          <a:lstStyle/>
          <a:p>
            <a:pPr marL="332740" marR="5080" indent="-320040" algn="just">
              <a:lnSpc>
                <a:spcPct val="100000"/>
              </a:lnSpc>
              <a:spcBef>
                <a:spcPts val="105"/>
              </a:spcBef>
              <a:buSzPct val="70000"/>
              <a:buFont typeface="Arial MT"/>
              <a:buChar char="•"/>
              <a:tabLst>
                <a:tab pos="332740" algn="l"/>
              </a:tabLst>
            </a:pPr>
            <a:r>
              <a:rPr lang="en-US" sz="2100" dirty="0">
                <a:latin typeface="Times New Roman"/>
                <a:cs typeface="Times New Roman"/>
              </a:rPr>
              <a:t>The system can recommend movies based on user input using machine learning and NLP techniques.</a:t>
            </a:r>
          </a:p>
          <a:p>
            <a:pPr marL="332740" marR="5080" indent="-320040" algn="just">
              <a:lnSpc>
                <a:spcPct val="100000"/>
              </a:lnSpc>
              <a:spcBef>
                <a:spcPts val="105"/>
              </a:spcBef>
              <a:buSzPct val="70000"/>
              <a:buFont typeface="Arial MT"/>
              <a:buChar char="•"/>
              <a:tabLst>
                <a:tab pos="332740" algn="l"/>
              </a:tabLst>
            </a:pPr>
            <a:endParaRPr lang="en-US" sz="2100" dirty="0">
              <a:latin typeface="Times New Roman"/>
              <a:cs typeface="Times New Roman"/>
            </a:endParaRPr>
          </a:p>
          <a:p>
            <a:pPr marL="332740" marR="5080" indent="-320040" algn="just">
              <a:lnSpc>
                <a:spcPct val="100000"/>
              </a:lnSpc>
              <a:spcBef>
                <a:spcPts val="105"/>
              </a:spcBef>
              <a:buSzPct val="70000"/>
              <a:buFont typeface="Arial MT"/>
              <a:buChar char="•"/>
              <a:tabLst>
                <a:tab pos="332740" algn="l"/>
              </a:tabLst>
            </a:pPr>
            <a:r>
              <a:rPr lang="en-US" sz="2100" dirty="0">
                <a:latin typeface="Times New Roman"/>
                <a:cs typeface="Times New Roman"/>
              </a:rPr>
              <a:t>It can be integrated with web or mobile applications to provide real-time movie suggestions.</a:t>
            </a:r>
          </a:p>
          <a:p>
            <a:pPr marL="332740" marR="5080" indent="-320040" algn="just">
              <a:lnSpc>
                <a:spcPct val="100000"/>
              </a:lnSpc>
              <a:spcBef>
                <a:spcPts val="105"/>
              </a:spcBef>
              <a:buSzPct val="70000"/>
              <a:buFont typeface="Arial MT"/>
              <a:buChar char="•"/>
              <a:tabLst>
                <a:tab pos="332740" algn="l"/>
              </a:tabLst>
            </a:pPr>
            <a:endParaRPr lang="en-US" sz="2100" dirty="0">
              <a:latin typeface="Times New Roman"/>
              <a:cs typeface="Times New Roman"/>
            </a:endParaRPr>
          </a:p>
          <a:p>
            <a:pPr marL="332740" marR="5080" indent="-320040" algn="just">
              <a:lnSpc>
                <a:spcPct val="100000"/>
              </a:lnSpc>
              <a:spcBef>
                <a:spcPts val="105"/>
              </a:spcBef>
              <a:buSzPct val="70000"/>
              <a:buFont typeface="Arial MT"/>
              <a:buChar char="•"/>
              <a:tabLst>
                <a:tab pos="332740" algn="l"/>
              </a:tabLst>
            </a:pPr>
            <a:r>
              <a:rPr lang="en-US" sz="2100" dirty="0">
                <a:latin typeface="Times New Roman"/>
                <a:cs typeface="Times New Roman"/>
              </a:rPr>
              <a:t>The model can be extended by using larger datasets and additional features such as ratings, reviews, and posters.</a:t>
            </a:r>
          </a:p>
          <a:p>
            <a:pPr marL="332740" marR="5080" indent="-320040" algn="just">
              <a:lnSpc>
                <a:spcPct val="100000"/>
              </a:lnSpc>
              <a:spcBef>
                <a:spcPts val="105"/>
              </a:spcBef>
              <a:buSzPct val="70000"/>
              <a:buFont typeface="Arial MT"/>
              <a:buChar char="•"/>
              <a:tabLst>
                <a:tab pos="332740" algn="l"/>
              </a:tabLst>
            </a:pPr>
            <a:endParaRPr lang="en-US" sz="2100" dirty="0">
              <a:latin typeface="Times New Roman"/>
              <a:cs typeface="Times New Roman"/>
            </a:endParaRPr>
          </a:p>
          <a:p>
            <a:pPr marL="332740" marR="5080" indent="-320040" algn="just">
              <a:lnSpc>
                <a:spcPct val="100000"/>
              </a:lnSpc>
              <a:spcBef>
                <a:spcPts val="105"/>
              </a:spcBef>
              <a:buSzPct val="70000"/>
              <a:buFont typeface="Arial MT"/>
              <a:buChar char="•"/>
              <a:tabLst>
                <a:tab pos="332740" algn="l"/>
              </a:tabLst>
            </a:pPr>
            <a:r>
              <a:rPr lang="en-US" sz="2100" dirty="0">
                <a:latin typeface="Times New Roman"/>
                <a:cs typeface="Times New Roman"/>
              </a:rPr>
              <a:t>Future improvements may include personalized recommendations based on user preferences and viewing history.</a:t>
            </a:r>
          </a:p>
          <a:p>
            <a:pPr marL="332740" marR="5080" indent="-320040" algn="just">
              <a:lnSpc>
                <a:spcPct val="100000"/>
              </a:lnSpc>
              <a:spcBef>
                <a:spcPts val="105"/>
              </a:spcBef>
              <a:buSzPct val="70000"/>
              <a:buFont typeface="Arial MT"/>
              <a:buChar char="•"/>
              <a:tabLst>
                <a:tab pos="332740" algn="l"/>
              </a:tabLst>
            </a:pPr>
            <a:endParaRPr lang="en-US" sz="2100" dirty="0">
              <a:latin typeface="Times New Roman"/>
              <a:cs typeface="Times New Roman"/>
            </a:endParaRPr>
          </a:p>
          <a:p>
            <a:pPr marL="332740" marR="5080" indent="-320040" algn="just">
              <a:lnSpc>
                <a:spcPct val="100000"/>
              </a:lnSpc>
              <a:spcBef>
                <a:spcPts val="105"/>
              </a:spcBef>
              <a:buSzPct val="70000"/>
              <a:buFont typeface="Arial MT"/>
              <a:buChar char="•"/>
              <a:tabLst>
                <a:tab pos="332740" algn="l"/>
              </a:tabLst>
            </a:pPr>
            <a:r>
              <a:rPr lang="en-US" sz="2100" dirty="0">
                <a:latin typeface="Times New Roman"/>
                <a:cs typeface="Times New Roman"/>
              </a:rPr>
              <a:t>The system can be further enhanced using advanced AI models and deep learning techniques for better accuracy.</a:t>
            </a:r>
          </a:p>
          <a:p>
            <a:pPr marL="332740" marR="5080" indent="-320040" algn="just">
              <a:lnSpc>
                <a:spcPct val="100000"/>
              </a:lnSpc>
              <a:spcBef>
                <a:spcPts val="105"/>
              </a:spcBef>
              <a:buSzPct val="70000"/>
              <a:buFont typeface="Arial MT"/>
              <a:buChar char="•"/>
              <a:tabLst>
                <a:tab pos="332740" algn="l"/>
              </a:tabLst>
            </a:pPr>
            <a:endParaRPr sz="21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Technological</a:t>
            </a:r>
            <a:r>
              <a:rPr spc="-110" dirty="0"/>
              <a:t> </a:t>
            </a:r>
            <a:r>
              <a:rPr spc="-10" dirty="0"/>
              <a:t>Stack</a:t>
            </a:r>
          </a:p>
        </p:txBody>
      </p:sp>
      <p:sp>
        <p:nvSpPr>
          <p:cNvPr id="3" name="object 3"/>
          <p:cNvSpPr txBox="1"/>
          <p:nvPr/>
        </p:nvSpPr>
        <p:spPr>
          <a:xfrm>
            <a:off x="491794" y="1478457"/>
            <a:ext cx="8074559" cy="5040482"/>
          </a:xfrm>
          <a:prstGeom prst="rect">
            <a:avLst/>
          </a:prstGeom>
        </p:spPr>
        <p:txBody>
          <a:bodyPr vert="horz" wrap="square" lIns="0" tIns="13335" rIns="0" bIns="0" rtlCol="0">
            <a:spAutoFit/>
          </a:bodyPr>
          <a:lstStyle/>
          <a:p>
            <a:pPr marL="299085" indent="-286385" algn="just">
              <a:lnSpc>
                <a:spcPct val="100000"/>
              </a:lnSpc>
              <a:spcBef>
                <a:spcPts val="105"/>
              </a:spcBef>
              <a:buFont typeface="Arial MT"/>
              <a:buChar char="•"/>
              <a:tabLst>
                <a:tab pos="299085" algn="l"/>
              </a:tabLst>
            </a:pPr>
            <a:r>
              <a:rPr lang="en-IN" sz="2100" b="1" dirty="0">
                <a:latin typeface="Times New Roman"/>
                <a:cs typeface="Times New Roman"/>
              </a:rPr>
              <a:t>Frontend: </a:t>
            </a:r>
            <a:r>
              <a:rPr lang="en-IN" sz="2100" dirty="0" err="1">
                <a:latin typeface="Times New Roman"/>
                <a:cs typeface="Times New Roman"/>
              </a:rPr>
              <a:t>Streamlit</a:t>
            </a:r>
            <a:r>
              <a:rPr lang="en-IN" sz="2100" dirty="0">
                <a:latin typeface="Times New Roman"/>
                <a:cs typeface="Times New Roman"/>
              </a:rPr>
              <a:t> (Python-based UI)</a:t>
            </a:r>
          </a:p>
          <a:p>
            <a:pPr marL="299085" indent="-286385" algn="just">
              <a:lnSpc>
                <a:spcPct val="100000"/>
              </a:lnSpc>
              <a:spcBef>
                <a:spcPts val="105"/>
              </a:spcBef>
              <a:buFont typeface="Arial MT"/>
              <a:buChar char="•"/>
              <a:tabLst>
                <a:tab pos="299085" algn="l"/>
              </a:tabLst>
            </a:pPr>
            <a:endParaRPr lang="en-IN" sz="2100"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100" b="1" dirty="0">
                <a:latin typeface="Times New Roman"/>
                <a:cs typeface="Times New Roman"/>
              </a:rPr>
              <a:t>Backend: </a:t>
            </a:r>
            <a:r>
              <a:rPr lang="en-IN" sz="2100" dirty="0">
                <a:latin typeface="Times New Roman"/>
                <a:cs typeface="Times New Roman"/>
              </a:rPr>
              <a:t>Python</a:t>
            </a:r>
          </a:p>
          <a:p>
            <a:pPr marL="299085" indent="-286385" algn="just">
              <a:lnSpc>
                <a:spcPct val="100000"/>
              </a:lnSpc>
              <a:spcBef>
                <a:spcPts val="105"/>
              </a:spcBef>
              <a:buFont typeface="Arial MT"/>
              <a:buChar char="•"/>
              <a:tabLst>
                <a:tab pos="299085" algn="l"/>
              </a:tabLst>
            </a:pPr>
            <a:endParaRPr lang="en-IN" sz="2100"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100" b="1" dirty="0">
                <a:latin typeface="Times New Roman"/>
                <a:cs typeface="Times New Roman"/>
              </a:rPr>
              <a:t>Machine Learning: </a:t>
            </a:r>
            <a:r>
              <a:rPr lang="en-IN" sz="2100" dirty="0">
                <a:latin typeface="Times New Roman"/>
                <a:cs typeface="Times New Roman"/>
              </a:rPr>
              <a:t>Count Vectorization (Bag of Words)</a:t>
            </a:r>
          </a:p>
          <a:p>
            <a:pPr marL="299085" indent="-286385" algn="just">
              <a:lnSpc>
                <a:spcPct val="100000"/>
              </a:lnSpc>
              <a:spcBef>
                <a:spcPts val="105"/>
              </a:spcBef>
              <a:buFont typeface="Arial MT"/>
              <a:buChar char="•"/>
              <a:tabLst>
                <a:tab pos="299085" algn="l"/>
              </a:tabLst>
            </a:pPr>
            <a:endParaRPr lang="en-IN" sz="2100" dirty="0">
              <a:latin typeface="Times New Roman"/>
              <a:cs typeface="Times New Roman"/>
            </a:endParaRPr>
          </a:p>
          <a:p>
            <a:pPr marL="299085" indent="-286385" algn="just">
              <a:spcBef>
                <a:spcPts val="105"/>
              </a:spcBef>
              <a:buFont typeface="Arial MT"/>
              <a:buChar char="•"/>
              <a:tabLst>
                <a:tab pos="299085" algn="l"/>
              </a:tabLst>
            </a:pPr>
            <a:r>
              <a:rPr lang="en-IN" sz="2100" b="1" dirty="0">
                <a:latin typeface="Times New Roman"/>
                <a:cs typeface="Times New Roman"/>
              </a:rPr>
              <a:t>Recommendation Method: </a:t>
            </a:r>
            <a:r>
              <a:rPr lang="en-IN" sz="2100" dirty="0">
                <a:latin typeface="Times New Roman"/>
                <a:cs typeface="Times New Roman"/>
              </a:rPr>
              <a:t>Content-Based Filtering</a:t>
            </a:r>
          </a:p>
          <a:p>
            <a:pPr marL="299085" indent="-286385" algn="just">
              <a:spcBef>
                <a:spcPts val="105"/>
              </a:spcBef>
              <a:buFont typeface="Arial MT"/>
              <a:buChar char="•"/>
              <a:tabLst>
                <a:tab pos="299085" algn="l"/>
              </a:tabLst>
            </a:pPr>
            <a:endParaRPr lang="en-IN" sz="2100"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100" b="1" dirty="0">
                <a:latin typeface="Times New Roman"/>
                <a:cs typeface="Times New Roman"/>
              </a:rPr>
              <a:t>Similarity Algorithm: </a:t>
            </a:r>
            <a:r>
              <a:rPr lang="en-IN" sz="2100" dirty="0">
                <a:latin typeface="Times New Roman"/>
                <a:cs typeface="Times New Roman"/>
              </a:rPr>
              <a:t>Cosine Similarity</a:t>
            </a:r>
          </a:p>
          <a:p>
            <a:pPr marL="299085" indent="-286385" algn="just">
              <a:lnSpc>
                <a:spcPct val="100000"/>
              </a:lnSpc>
              <a:spcBef>
                <a:spcPts val="105"/>
              </a:spcBef>
              <a:buFont typeface="Arial MT"/>
              <a:buChar char="•"/>
              <a:tabLst>
                <a:tab pos="299085" algn="l"/>
              </a:tabLst>
            </a:pPr>
            <a:endParaRPr lang="en-IN" sz="2100" b="1"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100" b="1" dirty="0">
                <a:latin typeface="Times New Roman"/>
                <a:cs typeface="Times New Roman"/>
              </a:rPr>
              <a:t>NLP Techniques: </a:t>
            </a:r>
            <a:r>
              <a:rPr lang="en-IN" sz="2100" dirty="0">
                <a:latin typeface="Times New Roman"/>
                <a:cs typeface="Times New Roman"/>
              </a:rPr>
              <a:t>Tokenization, Stemming (Porter Stemmer)</a:t>
            </a:r>
          </a:p>
          <a:p>
            <a:pPr marL="299085" indent="-286385" algn="just">
              <a:lnSpc>
                <a:spcPct val="100000"/>
              </a:lnSpc>
              <a:spcBef>
                <a:spcPts val="105"/>
              </a:spcBef>
              <a:buFont typeface="Arial MT"/>
              <a:buChar char="•"/>
              <a:tabLst>
                <a:tab pos="299085" algn="l"/>
              </a:tabLst>
            </a:pPr>
            <a:endParaRPr lang="en-IN" sz="2100"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100" b="1" dirty="0">
                <a:latin typeface="Times New Roman"/>
                <a:cs typeface="Times New Roman"/>
              </a:rPr>
              <a:t>Data Processing: </a:t>
            </a:r>
            <a:r>
              <a:rPr lang="en-IN" sz="2100" dirty="0">
                <a:latin typeface="Times New Roman"/>
                <a:cs typeface="Times New Roman"/>
              </a:rPr>
              <a:t>Pandas, NumPy</a:t>
            </a:r>
          </a:p>
          <a:p>
            <a:pPr marL="12700" algn="just">
              <a:lnSpc>
                <a:spcPct val="100000"/>
              </a:lnSpc>
              <a:spcBef>
                <a:spcPts val="105"/>
              </a:spcBef>
              <a:tabLst>
                <a:tab pos="299085" algn="l"/>
              </a:tabLst>
            </a:pPr>
            <a:endParaRPr lang="en-IN" sz="2100" b="1"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100" b="1" dirty="0">
                <a:latin typeface="Times New Roman"/>
                <a:cs typeface="Times New Roman"/>
              </a:rPr>
              <a:t>Dataset: </a:t>
            </a:r>
            <a:r>
              <a:rPr lang="en-IN" sz="2100" dirty="0">
                <a:latin typeface="Times New Roman"/>
                <a:cs typeface="Times New Roman"/>
              </a:rPr>
              <a:t>TMDB 5000 Movie Dataset</a:t>
            </a:r>
            <a:endParaRPr sz="21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5652387" y="-4762"/>
            <a:ext cx="4434205" cy="7569200"/>
            <a:chOff x="5652387" y="-4762"/>
            <a:chExt cx="4434205" cy="7569200"/>
          </a:xfrm>
        </p:grpSpPr>
        <p:sp>
          <p:nvSpPr>
            <p:cNvPr id="6" name="object 6"/>
            <p:cNvSpPr/>
            <p:nvPr/>
          </p:nvSpPr>
          <p:spPr>
            <a:xfrm>
              <a:off x="5657149" y="0"/>
              <a:ext cx="4424680" cy="7559675"/>
            </a:xfrm>
            <a:custGeom>
              <a:avLst/>
              <a:gdLst/>
              <a:ahLst/>
              <a:cxnLst/>
              <a:rect l="l" t="t" r="r" b="b"/>
              <a:pathLst>
                <a:path w="4424680" h="7559675">
                  <a:moveTo>
                    <a:pt x="0" y="7559040"/>
                  </a:moveTo>
                  <a:lnTo>
                    <a:pt x="4424110" y="4608028"/>
                  </a:lnTo>
                </a:path>
                <a:path w="4424680" h="7559675">
                  <a:moveTo>
                    <a:pt x="2107249" y="0"/>
                  </a:moveTo>
                  <a:lnTo>
                    <a:pt x="3450274" y="7559673"/>
                  </a:lnTo>
                </a:path>
              </a:pathLst>
            </a:custGeom>
            <a:ln w="9525">
              <a:solidFill>
                <a:srgbClr val="5FCAEE"/>
              </a:solidFill>
            </a:ln>
          </p:spPr>
          <p:txBody>
            <a:bodyPr wrap="square" lIns="0" tIns="0" rIns="0" bIns="0" rtlCol="0"/>
            <a:lstStyle/>
            <a:p>
              <a:endParaRPr/>
            </a:p>
          </p:txBody>
        </p:sp>
        <p:sp>
          <p:nvSpPr>
            <p:cNvPr id="7" name="object 7"/>
            <p:cNvSpPr/>
            <p:nvPr/>
          </p:nvSpPr>
          <p:spPr>
            <a:xfrm>
              <a:off x="7598019" y="0"/>
              <a:ext cx="2483485" cy="7559040"/>
            </a:xfrm>
            <a:custGeom>
              <a:avLst/>
              <a:gdLst/>
              <a:ahLst/>
              <a:cxnLst/>
              <a:rect l="l" t="t" r="r" b="b"/>
              <a:pathLst>
                <a:path w="2483484" h="7559040">
                  <a:moveTo>
                    <a:pt x="2230510" y="0"/>
                  </a:moveTo>
                  <a:lnTo>
                    <a:pt x="0" y="7559040"/>
                  </a:lnTo>
                  <a:lnTo>
                    <a:pt x="2483240" y="7559040"/>
                  </a:lnTo>
                  <a:lnTo>
                    <a:pt x="2483240" y="8964"/>
                  </a:lnTo>
                  <a:lnTo>
                    <a:pt x="2230510" y="0"/>
                  </a:lnTo>
                  <a:close/>
                </a:path>
              </a:pathLst>
            </a:custGeom>
            <a:solidFill>
              <a:srgbClr val="5FCAEE">
                <a:alpha val="35293"/>
              </a:srgbClr>
            </a:solidFill>
          </p:spPr>
          <p:txBody>
            <a:bodyPr wrap="square" lIns="0" tIns="0" rIns="0" bIns="0" rtlCol="0"/>
            <a:lstStyle/>
            <a:p>
              <a:endParaRPr/>
            </a:p>
          </p:txBody>
        </p:sp>
        <p:sp>
          <p:nvSpPr>
            <p:cNvPr id="8" name="object 8"/>
            <p:cNvSpPr/>
            <p:nvPr/>
          </p:nvSpPr>
          <p:spPr>
            <a:xfrm>
              <a:off x="7943867" y="0"/>
              <a:ext cx="2137410" cy="7559040"/>
            </a:xfrm>
            <a:custGeom>
              <a:avLst/>
              <a:gdLst/>
              <a:ahLst/>
              <a:cxnLst/>
              <a:rect l="l" t="t" r="r" b="b"/>
              <a:pathLst>
                <a:path w="2137409" h="7559040">
                  <a:moveTo>
                    <a:pt x="2137392" y="0"/>
                  </a:moveTo>
                  <a:lnTo>
                    <a:pt x="0" y="0"/>
                  </a:lnTo>
                  <a:lnTo>
                    <a:pt x="1323846" y="7559040"/>
                  </a:lnTo>
                  <a:lnTo>
                    <a:pt x="2137392" y="7559040"/>
                  </a:lnTo>
                  <a:lnTo>
                    <a:pt x="2137392" y="0"/>
                  </a:lnTo>
                  <a:close/>
                </a:path>
              </a:pathLst>
            </a:custGeom>
            <a:solidFill>
              <a:srgbClr val="5FCAEE">
                <a:alpha val="19215"/>
              </a:srgbClr>
            </a:solidFill>
          </p:spPr>
          <p:txBody>
            <a:bodyPr wrap="square" lIns="0" tIns="0" rIns="0" bIns="0" rtlCol="0"/>
            <a:lstStyle/>
            <a:p>
              <a:endParaRPr/>
            </a:p>
          </p:txBody>
        </p:sp>
        <p:sp>
          <p:nvSpPr>
            <p:cNvPr id="9" name="object 9"/>
            <p:cNvSpPr/>
            <p:nvPr/>
          </p:nvSpPr>
          <p:spPr>
            <a:xfrm>
              <a:off x="7318916" y="4321324"/>
              <a:ext cx="2762885" cy="3237865"/>
            </a:xfrm>
            <a:custGeom>
              <a:avLst/>
              <a:gdLst/>
              <a:ahLst/>
              <a:cxnLst/>
              <a:rect l="l" t="t" r="r" b="b"/>
              <a:pathLst>
                <a:path w="2762884" h="3237865">
                  <a:moveTo>
                    <a:pt x="2762343" y="0"/>
                  </a:moveTo>
                  <a:lnTo>
                    <a:pt x="0" y="3237715"/>
                  </a:lnTo>
                  <a:lnTo>
                    <a:pt x="2762343" y="3237715"/>
                  </a:lnTo>
                  <a:lnTo>
                    <a:pt x="2762343" y="0"/>
                  </a:lnTo>
                  <a:close/>
                </a:path>
              </a:pathLst>
            </a:custGeom>
            <a:solidFill>
              <a:srgbClr val="17AFE3">
                <a:alpha val="65097"/>
              </a:srgbClr>
            </a:solidFill>
          </p:spPr>
          <p:txBody>
            <a:bodyPr wrap="square" lIns="0" tIns="0" rIns="0" bIns="0" rtlCol="0"/>
            <a:lstStyle/>
            <a:p>
              <a:endParaRPr/>
            </a:p>
          </p:txBody>
        </p:sp>
        <p:sp>
          <p:nvSpPr>
            <p:cNvPr id="10" name="object 10"/>
            <p:cNvSpPr/>
            <p:nvPr/>
          </p:nvSpPr>
          <p:spPr>
            <a:xfrm>
              <a:off x="7730525" y="0"/>
              <a:ext cx="2350770" cy="7559040"/>
            </a:xfrm>
            <a:custGeom>
              <a:avLst/>
              <a:gdLst/>
              <a:ahLst/>
              <a:cxnLst/>
              <a:rect l="l" t="t" r="r" b="b"/>
              <a:pathLst>
                <a:path w="2350770" h="755904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p:spPr>
          <p:txBody>
            <a:bodyPr wrap="square" lIns="0" tIns="0" rIns="0" bIns="0" rtlCol="0"/>
            <a:lstStyle/>
            <a:p>
              <a:endParaRPr/>
            </a:p>
          </p:txBody>
        </p:sp>
        <p:sp>
          <p:nvSpPr>
            <p:cNvPr id="11" name="object 11"/>
            <p:cNvSpPr/>
            <p:nvPr/>
          </p:nvSpPr>
          <p:spPr>
            <a:xfrm>
              <a:off x="9145586" y="0"/>
              <a:ext cx="935990" cy="7559040"/>
            </a:xfrm>
            <a:custGeom>
              <a:avLst/>
              <a:gdLst/>
              <a:ahLst/>
              <a:cxnLst/>
              <a:rect l="l" t="t" r="r" b="b"/>
              <a:pathLst>
                <a:path w="935990" h="7559040">
                  <a:moveTo>
                    <a:pt x="935673" y="0"/>
                  </a:moveTo>
                  <a:lnTo>
                    <a:pt x="744742" y="0"/>
                  </a:lnTo>
                  <a:lnTo>
                    <a:pt x="0" y="7559040"/>
                  </a:lnTo>
                  <a:lnTo>
                    <a:pt x="935673" y="7559040"/>
                  </a:lnTo>
                  <a:lnTo>
                    <a:pt x="935673" y="0"/>
                  </a:lnTo>
                  <a:close/>
                </a:path>
              </a:pathLst>
            </a:custGeom>
            <a:solidFill>
              <a:srgbClr val="2D83C3">
                <a:alpha val="69410"/>
              </a:srgbClr>
            </a:solidFill>
          </p:spPr>
          <p:txBody>
            <a:bodyPr wrap="square" lIns="0" tIns="0" rIns="0" bIns="0" rtlCol="0"/>
            <a:lstStyle/>
            <a:p>
              <a:endParaRPr/>
            </a:p>
          </p:txBody>
        </p:sp>
        <p:sp>
          <p:nvSpPr>
            <p:cNvPr id="12" name="object 12"/>
            <p:cNvSpPr/>
            <p:nvPr/>
          </p:nvSpPr>
          <p:spPr>
            <a:xfrm>
              <a:off x="8924576" y="0"/>
              <a:ext cx="1156970" cy="7559040"/>
            </a:xfrm>
            <a:custGeom>
              <a:avLst/>
              <a:gdLst/>
              <a:ahLst/>
              <a:cxnLst/>
              <a:rect l="l" t="t" r="r" b="b"/>
              <a:pathLst>
                <a:path w="1156970" h="7559040">
                  <a:moveTo>
                    <a:pt x="1156683" y="0"/>
                  </a:moveTo>
                  <a:lnTo>
                    <a:pt x="0" y="0"/>
                  </a:lnTo>
                  <a:lnTo>
                    <a:pt x="1033660" y="7559040"/>
                  </a:lnTo>
                  <a:lnTo>
                    <a:pt x="1156683" y="7559040"/>
                  </a:lnTo>
                  <a:lnTo>
                    <a:pt x="1156683" y="0"/>
                  </a:lnTo>
                  <a:close/>
                </a:path>
              </a:pathLst>
            </a:custGeom>
            <a:solidFill>
              <a:srgbClr val="226192">
                <a:alpha val="81175"/>
              </a:srgbClr>
            </a:solidFill>
          </p:spPr>
          <p:txBody>
            <a:bodyPr wrap="square" lIns="0" tIns="0" rIns="0" bIns="0" rtlCol="0"/>
            <a:lstStyle/>
            <a:p>
              <a:endParaRPr/>
            </a:p>
          </p:txBody>
        </p:sp>
        <p:sp>
          <p:nvSpPr>
            <p:cNvPr id="13" name="object 13"/>
            <p:cNvSpPr/>
            <p:nvPr/>
          </p:nvSpPr>
          <p:spPr>
            <a:xfrm>
              <a:off x="8895050" y="5420201"/>
              <a:ext cx="1186815" cy="2139315"/>
            </a:xfrm>
            <a:custGeom>
              <a:avLst/>
              <a:gdLst/>
              <a:ahLst/>
              <a:cxnLst/>
              <a:rect l="l" t="t" r="r" b="b"/>
              <a:pathLst>
                <a:path w="1186815" h="2139315">
                  <a:moveTo>
                    <a:pt x="1186209" y="0"/>
                  </a:moveTo>
                  <a:lnTo>
                    <a:pt x="0" y="2138838"/>
                  </a:lnTo>
                  <a:lnTo>
                    <a:pt x="136021" y="2138838"/>
                  </a:lnTo>
                  <a:lnTo>
                    <a:pt x="1186209" y="2133955"/>
                  </a:lnTo>
                  <a:lnTo>
                    <a:pt x="1186209" y="0"/>
                  </a:lnTo>
                  <a:close/>
                </a:path>
              </a:pathLst>
            </a:custGeom>
            <a:solidFill>
              <a:srgbClr val="17AFE3">
                <a:alpha val="65097"/>
              </a:srgbClr>
            </a:solidFill>
          </p:spPr>
          <p:txBody>
            <a:bodyPr wrap="square" lIns="0" tIns="0" rIns="0" bIns="0" rtlCol="0"/>
            <a:lstStyle/>
            <a:p>
              <a:endParaRPr/>
            </a:p>
          </p:txBody>
        </p:sp>
      </p:grpSp>
      <p:sp>
        <p:nvSpPr>
          <p:cNvPr id="14" name="object 14"/>
          <p:cNvSpPr txBox="1">
            <a:spLocks noGrp="1"/>
          </p:cNvSpPr>
          <p:nvPr>
            <p:ph type="title"/>
          </p:nvPr>
        </p:nvSpPr>
        <p:spPr>
          <a:xfrm>
            <a:off x="411042" y="276225"/>
            <a:ext cx="7421245" cy="1085850"/>
          </a:xfrm>
          <a:prstGeom prst="rect">
            <a:avLst/>
          </a:prstGeom>
        </p:spPr>
        <p:txBody>
          <a:bodyPr vert="horz" wrap="square" lIns="0" tIns="330378" rIns="0" bIns="0" rtlCol="0">
            <a:spAutoFit/>
          </a:bodyPr>
          <a:lstStyle/>
          <a:p>
            <a:pPr marL="272415">
              <a:lnSpc>
                <a:spcPct val="100000"/>
              </a:lnSpc>
              <a:spcBef>
                <a:spcPts val="100"/>
              </a:spcBef>
            </a:pPr>
            <a:r>
              <a:rPr spc="-10" dirty="0"/>
              <a:t>Implementation</a:t>
            </a:r>
          </a:p>
        </p:txBody>
      </p:sp>
      <p:sp>
        <p:nvSpPr>
          <p:cNvPr id="15" name="object 15"/>
          <p:cNvSpPr txBox="1"/>
          <p:nvPr/>
        </p:nvSpPr>
        <p:spPr>
          <a:xfrm>
            <a:off x="2670676" y="6325664"/>
            <a:ext cx="5551489"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Figure</a:t>
            </a:r>
            <a:r>
              <a:rPr sz="2000" b="1" spc="-10" dirty="0">
                <a:latin typeface="Times New Roman"/>
                <a:cs typeface="Times New Roman"/>
              </a:rPr>
              <a:t> </a:t>
            </a:r>
            <a:r>
              <a:rPr sz="2000" b="1" dirty="0">
                <a:latin typeface="Times New Roman"/>
                <a:cs typeface="Times New Roman"/>
              </a:rPr>
              <a:t>1.</a:t>
            </a:r>
            <a:r>
              <a:rPr sz="2000" b="1" spc="-15" dirty="0">
                <a:latin typeface="Times New Roman"/>
                <a:cs typeface="Times New Roman"/>
              </a:rPr>
              <a:t> </a:t>
            </a:r>
            <a:r>
              <a:rPr lang="en-IN" sz="2000" b="1" dirty="0">
                <a:latin typeface="Times New Roman"/>
                <a:cs typeface="Times New Roman"/>
              </a:rPr>
              <a:t>Movie Recommendation Interface</a:t>
            </a:r>
            <a:endParaRPr sz="2000" b="1" dirty="0">
              <a:latin typeface="Times New Roman"/>
              <a:cs typeface="Times New Roman"/>
            </a:endParaRPr>
          </a:p>
        </p:txBody>
      </p:sp>
      <p:pic>
        <p:nvPicPr>
          <p:cNvPr id="3" name="Picture 2">
            <a:extLst>
              <a:ext uri="{FF2B5EF4-FFF2-40B4-BE49-F238E27FC236}">
                <a16:creationId xmlns:a16="http://schemas.microsoft.com/office/drawing/2014/main" id="{7514719E-7477-8537-6E9A-1C5B5D4EC1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615" y="1621155"/>
            <a:ext cx="8924323" cy="44454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87CFB3-D18D-F312-5CC4-8BE8ACE4D131}"/>
            </a:ext>
          </a:extLst>
        </p:cNvPr>
        <p:cNvGrpSpPr/>
        <p:nvPr/>
      </p:nvGrpSpPr>
      <p:grpSpPr>
        <a:xfrm>
          <a:off x="0" y="0"/>
          <a:ext cx="0" cy="0"/>
          <a:chOff x="0" y="0"/>
          <a:chExt cx="0" cy="0"/>
        </a:xfrm>
      </p:grpSpPr>
      <p:grpSp>
        <p:nvGrpSpPr>
          <p:cNvPr id="5" name="object 5">
            <a:extLst>
              <a:ext uri="{FF2B5EF4-FFF2-40B4-BE49-F238E27FC236}">
                <a16:creationId xmlns:a16="http://schemas.microsoft.com/office/drawing/2014/main" id="{2730F0C0-AAF1-30C2-3208-94E7C7B4DA47}"/>
              </a:ext>
            </a:extLst>
          </p:cNvPr>
          <p:cNvGrpSpPr/>
          <p:nvPr/>
        </p:nvGrpSpPr>
        <p:grpSpPr>
          <a:xfrm>
            <a:off x="5652387" y="-4762"/>
            <a:ext cx="4434205" cy="7569200"/>
            <a:chOff x="5652387" y="-4762"/>
            <a:chExt cx="4434205" cy="7569200"/>
          </a:xfrm>
        </p:grpSpPr>
        <p:sp>
          <p:nvSpPr>
            <p:cNvPr id="6" name="object 6">
              <a:extLst>
                <a:ext uri="{FF2B5EF4-FFF2-40B4-BE49-F238E27FC236}">
                  <a16:creationId xmlns:a16="http://schemas.microsoft.com/office/drawing/2014/main" id="{B449764A-54B2-B474-85EA-C865C406EFCA}"/>
                </a:ext>
              </a:extLst>
            </p:cNvPr>
            <p:cNvSpPr/>
            <p:nvPr/>
          </p:nvSpPr>
          <p:spPr>
            <a:xfrm>
              <a:off x="5657149" y="0"/>
              <a:ext cx="4424680" cy="7559675"/>
            </a:xfrm>
            <a:custGeom>
              <a:avLst/>
              <a:gdLst/>
              <a:ahLst/>
              <a:cxnLst/>
              <a:rect l="l" t="t" r="r" b="b"/>
              <a:pathLst>
                <a:path w="4424680" h="7559675">
                  <a:moveTo>
                    <a:pt x="0" y="7559040"/>
                  </a:moveTo>
                  <a:lnTo>
                    <a:pt x="4424110" y="4608028"/>
                  </a:lnTo>
                </a:path>
                <a:path w="4424680" h="7559675">
                  <a:moveTo>
                    <a:pt x="2107249" y="0"/>
                  </a:moveTo>
                  <a:lnTo>
                    <a:pt x="3450274" y="7559673"/>
                  </a:lnTo>
                </a:path>
              </a:pathLst>
            </a:custGeom>
            <a:ln w="9525">
              <a:solidFill>
                <a:srgbClr val="5FCAEE"/>
              </a:solidFill>
            </a:ln>
          </p:spPr>
          <p:txBody>
            <a:bodyPr wrap="square" lIns="0" tIns="0" rIns="0" bIns="0" rtlCol="0"/>
            <a:lstStyle/>
            <a:p>
              <a:endParaRPr/>
            </a:p>
          </p:txBody>
        </p:sp>
        <p:sp>
          <p:nvSpPr>
            <p:cNvPr id="7" name="object 7">
              <a:extLst>
                <a:ext uri="{FF2B5EF4-FFF2-40B4-BE49-F238E27FC236}">
                  <a16:creationId xmlns:a16="http://schemas.microsoft.com/office/drawing/2014/main" id="{37ACBFBE-7F33-7F39-772D-54D1A8C94117}"/>
                </a:ext>
              </a:extLst>
            </p:cNvPr>
            <p:cNvSpPr/>
            <p:nvPr/>
          </p:nvSpPr>
          <p:spPr>
            <a:xfrm>
              <a:off x="7598019" y="0"/>
              <a:ext cx="2483485" cy="7559040"/>
            </a:xfrm>
            <a:custGeom>
              <a:avLst/>
              <a:gdLst/>
              <a:ahLst/>
              <a:cxnLst/>
              <a:rect l="l" t="t" r="r" b="b"/>
              <a:pathLst>
                <a:path w="2483484" h="7559040">
                  <a:moveTo>
                    <a:pt x="2230510" y="0"/>
                  </a:moveTo>
                  <a:lnTo>
                    <a:pt x="0" y="7559040"/>
                  </a:lnTo>
                  <a:lnTo>
                    <a:pt x="2483240" y="7559040"/>
                  </a:lnTo>
                  <a:lnTo>
                    <a:pt x="2483240" y="8964"/>
                  </a:lnTo>
                  <a:lnTo>
                    <a:pt x="2230510" y="0"/>
                  </a:lnTo>
                  <a:close/>
                </a:path>
              </a:pathLst>
            </a:custGeom>
            <a:solidFill>
              <a:srgbClr val="5FCAEE">
                <a:alpha val="35293"/>
              </a:srgbClr>
            </a:solidFill>
          </p:spPr>
          <p:txBody>
            <a:bodyPr wrap="square" lIns="0" tIns="0" rIns="0" bIns="0" rtlCol="0"/>
            <a:lstStyle/>
            <a:p>
              <a:endParaRPr/>
            </a:p>
          </p:txBody>
        </p:sp>
        <p:sp>
          <p:nvSpPr>
            <p:cNvPr id="8" name="object 8">
              <a:extLst>
                <a:ext uri="{FF2B5EF4-FFF2-40B4-BE49-F238E27FC236}">
                  <a16:creationId xmlns:a16="http://schemas.microsoft.com/office/drawing/2014/main" id="{EA883F50-55DC-4FEF-DEB1-7AF4ED332792}"/>
                </a:ext>
              </a:extLst>
            </p:cNvPr>
            <p:cNvSpPr/>
            <p:nvPr/>
          </p:nvSpPr>
          <p:spPr>
            <a:xfrm>
              <a:off x="7943867" y="0"/>
              <a:ext cx="2137410" cy="7559040"/>
            </a:xfrm>
            <a:custGeom>
              <a:avLst/>
              <a:gdLst/>
              <a:ahLst/>
              <a:cxnLst/>
              <a:rect l="l" t="t" r="r" b="b"/>
              <a:pathLst>
                <a:path w="2137409" h="7559040">
                  <a:moveTo>
                    <a:pt x="2137392" y="0"/>
                  </a:moveTo>
                  <a:lnTo>
                    <a:pt x="0" y="0"/>
                  </a:lnTo>
                  <a:lnTo>
                    <a:pt x="1323846" y="7559040"/>
                  </a:lnTo>
                  <a:lnTo>
                    <a:pt x="2137392" y="7559040"/>
                  </a:lnTo>
                  <a:lnTo>
                    <a:pt x="2137392" y="0"/>
                  </a:lnTo>
                  <a:close/>
                </a:path>
              </a:pathLst>
            </a:custGeom>
            <a:solidFill>
              <a:srgbClr val="5FCAEE">
                <a:alpha val="19215"/>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E986E018-FFB2-592E-1430-1796F6FC14D2}"/>
                </a:ext>
              </a:extLst>
            </p:cNvPr>
            <p:cNvSpPr/>
            <p:nvPr/>
          </p:nvSpPr>
          <p:spPr>
            <a:xfrm>
              <a:off x="7318916" y="4321324"/>
              <a:ext cx="2762885" cy="3237865"/>
            </a:xfrm>
            <a:custGeom>
              <a:avLst/>
              <a:gdLst/>
              <a:ahLst/>
              <a:cxnLst/>
              <a:rect l="l" t="t" r="r" b="b"/>
              <a:pathLst>
                <a:path w="2762884" h="3237865">
                  <a:moveTo>
                    <a:pt x="2762343" y="0"/>
                  </a:moveTo>
                  <a:lnTo>
                    <a:pt x="0" y="3237715"/>
                  </a:lnTo>
                  <a:lnTo>
                    <a:pt x="2762343" y="3237715"/>
                  </a:lnTo>
                  <a:lnTo>
                    <a:pt x="2762343" y="0"/>
                  </a:lnTo>
                  <a:close/>
                </a:path>
              </a:pathLst>
            </a:custGeom>
            <a:solidFill>
              <a:srgbClr val="17AFE3">
                <a:alpha val="65097"/>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AA69031B-2C0C-15D4-A594-5CA6ABB1372C}"/>
                </a:ext>
              </a:extLst>
            </p:cNvPr>
            <p:cNvSpPr/>
            <p:nvPr/>
          </p:nvSpPr>
          <p:spPr>
            <a:xfrm>
              <a:off x="7730525" y="0"/>
              <a:ext cx="2350770" cy="7559040"/>
            </a:xfrm>
            <a:custGeom>
              <a:avLst/>
              <a:gdLst/>
              <a:ahLst/>
              <a:cxnLst/>
              <a:rect l="l" t="t" r="r" b="b"/>
              <a:pathLst>
                <a:path w="2350770" h="755904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8C28F0AD-27A3-B92C-63C1-CA75372436B0}"/>
                </a:ext>
              </a:extLst>
            </p:cNvPr>
            <p:cNvSpPr/>
            <p:nvPr/>
          </p:nvSpPr>
          <p:spPr>
            <a:xfrm>
              <a:off x="9145586" y="0"/>
              <a:ext cx="935990" cy="7559040"/>
            </a:xfrm>
            <a:custGeom>
              <a:avLst/>
              <a:gdLst/>
              <a:ahLst/>
              <a:cxnLst/>
              <a:rect l="l" t="t" r="r" b="b"/>
              <a:pathLst>
                <a:path w="935990" h="7559040">
                  <a:moveTo>
                    <a:pt x="935673" y="0"/>
                  </a:moveTo>
                  <a:lnTo>
                    <a:pt x="744742" y="0"/>
                  </a:lnTo>
                  <a:lnTo>
                    <a:pt x="0" y="7559040"/>
                  </a:lnTo>
                  <a:lnTo>
                    <a:pt x="935673" y="7559040"/>
                  </a:lnTo>
                  <a:lnTo>
                    <a:pt x="935673" y="0"/>
                  </a:lnTo>
                  <a:close/>
                </a:path>
              </a:pathLst>
            </a:custGeom>
            <a:solidFill>
              <a:srgbClr val="2D83C3">
                <a:alpha val="69410"/>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4D374F00-80E3-3376-F300-158A72806428}"/>
                </a:ext>
              </a:extLst>
            </p:cNvPr>
            <p:cNvSpPr/>
            <p:nvPr/>
          </p:nvSpPr>
          <p:spPr>
            <a:xfrm>
              <a:off x="8924576" y="0"/>
              <a:ext cx="1156970" cy="7559040"/>
            </a:xfrm>
            <a:custGeom>
              <a:avLst/>
              <a:gdLst/>
              <a:ahLst/>
              <a:cxnLst/>
              <a:rect l="l" t="t" r="r" b="b"/>
              <a:pathLst>
                <a:path w="1156970" h="7559040">
                  <a:moveTo>
                    <a:pt x="1156683" y="0"/>
                  </a:moveTo>
                  <a:lnTo>
                    <a:pt x="0" y="0"/>
                  </a:lnTo>
                  <a:lnTo>
                    <a:pt x="1033660" y="7559040"/>
                  </a:lnTo>
                  <a:lnTo>
                    <a:pt x="1156683" y="7559040"/>
                  </a:lnTo>
                  <a:lnTo>
                    <a:pt x="1156683" y="0"/>
                  </a:lnTo>
                  <a:close/>
                </a:path>
              </a:pathLst>
            </a:custGeom>
            <a:solidFill>
              <a:srgbClr val="226192">
                <a:alpha val="81175"/>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B8CB3CE2-DA7A-FA9A-0924-BCBCC6F36A6A}"/>
                </a:ext>
              </a:extLst>
            </p:cNvPr>
            <p:cNvSpPr/>
            <p:nvPr/>
          </p:nvSpPr>
          <p:spPr>
            <a:xfrm>
              <a:off x="8895050" y="5420201"/>
              <a:ext cx="1186815" cy="2139315"/>
            </a:xfrm>
            <a:custGeom>
              <a:avLst/>
              <a:gdLst/>
              <a:ahLst/>
              <a:cxnLst/>
              <a:rect l="l" t="t" r="r" b="b"/>
              <a:pathLst>
                <a:path w="1186815" h="2139315">
                  <a:moveTo>
                    <a:pt x="1186209" y="0"/>
                  </a:moveTo>
                  <a:lnTo>
                    <a:pt x="0" y="2138838"/>
                  </a:lnTo>
                  <a:lnTo>
                    <a:pt x="136021" y="2138838"/>
                  </a:lnTo>
                  <a:lnTo>
                    <a:pt x="1186209" y="2133955"/>
                  </a:lnTo>
                  <a:lnTo>
                    <a:pt x="1186209" y="0"/>
                  </a:lnTo>
                  <a:close/>
                </a:path>
              </a:pathLst>
            </a:custGeom>
            <a:solidFill>
              <a:srgbClr val="17AFE3">
                <a:alpha val="65097"/>
              </a:srgbClr>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DE6B2BCA-0825-28E0-CA99-3F4D608E9279}"/>
              </a:ext>
            </a:extLst>
          </p:cNvPr>
          <p:cNvSpPr txBox="1">
            <a:spLocks noGrp="1"/>
          </p:cNvSpPr>
          <p:nvPr>
            <p:ph type="title"/>
          </p:nvPr>
        </p:nvSpPr>
        <p:spPr>
          <a:xfrm>
            <a:off x="411042" y="276225"/>
            <a:ext cx="7421245" cy="1085850"/>
          </a:xfrm>
          <a:prstGeom prst="rect">
            <a:avLst/>
          </a:prstGeom>
        </p:spPr>
        <p:txBody>
          <a:bodyPr vert="horz" wrap="square" lIns="0" tIns="330378" rIns="0" bIns="0" rtlCol="0">
            <a:spAutoFit/>
          </a:bodyPr>
          <a:lstStyle/>
          <a:p>
            <a:pPr marL="272415">
              <a:lnSpc>
                <a:spcPct val="100000"/>
              </a:lnSpc>
              <a:spcBef>
                <a:spcPts val="100"/>
              </a:spcBef>
            </a:pPr>
            <a:r>
              <a:rPr spc="-10" dirty="0"/>
              <a:t>Implementation</a:t>
            </a:r>
          </a:p>
        </p:txBody>
      </p:sp>
      <p:sp>
        <p:nvSpPr>
          <p:cNvPr id="15" name="object 15">
            <a:extLst>
              <a:ext uri="{FF2B5EF4-FFF2-40B4-BE49-F238E27FC236}">
                <a16:creationId xmlns:a16="http://schemas.microsoft.com/office/drawing/2014/main" id="{60FE4D57-783F-72D0-ECBD-44A5DC59BBF8}"/>
              </a:ext>
            </a:extLst>
          </p:cNvPr>
          <p:cNvSpPr txBox="1"/>
          <p:nvPr/>
        </p:nvSpPr>
        <p:spPr>
          <a:xfrm>
            <a:off x="1972986" y="6169257"/>
            <a:ext cx="6339801" cy="320601"/>
          </a:xfrm>
          <a:prstGeom prst="rect">
            <a:avLst/>
          </a:prstGeom>
        </p:spPr>
        <p:txBody>
          <a:bodyPr vert="horz" wrap="square" lIns="0" tIns="12700" rIns="0" bIns="0" rtlCol="0">
            <a:spAutoFit/>
          </a:bodyPr>
          <a:lstStyle/>
          <a:p>
            <a:pPr marL="12700" algn="ctr">
              <a:lnSpc>
                <a:spcPct val="100000"/>
              </a:lnSpc>
              <a:spcBef>
                <a:spcPts val="100"/>
              </a:spcBef>
            </a:pPr>
            <a:r>
              <a:rPr sz="2000" b="1" dirty="0">
                <a:latin typeface="Times New Roman"/>
                <a:cs typeface="Times New Roman"/>
              </a:rPr>
              <a:t>Figure</a:t>
            </a:r>
            <a:r>
              <a:rPr sz="2000" b="1" spc="-10" dirty="0">
                <a:latin typeface="Times New Roman"/>
                <a:cs typeface="Times New Roman"/>
              </a:rPr>
              <a:t> </a:t>
            </a:r>
            <a:r>
              <a:rPr lang="en-IN" sz="2000" b="1" spc="-10" dirty="0">
                <a:latin typeface="Times New Roman"/>
                <a:cs typeface="Times New Roman"/>
              </a:rPr>
              <a:t>2</a:t>
            </a:r>
            <a:r>
              <a:rPr sz="2000" b="1" dirty="0">
                <a:latin typeface="Times New Roman"/>
                <a:cs typeface="Times New Roman"/>
              </a:rPr>
              <a:t>.</a:t>
            </a:r>
            <a:r>
              <a:rPr sz="2000" b="1" spc="-15" dirty="0">
                <a:latin typeface="Times New Roman"/>
                <a:cs typeface="Times New Roman"/>
              </a:rPr>
              <a:t> </a:t>
            </a:r>
            <a:r>
              <a:rPr lang="en-IN" sz="2000" b="1" dirty="0">
                <a:latin typeface="Times New Roman"/>
                <a:cs typeface="Times New Roman"/>
              </a:rPr>
              <a:t>Movie Details &amp; Recommendations View</a:t>
            </a:r>
            <a:endParaRPr sz="2000" b="1" dirty="0">
              <a:latin typeface="Times New Roman"/>
              <a:cs typeface="Times New Roman"/>
            </a:endParaRPr>
          </a:p>
        </p:txBody>
      </p:sp>
      <p:pic>
        <p:nvPicPr>
          <p:cNvPr id="4" name="Picture 3">
            <a:extLst>
              <a:ext uri="{FF2B5EF4-FFF2-40B4-BE49-F238E27FC236}">
                <a16:creationId xmlns:a16="http://schemas.microsoft.com/office/drawing/2014/main" id="{A0EF83E6-6ED4-990B-F501-3F875F76D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173" y="1568641"/>
            <a:ext cx="8933408" cy="4366203"/>
          </a:xfrm>
          <a:prstGeom prst="rect">
            <a:avLst/>
          </a:prstGeom>
        </p:spPr>
      </p:pic>
    </p:spTree>
    <p:extLst>
      <p:ext uri="{BB962C8B-B14F-4D97-AF65-F5344CB8AC3E}">
        <p14:creationId xmlns:p14="http://schemas.microsoft.com/office/powerpoint/2010/main" val="1179262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5652387" y="-4762"/>
            <a:ext cx="4434205" cy="7569200"/>
            <a:chOff x="5652387" y="-4762"/>
            <a:chExt cx="4434205" cy="7569200"/>
          </a:xfrm>
        </p:grpSpPr>
        <p:sp>
          <p:nvSpPr>
            <p:cNvPr id="6" name="object 6"/>
            <p:cNvSpPr/>
            <p:nvPr/>
          </p:nvSpPr>
          <p:spPr>
            <a:xfrm>
              <a:off x="5657149" y="0"/>
              <a:ext cx="4424680" cy="7559675"/>
            </a:xfrm>
            <a:custGeom>
              <a:avLst/>
              <a:gdLst/>
              <a:ahLst/>
              <a:cxnLst/>
              <a:rect l="l" t="t" r="r" b="b"/>
              <a:pathLst>
                <a:path w="4424680" h="7559675">
                  <a:moveTo>
                    <a:pt x="0" y="7559040"/>
                  </a:moveTo>
                  <a:lnTo>
                    <a:pt x="4424110" y="4608028"/>
                  </a:lnTo>
                </a:path>
                <a:path w="4424680" h="7559675">
                  <a:moveTo>
                    <a:pt x="2107249" y="0"/>
                  </a:moveTo>
                  <a:lnTo>
                    <a:pt x="3450274" y="7559673"/>
                  </a:lnTo>
                </a:path>
              </a:pathLst>
            </a:custGeom>
            <a:ln w="9525">
              <a:solidFill>
                <a:srgbClr val="5FCAEE"/>
              </a:solidFill>
            </a:ln>
          </p:spPr>
          <p:txBody>
            <a:bodyPr wrap="square" lIns="0" tIns="0" rIns="0" bIns="0" rtlCol="0"/>
            <a:lstStyle/>
            <a:p>
              <a:endParaRPr/>
            </a:p>
          </p:txBody>
        </p:sp>
        <p:sp>
          <p:nvSpPr>
            <p:cNvPr id="7" name="object 7"/>
            <p:cNvSpPr/>
            <p:nvPr/>
          </p:nvSpPr>
          <p:spPr>
            <a:xfrm>
              <a:off x="7598019" y="0"/>
              <a:ext cx="2483485" cy="7559040"/>
            </a:xfrm>
            <a:custGeom>
              <a:avLst/>
              <a:gdLst/>
              <a:ahLst/>
              <a:cxnLst/>
              <a:rect l="l" t="t" r="r" b="b"/>
              <a:pathLst>
                <a:path w="2483484" h="7559040">
                  <a:moveTo>
                    <a:pt x="2230510" y="0"/>
                  </a:moveTo>
                  <a:lnTo>
                    <a:pt x="0" y="7559040"/>
                  </a:lnTo>
                  <a:lnTo>
                    <a:pt x="2483240" y="7559040"/>
                  </a:lnTo>
                  <a:lnTo>
                    <a:pt x="2483240" y="8964"/>
                  </a:lnTo>
                  <a:lnTo>
                    <a:pt x="2230510" y="0"/>
                  </a:lnTo>
                  <a:close/>
                </a:path>
              </a:pathLst>
            </a:custGeom>
            <a:solidFill>
              <a:srgbClr val="5FCAEE">
                <a:alpha val="35293"/>
              </a:srgbClr>
            </a:solidFill>
          </p:spPr>
          <p:txBody>
            <a:bodyPr wrap="square" lIns="0" tIns="0" rIns="0" bIns="0" rtlCol="0"/>
            <a:lstStyle/>
            <a:p>
              <a:endParaRPr/>
            </a:p>
          </p:txBody>
        </p:sp>
        <p:sp>
          <p:nvSpPr>
            <p:cNvPr id="8" name="object 8"/>
            <p:cNvSpPr/>
            <p:nvPr/>
          </p:nvSpPr>
          <p:spPr>
            <a:xfrm>
              <a:off x="7943867" y="0"/>
              <a:ext cx="2137410" cy="7559040"/>
            </a:xfrm>
            <a:custGeom>
              <a:avLst/>
              <a:gdLst/>
              <a:ahLst/>
              <a:cxnLst/>
              <a:rect l="l" t="t" r="r" b="b"/>
              <a:pathLst>
                <a:path w="2137409" h="7559040">
                  <a:moveTo>
                    <a:pt x="2137392" y="0"/>
                  </a:moveTo>
                  <a:lnTo>
                    <a:pt x="0" y="0"/>
                  </a:lnTo>
                  <a:lnTo>
                    <a:pt x="1323846" y="7559040"/>
                  </a:lnTo>
                  <a:lnTo>
                    <a:pt x="2137392" y="7559040"/>
                  </a:lnTo>
                  <a:lnTo>
                    <a:pt x="2137392" y="0"/>
                  </a:lnTo>
                  <a:close/>
                </a:path>
              </a:pathLst>
            </a:custGeom>
            <a:solidFill>
              <a:srgbClr val="5FCAEE">
                <a:alpha val="19215"/>
              </a:srgbClr>
            </a:solidFill>
          </p:spPr>
          <p:txBody>
            <a:bodyPr wrap="square" lIns="0" tIns="0" rIns="0" bIns="0" rtlCol="0"/>
            <a:lstStyle/>
            <a:p>
              <a:endParaRPr/>
            </a:p>
          </p:txBody>
        </p:sp>
        <p:sp>
          <p:nvSpPr>
            <p:cNvPr id="9" name="object 9"/>
            <p:cNvSpPr/>
            <p:nvPr/>
          </p:nvSpPr>
          <p:spPr>
            <a:xfrm>
              <a:off x="7318916" y="4321324"/>
              <a:ext cx="2762885" cy="3237865"/>
            </a:xfrm>
            <a:custGeom>
              <a:avLst/>
              <a:gdLst/>
              <a:ahLst/>
              <a:cxnLst/>
              <a:rect l="l" t="t" r="r" b="b"/>
              <a:pathLst>
                <a:path w="2762884" h="3237865">
                  <a:moveTo>
                    <a:pt x="2762343" y="0"/>
                  </a:moveTo>
                  <a:lnTo>
                    <a:pt x="0" y="3237715"/>
                  </a:lnTo>
                  <a:lnTo>
                    <a:pt x="2762343" y="3237715"/>
                  </a:lnTo>
                  <a:lnTo>
                    <a:pt x="2762343" y="0"/>
                  </a:lnTo>
                  <a:close/>
                </a:path>
              </a:pathLst>
            </a:custGeom>
            <a:solidFill>
              <a:srgbClr val="17AFE3">
                <a:alpha val="65097"/>
              </a:srgbClr>
            </a:solidFill>
          </p:spPr>
          <p:txBody>
            <a:bodyPr wrap="square" lIns="0" tIns="0" rIns="0" bIns="0" rtlCol="0"/>
            <a:lstStyle/>
            <a:p>
              <a:endParaRPr/>
            </a:p>
          </p:txBody>
        </p:sp>
        <p:sp>
          <p:nvSpPr>
            <p:cNvPr id="10" name="object 10"/>
            <p:cNvSpPr/>
            <p:nvPr/>
          </p:nvSpPr>
          <p:spPr>
            <a:xfrm>
              <a:off x="7730525" y="0"/>
              <a:ext cx="2350770" cy="7559040"/>
            </a:xfrm>
            <a:custGeom>
              <a:avLst/>
              <a:gdLst/>
              <a:ahLst/>
              <a:cxnLst/>
              <a:rect l="l" t="t" r="r" b="b"/>
              <a:pathLst>
                <a:path w="2350770" h="755904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p:spPr>
          <p:txBody>
            <a:bodyPr wrap="square" lIns="0" tIns="0" rIns="0" bIns="0" rtlCol="0"/>
            <a:lstStyle/>
            <a:p>
              <a:endParaRPr/>
            </a:p>
          </p:txBody>
        </p:sp>
        <p:sp>
          <p:nvSpPr>
            <p:cNvPr id="11" name="object 11"/>
            <p:cNvSpPr/>
            <p:nvPr/>
          </p:nvSpPr>
          <p:spPr>
            <a:xfrm>
              <a:off x="9145586" y="0"/>
              <a:ext cx="935990" cy="7559040"/>
            </a:xfrm>
            <a:custGeom>
              <a:avLst/>
              <a:gdLst/>
              <a:ahLst/>
              <a:cxnLst/>
              <a:rect l="l" t="t" r="r" b="b"/>
              <a:pathLst>
                <a:path w="935990" h="7559040">
                  <a:moveTo>
                    <a:pt x="935673" y="0"/>
                  </a:moveTo>
                  <a:lnTo>
                    <a:pt x="744742" y="0"/>
                  </a:lnTo>
                  <a:lnTo>
                    <a:pt x="0" y="7559040"/>
                  </a:lnTo>
                  <a:lnTo>
                    <a:pt x="935673" y="7559040"/>
                  </a:lnTo>
                  <a:lnTo>
                    <a:pt x="935673" y="0"/>
                  </a:lnTo>
                  <a:close/>
                </a:path>
              </a:pathLst>
            </a:custGeom>
            <a:solidFill>
              <a:srgbClr val="2D83C3">
                <a:alpha val="69410"/>
              </a:srgbClr>
            </a:solidFill>
          </p:spPr>
          <p:txBody>
            <a:bodyPr wrap="square" lIns="0" tIns="0" rIns="0" bIns="0" rtlCol="0"/>
            <a:lstStyle/>
            <a:p>
              <a:endParaRPr/>
            </a:p>
          </p:txBody>
        </p:sp>
        <p:sp>
          <p:nvSpPr>
            <p:cNvPr id="12" name="object 12"/>
            <p:cNvSpPr/>
            <p:nvPr/>
          </p:nvSpPr>
          <p:spPr>
            <a:xfrm>
              <a:off x="8924576" y="0"/>
              <a:ext cx="1156970" cy="7559040"/>
            </a:xfrm>
            <a:custGeom>
              <a:avLst/>
              <a:gdLst/>
              <a:ahLst/>
              <a:cxnLst/>
              <a:rect l="l" t="t" r="r" b="b"/>
              <a:pathLst>
                <a:path w="1156970" h="7559040">
                  <a:moveTo>
                    <a:pt x="1156683" y="0"/>
                  </a:moveTo>
                  <a:lnTo>
                    <a:pt x="0" y="0"/>
                  </a:lnTo>
                  <a:lnTo>
                    <a:pt x="1033660" y="7559040"/>
                  </a:lnTo>
                  <a:lnTo>
                    <a:pt x="1156683" y="7559040"/>
                  </a:lnTo>
                  <a:lnTo>
                    <a:pt x="1156683" y="0"/>
                  </a:lnTo>
                  <a:close/>
                </a:path>
              </a:pathLst>
            </a:custGeom>
            <a:solidFill>
              <a:srgbClr val="226192">
                <a:alpha val="81175"/>
              </a:srgbClr>
            </a:solidFill>
          </p:spPr>
          <p:txBody>
            <a:bodyPr wrap="square" lIns="0" tIns="0" rIns="0" bIns="0" rtlCol="0"/>
            <a:lstStyle/>
            <a:p>
              <a:endParaRPr/>
            </a:p>
          </p:txBody>
        </p:sp>
        <p:sp>
          <p:nvSpPr>
            <p:cNvPr id="13" name="object 13"/>
            <p:cNvSpPr/>
            <p:nvPr/>
          </p:nvSpPr>
          <p:spPr>
            <a:xfrm>
              <a:off x="8895050" y="5420201"/>
              <a:ext cx="1186815" cy="2139315"/>
            </a:xfrm>
            <a:custGeom>
              <a:avLst/>
              <a:gdLst/>
              <a:ahLst/>
              <a:cxnLst/>
              <a:rect l="l" t="t" r="r" b="b"/>
              <a:pathLst>
                <a:path w="1186815" h="2139315">
                  <a:moveTo>
                    <a:pt x="1186209" y="0"/>
                  </a:moveTo>
                  <a:lnTo>
                    <a:pt x="0" y="2138838"/>
                  </a:lnTo>
                  <a:lnTo>
                    <a:pt x="136021" y="2138838"/>
                  </a:lnTo>
                  <a:lnTo>
                    <a:pt x="1186209" y="2133955"/>
                  </a:lnTo>
                  <a:lnTo>
                    <a:pt x="1186209" y="0"/>
                  </a:lnTo>
                  <a:close/>
                </a:path>
              </a:pathLst>
            </a:custGeom>
            <a:solidFill>
              <a:srgbClr val="17AFE3">
                <a:alpha val="65097"/>
              </a:srgbClr>
            </a:solidFill>
          </p:spPr>
          <p:txBody>
            <a:bodyPr wrap="square" lIns="0" tIns="0" rIns="0" bIns="0" rtlCol="0"/>
            <a:lstStyle/>
            <a:p>
              <a:endParaRPr/>
            </a:p>
          </p:txBody>
        </p:sp>
      </p:grpSp>
      <p:sp>
        <p:nvSpPr>
          <p:cNvPr id="14" name="object 14"/>
          <p:cNvSpPr txBox="1">
            <a:spLocks noGrp="1"/>
          </p:cNvSpPr>
          <p:nvPr>
            <p:ph type="title"/>
          </p:nvPr>
        </p:nvSpPr>
        <p:spPr>
          <a:prstGeom prst="rect">
            <a:avLst/>
          </a:prstGeom>
        </p:spPr>
        <p:txBody>
          <a:bodyPr vert="horz" wrap="square" lIns="0" tIns="330378" rIns="0" bIns="0" rtlCol="0">
            <a:spAutoFit/>
          </a:bodyPr>
          <a:lstStyle/>
          <a:p>
            <a:pPr marL="272415">
              <a:lnSpc>
                <a:spcPct val="100000"/>
              </a:lnSpc>
              <a:spcBef>
                <a:spcPts val="100"/>
              </a:spcBef>
            </a:pPr>
            <a:r>
              <a:rPr spc="-10" dirty="0"/>
              <a:t>Implementation</a:t>
            </a:r>
          </a:p>
        </p:txBody>
      </p:sp>
      <p:sp>
        <p:nvSpPr>
          <p:cNvPr id="15" name="object 15"/>
          <p:cNvSpPr txBox="1"/>
          <p:nvPr/>
        </p:nvSpPr>
        <p:spPr>
          <a:xfrm>
            <a:off x="2914311" y="6329557"/>
            <a:ext cx="5332223"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Figure</a:t>
            </a:r>
            <a:r>
              <a:rPr sz="2000" b="1" spc="-20" dirty="0">
                <a:latin typeface="Times New Roman"/>
                <a:cs typeface="Times New Roman"/>
              </a:rPr>
              <a:t> </a:t>
            </a:r>
            <a:r>
              <a:rPr lang="en-IN" sz="2000" b="1" spc="-20" dirty="0">
                <a:latin typeface="Times New Roman"/>
                <a:cs typeface="Times New Roman"/>
              </a:rPr>
              <a:t>3</a:t>
            </a:r>
            <a:r>
              <a:rPr sz="2000" b="1" dirty="0">
                <a:latin typeface="Times New Roman"/>
                <a:cs typeface="Times New Roman"/>
              </a:rPr>
              <a:t>.</a:t>
            </a:r>
            <a:r>
              <a:rPr sz="2000" b="1" spc="-20" dirty="0">
                <a:latin typeface="Times New Roman"/>
                <a:cs typeface="Times New Roman"/>
              </a:rPr>
              <a:t> </a:t>
            </a:r>
            <a:r>
              <a:rPr lang="en-IN" sz="2000" b="1" dirty="0">
                <a:latin typeface="Times New Roman"/>
                <a:cs typeface="Times New Roman"/>
              </a:rPr>
              <a:t>Expanded Recommendation Results</a:t>
            </a:r>
            <a:endParaRPr sz="2000" b="1" dirty="0">
              <a:latin typeface="Times New Roman"/>
              <a:cs typeface="Times New Roman"/>
            </a:endParaRPr>
          </a:p>
        </p:txBody>
      </p:sp>
      <p:pic>
        <p:nvPicPr>
          <p:cNvPr id="3" name="Picture 2">
            <a:extLst>
              <a:ext uri="{FF2B5EF4-FFF2-40B4-BE49-F238E27FC236}">
                <a16:creationId xmlns:a16="http://schemas.microsoft.com/office/drawing/2014/main" id="{DCA0DD47-2134-3358-671A-CC9A34059D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403" y="1541771"/>
            <a:ext cx="9145333" cy="44754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Conclusion</a:t>
            </a:r>
          </a:p>
        </p:txBody>
      </p:sp>
      <p:sp>
        <p:nvSpPr>
          <p:cNvPr id="3" name="object 3"/>
          <p:cNvSpPr txBox="1"/>
          <p:nvPr/>
        </p:nvSpPr>
        <p:spPr>
          <a:xfrm>
            <a:off x="618540" y="1569466"/>
            <a:ext cx="8444865" cy="3568285"/>
          </a:xfrm>
          <a:prstGeom prst="rect">
            <a:avLst/>
          </a:prstGeom>
        </p:spPr>
        <p:txBody>
          <a:bodyPr vert="horz" wrap="square" lIns="0" tIns="13335" rIns="0" bIns="0" rtlCol="0">
            <a:spAutoFit/>
          </a:bodyPr>
          <a:lstStyle/>
          <a:p>
            <a:pPr algn="just"/>
            <a:r>
              <a:rPr lang="en-US" sz="2100" dirty="0">
                <a:latin typeface="Times New Roman" panose="02020603050405020304" pitchFamily="18" charset="0"/>
                <a:cs typeface="Times New Roman" panose="02020603050405020304" pitchFamily="18" charset="0"/>
              </a:rPr>
              <a:t>The Movie Recommendation System successfully demonstrates the use of content-based filtering techniques to provide accurate and relevant movie suggestions based on user input. By utilizing movie metadata such as genres, keywords, cast, and overview along with NLP techniques and cosine similarity, the system efficiently identifies similar movies and delivers fast recommendations through an interactive interface. It effectively solves the problem of information overload and does not rely on user history, making it suitable even for new users. Overall, the project highlights the practical application of machine learning in real-world scenarios and provides a strong foundation for future enhancements like hybrid models and personalized recommendations.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5451" y="3384042"/>
            <a:ext cx="2896235" cy="574040"/>
          </a:xfrm>
          <a:prstGeom prst="rect">
            <a:avLst/>
          </a:prstGeom>
        </p:spPr>
        <p:txBody>
          <a:bodyPr vert="horz" wrap="square" lIns="0" tIns="12700" rIns="0" bIns="0" rtlCol="0">
            <a:spAutoFit/>
          </a:bodyPr>
          <a:lstStyle/>
          <a:p>
            <a:pPr marL="12700">
              <a:lnSpc>
                <a:spcPct val="100000"/>
              </a:lnSpc>
              <a:spcBef>
                <a:spcPts val="100"/>
              </a:spcBef>
            </a:pPr>
            <a:r>
              <a:rPr dirty="0"/>
              <a:t>Thank</a:t>
            </a:r>
            <a:r>
              <a:rPr spc="-25" dirty="0"/>
              <a:t> </a:t>
            </a:r>
            <a:r>
              <a:rPr spc="-10"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TotalTime>
  <Words>878</Words>
  <Application>Microsoft Office PowerPoint</Application>
  <PresentationFormat>Custom</PresentationFormat>
  <Paragraphs>92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MT</vt:lpstr>
      <vt:lpstr>Calibri</vt:lpstr>
      <vt:lpstr>Times New Roman</vt:lpstr>
      <vt:lpstr>Office Theme</vt:lpstr>
      <vt:lpstr>     Movie Recommendation System</vt:lpstr>
      <vt:lpstr>Contents</vt:lpstr>
      <vt:lpstr>Abstract</vt:lpstr>
      <vt:lpstr>Introduction</vt:lpstr>
      <vt:lpstr>Objectives</vt:lpstr>
      <vt:lpstr>Research Gap(Limitations of existing systems)</vt:lpstr>
      <vt:lpstr>Problem Definition</vt:lpstr>
      <vt:lpstr>Scope</vt:lpstr>
      <vt:lpstr>Technological Stack</vt:lpstr>
      <vt:lpstr>Implementation</vt:lpstr>
      <vt:lpstr>Implementation</vt:lpstr>
      <vt:lpstr>Implementation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 b</dc:creator>
  <cp:lastModifiedBy>Avadhoot Virkar</cp:lastModifiedBy>
  <cp:revision>5</cp:revision>
  <dcterms:created xsi:type="dcterms:W3CDTF">2026-03-15T09:14:29Z</dcterms:created>
  <dcterms:modified xsi:type="dcterms:W3CDTF">2026-04-08T05:45:45Z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2025-10-08T00:00:00Z</vt:filetime>
  </property>
  <property fmtid="{D5CDD505-2E9C-101B-9397-08002B2CF9AE}" pid="3" name="Creator">
    <vt:lpwstr>Microsoft® PowerPoint® 2021</vt:lpwstr>
  </property>
  <property fmtid="{D5CDD505-2E9C-101B-9397-08002B2CF9AE}" pid="4" name="LastSaved">
    <vt:filetime>2026-03-15T00:00:00Z</vt:filetime>
  </property>
  <property fmtid="{D5CDD505-2E9C-101B-9397-08002B2CF9AE}" pid="5" name="Producer">
    <vt:lpwstr>Microsoft® PowerPoint® 2021</vt:lpwstr>
  </property>
</Properties>
</file>