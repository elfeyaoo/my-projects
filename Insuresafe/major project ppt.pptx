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74" r:id="rId2"/>
    <p:sldId id="257" r:id="rId3"/>
    <p:sldId id="279" r:id="rId4"/>
    <p:sldId id="259" r:id="rId5"/>
    <p:sldId id="275" r:id="rId6"/>
    <p:sldId id="276" r:id="rId7"/>
    <p:sldId id="263" r:id="rId8"/>
    <p:sldId id="284" r:id="rId9"/>
    <p:sldId id="285" r:id="rId10"/>
    <p:sldId id="261" r:id="rId11"/>
    <p:sldId id="265" r:id="rId12"/>
    <p:sldId id="277" r:id="rId13"/>
    <p:sldId id="267" r:id="rId14"/>
    <p:sldId id="268" r:id="rId15"/>
    <p:sldId id="291" r:id="rId16"/>
    <p:sldId id="292" r:id="rId17"/>
    <p:sldId id="288" r:id="rId18"/>
    <p:sldId id="290" r:id="rId19"/>
    <p:sldId id="286" r:id="rId20"/>
    <p:sldId id="293" r:id="rId21"/>
    <p:sldId id="289" r:id="rId22"/>
    <p:sldId id="272" r:id="rId23"/>
    <p:sldId id="280" r:id="rId24"/>
    <p:sldId id="281" r:id="rId25"/>
    <p:sldId id="273" r:id="rId26"/>
  </p:sldIdLst>
  <p:sldSz cx="10071100" cy="7556500"/>
  <p:notesSz cx="100711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579" y="53"/>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64038"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703888" y="0"/>
            <a:ext cx="4365625" cy="379413"/>
          </a:xfrm>
          <a:prstGeom prst="rect">
            <a:avLst/>
          </a:prstGeom>
        </p:spPr>
        <p:txBody>
          <a:bodyPr vert="horz" lIns="91440" tIns="45720" rIns="91440" bIns="45720" rtlCol="0"/>
          <a:lstStyle>
            <a:lvl1pPr algn="r">
              <a:defRPr sz="1200"/>
            </a:lvl1pPr>
          </a:lstStyle>
          <a:p>
            <a:fld id="{67500AAF-83C5-4C88-8087-FD34373BC0A2}" type="datetimeFigureOut">
              <a:rPr lang="en-IN" smtClean="0"/>
              <a:t>27-04-2026</a:t>
            </a:fld>
            <a:endParaRPr lang="en-IN"/>
          </a:p>
        </p:txBody>
      </p:sp>
      <p:sp>
        <p:nvSpPr>
          <p:cNvPr id="4" name="Slide Image Placeholder 3"/>
          <p:cNvSpPr>
            <a:spLocks noGrp="1" noRot="1" noChangeAspect="1"/>
          </p:cNvSpPr>
          <p:nvPr>
            <p:ph type="sldImg" idx="2"/>
          </p:nvPr>
        </p:nvSpPr>
        <p:spPr>
          <a:xfrm>
            <a:off x="3335338" y="944563"/>
            <a:ext cx="3400425" cy="25511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636963"/>
            <a:ext cx="80581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77088"/>
            <a:ext cx="4364038"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703888" y="7177088"/>
            <a:ext cx="4365625" cy="379412"/>
          </a:xfrm>
          <a:prstGeom prst="rect">
            <a:avLst/>
          </a:prstGeom>
        </p:spPr>
        <p:txBody>
          <a:bodyPr vert="horz" lIns="91440" tIns="45720" rIns="91440" bIns="45720" rtlCol="0" anchor="b"/>
          <a:lstStyle>
            <a:lvl1pPr algn="r">
              <a:defRPr sz="1200"/>
            </a:lvl1pPr>
          </a:lstStyle>
          <a:p>
            <a:fld id="{85E177DC-BF34-4890-B55C-BA26159788BB}" type="slidenum">
              <a:rPr lang="en-IN" smtClean="0"/>
              <a:t>‹#›</a:t>
            </a:fld>
            <a:endParaRPr lang="en-IN"/>
          </a:p>
        </p:txBody>
      </p:sp>
    </p:spTree>
    <p:extLst>
      <p:ext uri="{BB962C8B-B14F-4D97-AF65-F5344CB8AC3E}">
        <p14:creationId xmlns:p14="http://schemas.microsoft.com/office/powerpoint/2010/main" val="1752692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48BEB291-F126-8DE8-0D7B-2719E41E0FE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BD65EAFD-A187-4DA9-A4C6-52F88C2BBEA2}" type="slidenum">
              <a:rPr lang="en-IN" altLang="en-US" sz="1400" smtClean="0"/>
              <a:pPr>
                <a:spcBef>
                  <a:spcPct val="0"/>
                </a:spcBef>
              </a:pPr>
              <a:t>1</a:t>
            </a:fld>
            <a:endParaRPr lang="en-IN" altLang="en-US" sz="1400"/>
          </a:p>
        </p:txBody>
      </p:sp>
      <p:sp>
        <p:nvSpPr>
          <p:cNvPr id="7171" name="Rectangle 1">
            <a:extLst>
              <a:ext uri="{FF2B5EF4-FFF2-40B4-BE49-F238E27FC236}">
                <a16:creationId xmlns:a16="http://schemas.microsoft.com/office/drawing/2014/main" id="{07CDCCF1-A4C9-F58C-78F0-5301094B0F25}"/>
              </a:ext>
            </a:extLst>
          </p:cNvPr>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a:extLst>
              <a:ext uri="{FF2B5EF4-FFF2-40B4-BE49-F238E27FC236}">
                <a16:creationId xmlns:a16="http://schemas.microsoft.com/office/drawing/2014/main" id="{37790486-2C89-1BA0-072B-017167CDAAA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9A47718B-C85A-5D23-94E5-33382D08162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C0F44A6-7DCF-4758-A9FD-20F04DB8E30C}" type="slidenum">
              <a:rPr lang="en-IN" altLang="en-US" sz="1400" smtClean="0"/>
              <a:pPr>
                <a:spcBef>
                  <a:spcPct val="0"/>
                </a:spcBef>
              </a:pPr>
              <a:t>3</a:t>
            </a:fld>
            <a:endParaRPr lang="en-IN" altLang="en-US" sz="1400"/>
          </a:p>
        </p:txBody>
      </p:sp>
      <p:sp>
        <p:nvSpPr>
          <p:cNvPr id="11267" name="Rectangle 1">
            <a:extLst>
              <a:ext uri="{FF2B5EF4-FFF2-40B4-BE49-F238E27FC236}">
                <a16:creationId xmlns:a16="http://schemas.microsoft.com/office/drawing/2014/main" id="{0D5E16C0-3B91-4EBC-ABCA-AE8BD1A4C478}"/>
              </a:ext>
            </a:extLst>
          </p:cNvPr>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2130CC3B-4722-F93F-5F3C-486E6ABD6109}"/>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D725EB3C-5338-D8D9-5A1D-DBB7C9DFA0F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3379EF40-E291-4292-A870-BA14E1E820E1}" type="slidenum">
              <a:rPr lang="en-IN" altLang="en-US" sz="1400" smtClean="0"/>
              <a:pPr>
                <a:spcBef>
                  <a:spcPct val="0"/>
                </a:spcBef>
              </a:pPr>
              <a:t>5</a:t>
            </a:fld>
            <a:endParaRPr lang="en-IN" altLang="en-US" sz="1400"/>
          </a:p>
        </p:txBody>
      </p:sp>
      <p:sp>
        <p:nvSpPr>
          <p:cNvPr id="13315" name="Rectangle 1">
            <a:extLst>
              <a:ext uri="{FF2B5EF4-FFF2-40B4-BE49-F238E27FC236}">
                <a16:creationId xmlns:a16="http://schemas.microsoft.com/office/drawing/2014/main" id="{9B4A46E8-EF6B-78AA-373E-7022AA6D1C6C}"/>
              </a:ext>
            </a:extLst>
          </p:cNvPr>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5BE5CA2B-B70B-1E8C-2516-F77630284F8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2FC205AC-FFAA-1E38-0CBC-61D316114FF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090C150D-9D24-4241-AB0A-DAC90FC21DDC}" type="slidenum">
              <a:rPr lang="en-IN" altLang="en-US" sz="1400" smtClean="0"/>
              <a:pPr>
                <a:spcBef>
                  <a:spcPct val="0"/>
                </a:spcBef>
              </a:pPr>
              <a:t>6</a:t>
            </a:fld>
            <a:endParaRPr lang="en-IN" altLang="en-US" sz="1400"/>
          </a:p>
        </p:txBody>
      </p:sp>
      <p:sp>
        <p:nvSpPr>
          <p:cNvPr id="15363" name="Rectangle 1">
            <a:extLst>
              <a:ext uri="{FF2B5EF4-FFF2-40B4-BE49-F238E27FC236}">
                <a16:creationId xmlns:a16="http://schemas.microsoft.com/office/drawing/2014/main" id="{1B3F12E0-85D0-C6B2-AD0A-58E764498747}"/>
              </a:ext>
            </a:extLst>
          </p:cNvPr>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a:extLst>
              <a:ext uri="{FF2B5EF4-FFF2-40B4-BE49-F238E27FC236}">
                <a16:creationId xmlns:a16="http://schemas.microsoft.com/office/drawing/2014/main" id="{32C57C54-36EF-AFDA-B9E1-AB72B10AA76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58BC4C66-FAE2-8306-9896-E6F6DC0C234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9247DD4C-D544-44B6-9B97-A08FC0BD3074}" type="slidenum">
              <a:rPr lang="en-IN" altLang="en-US" sz="1400" smtClean="0"/>
              <a:pPr>
                <a:spcBef>
                  <a:spcPct val="0"/>
                </a:spcBef>
              </a:pPr>
              <a:t>10</a:t>
            </a:fld>
            <a:endParaRPr lang="en-IN" altLang="en-US" sz="1400"/>
          </a:p>
        </p:txBody>
      </p:sp>
      <p:sp>
        <p:nvSpPr>
          <p:cNvPr id="20483" name="Rectangle 1">
            <a:extLst>
              <a:ext uri="{FF2B5EF4-FFF2-40B4-BE49-F238E27FC236}">
                <a16:creationId xmlns:a16="http://schemas.microsoft.com/office/drawing/2014/main" id="{7CA8F317-A998-CAAB-D3A9-638626699F6D}"/>
              </a:ext>
            </a:extLst>
          </p:cNvPr>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F9A56D73-4C0F-3432-F782-7C6993ACA0EC}"/>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5E177DC-BF34-4890-B55C-BA26159788BB}" type="slidenum">
              <a:rPr lang="en-IN" smtClean="0"/>
              <a:t>14</a:t>
            </a:fld>
            <a:endParaRPr lang="en-IN"/>
          </a:p>
        </p:txBody>
      </p:sp>
    </p:spTree>
    <p:extLst>
      <p:ext uri="{BB962C8B-B14F-4D97-AF65-F5344CB8AC3E}">
        <p14:creationId xmlns:p14="http://schemas.microsoft.com/office/powerpoint/2010/main" val="141556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04825" y="620331"/>
            <a:ext cx="7621270" cy="632333"/>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510665" y="4231640"/>
            <a:ext cx="7049770" cy="18891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3555" y="1737995"/>
            <a:ext cx="4380928"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6616" y="1737995"/>
            <a:ext cx="4380928"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83699"/>
            <a:ext cx="493395" cy="3073400"/>
          </a:xfrm>
          <a:custGeom>
            <a:avLst/>
            <a:gdLst/>
            <a:ahLst/>
            <a:cxnLst/>
            <a:rect l="l" t="t" r="r" b="b"/>
            <a:pathLst>
              <a:path w="493395" h="3073400">
                <a:moveTo>
                  <a:pt x="493261" y="3072800"/>
                </a:moveTo>
                <a:lnTo>
                  <a:pt x="0" y="3072800"/>
                </a:lnTo>
                <a:lnTo>
                  <a:pt x="0" y="0"/>
                </a:lnTo>
                <a:lnTo>
                  <a:pt x="493261" y="3072800"/>
                </a:lnTo>
                <a:close/>
              </a:path>
            </a:pathLst>
          </a:custGeom>
          <a:solidFill>
            <a:srgbClr val="5FCBEE">
              <a:alpha val="69802"/>
            </a:srgbClr>
          </a:solidFill>
        </p:spPr>
        <p:txBody>
          <a:bodyPr wrap="square" lIns="0" tIns="0" rIns="0" bIns="0" rtlCol="0"/>
          <a:lstStyle/>
          <a:p>
            <a:endParaRPr/>
          </a:p>
        </p:txBody>
      </p:sp>
      <p:sp>
        <p:nvSpPr>
          <p:cNvPr id="17" name="bg object 17"/>
          <p:cNvSpPr/>
          <p:nvPr/>
        </p:nvSpPr>
        <p:spPr>
          <a:xfrm>
            <a:off x="5661023" y="0"/>
            <a:ext cx="4410075" cy="7556500"/>
          </a:xfrm>
          <a:custGeom>
            <a:avLst/>
            <a:gdLst/>
            <a:ahLst/>
            <a:cxnLst/>
            <a:rect l="l" t="t" r="r" b="b"/>
            <a:pathLst>
              <a:path w="4410075" h="7556500">
                <a:moveTo>
                  <a:pt x="0" y="7556499"/>
                </a:moveTo>
                <a:lnTo>
                  <a:pt x="4410076" y="4614869"/>
                </a:lnTo>
              </a:path>
              <a:path w="4410075" h="7556500">
                <a:moveTo>
                  <a:pt x="2103438" y="0"/>
                </a:moveTo>
                <a:lnTo>
                  <a:pt x="3445899" y="7556499"/>
                </a:lnTo>
              </a:path>
            </a:pathLst>
          </a:custGeom>
          <a:ln w="9524">
            <a:solidFill>
              <a:srgbClr val="5FCBEE"/>
            </a:solidFill>
          </a:ln>
        </p:spPr>
        <p:txBody>
          <a:bodyPr wrap="square" lIns="0" tIns="0" rIns="0" bIns="0" rtlCol="0"/>
          <a:lstStyle/>
          <a:p>
            <a:endParaRPr/>
          </a:p>
        </p:txBody>
      </p:sp>
      <p:sp>
        <p:nvSpPr>
          <p:cNvPr id="18" name="bg object 18"/>
          <p:cNvSpPr/>
          <p:nvPr/>
        </p:nvSpPr>
        <p:spPr>
          <a:xfrm>
            <a:off x="7598767" y="0"/>
            <a:ext cx="2472690" cy="7556500"/>
          </a:xfrm>
          <a:custGeom>
            <a:avLst/>
            <a:gdLst/>
            <a:ahLst/>
            <a:cxnLst/>
            <a:rect l="l" t="t" r="r" b="b"/>
            <a:pathLst>
              <a:path w="2472690" h="7556500">
                <a:moveTo>
                  <a:pt x="2472332" y="7556499"/>
                </a:moveTo>
                <a:lnTo>
                  <a:pt x="0" y="7556499"/>
                </a:lnTo>
                <a:lnTo>
                  <a:pt x="2229809" y="0"/>
                </a:lnTo>
                <a:lnTo>
                  <a:pt x="2472332" y="8659"/>
                </a:lnTo>
                <a:lnTo>
                  <a:pt x="2472332" y="7556499"/>
                </a:lnTo>
                <a:close/>
              </a:path>
            </a:pathLst>
          </a:custGeom>
          <a:solidFill>
            <a:srgbClr val="5FCBEE">
              <a:alpha val="35685"/>
            </a:srgbClr>
          </a:solidFill>
        </p:spPr>
        <p:txBody>
          <a:bodyPr wrap="square" lIns="0" tIns="0" rIns="0" bIns="0" rtlCol="0"/>
          <a:lstStyle/>
          <a:p>
            <a:endParaRPr/>
          </a:p>
        </p:txBody>
      </p:sp>
      <p:sp>
        <p:nvSpPr>
          <p:cNvPr id="19" name="bg object 19"/>
          <p:cNvSpPr/>
          <p:nvPr/>
        </p:nvSpPr>
        <p:spPr>
          <a:xfrm>
            <a:off x="7943929" y="0"/>
            <a:ext cx="2127250" cy="7556500"/>
          </a:xfrm>
          <a:custGeom>
            <a:avLst/>
            <a:gdLst/>
            <a:ahLst/>
            <a:cxnLst/>
            <a:rect l="l" t="t" r="r" b="b"/>
            <a:pathLst>
              <a:path w="2127250" h="7556500">
                <a:moveTo>
                  <a:pt x="2127170" y="7556499"/>
                </a:moveTo>
                <a:lnTo>
                  <a:pt x="1323308" y="7556499"/>
                </a:lnTo>
                <a:lnTo>
                  <a:pt x="0" y="0"/>
                </a:lnTo>
                <a:lnTo>
                  <a:pt x="2127170" y="0"/>
                </a:lnTo>
                <a:lnTo>
                  <a:pt x="2127170" y="7556499"/>
                </a:lnTo>
                <a:close/>
              </a:path>
            </a:pathLst>
          </a:custGeom>
          <a:solidFill>
            <a:srgbClr val="5FCBEE">
              <a:alpha val="19607"/>
            </a:srgbClr>
          </a:solidFill>
        </p:spPr>
        <p:txBody>
          <a:bodyPr wrap="square" lIns="0" tIns="0" rIns="0" bIns="0" rtlCol="0"/>
          <a:lstStyle/>
          <a:p>
            <a:endParaRPr/>
          </a:p>
        </p:txBody>
      </p:sp>
      <p:sp>
        <p:nvSpPr>
          <p:cNvPr id="20" name="bg object 20"/>
          <p:cNvSpPr/>
          <p:nvPr/>
        </p:nvSpPr>
        <p:spPr>
          <a:xfrm>
            <a:off x="7321082" y="4333209"/>
            <a:ext cx="2750185" cy="3223895"/>
          </a:xfrm>
          <a:custGeom>
            <a:avLst/>
            <a:gdLst/>
            <a:ahLst/>
            <a:cxnLst/>
            <a:rect l="l" t="t" r="r" b="b"/>
            <a:pathLst>
              <a:path w="2750184" h="3223895">
                <a:moveTo>
                  <a:pt x="2750016" y="3223291"/>
                </a:moveTo>
                <a:lnTo>
                  <a:pt x="0" y="3223291"/>
                </a:lnTo>
                <a:lnTo>
                  <a:pt x="2750016" y="0"/>
                </a:lnTo>
                <a:lnTo>
                  <a:pt x="2750016" y="3223291"/>
                </a:lnTo>
                <a:close/>
              </a:path>
            </a:pathLst>
          </a:custGeom>
          <a:solidFill>
            <a:srgbClr val="17B0E4">
              <a:alpha val="65489"/>
            </a:srgbClr>
          </a:solidFill>
        </p:spPr>
        <p:txBody>
          <a:bodyPr wrap="square" lIns="0" tIns="0" rIns="0" bIns="0" rtlCol="0"/>
          <a:lstStyle/>
          <a:p>
            <a:endParaRPr/>
          </a:p>
        </p:txBody>
      </p:sp>
      <p:sp>
        <p:nvSpPr>
          <p:cNvPr id="21" name="bg object 21"/>
          <p:cNvSpPr/>
          <p:nvPr/>
        </p:nvSpPr>
        <p:spPr>
          <a:xfrm>
            <a:off x="7730524" y="0"/>
            <a:ext cx="2340610" cy="7556500"/>
          </a:xfrm>
          <a:custGeom>
            <a:avLst/>
            <a:gdLst/>
            <a:ahLst/>
            <a:cxnLst/>
            <a:rect l="l" t="t" r="r" b="b"/>
            <a:pathLst>
              <a:path w="2340609" h="7556500">
                <a:moveTo>
                  <a:pt x="2151524" y="7556499"/>
                </a:moveTo>
                <a:lnTo>
                  <a:pt x="2043338" y="7556499"/>
                </a:lnTo>
                <a:lnTo>
                  <a:pt x="0" y="0"/>
                </a:lnTo>
                <a:lnTo>
                  <a:pt x="2340575" y="0"/>
                </a:lnTo>
                <a:lnTo>
                  <a:pt x="2340575" y="7550906"/>
                </a:lnTo>
                <a:lnTo>
                  <a:pt x="2151524" y="7556499"/>
                </a:lnTo>
                <a:close/>
              </a:path>
            </a:pathLst>
          </a:custGeom>
          <a:solidFill>
            <a:srgbClr val="17B0E4">
              <a:alpha val="49803"/>
            </a:srgbClr>
          </a:solidFill>
        </p:spPr>
        <p:txBody>
          <a:bodyPr wrap="square" lIns="0" tIns="0" rIns="0" bIns="0" rtlCol="0"/>
          <a:lstStyle/>
          <a:p>
            <a:endParaRPr/>
          </a:p>
        </p:txBody>
      </p:sp>
      <p:sp>
        <p:nvSpPr>
          <p:cNvPr id="22" name="bg object 22"/>
          <p:cNvSpPr/>
          <p:nvPr/>
        </p:nvSpPr>
        <p:spPr>
          <a:xfrm>
            <a:off x="9145899" y="0"/>
            <a:ext cx="925194" cy="7556500"/>
          </a:xfrm>
          <a:custGeom>
            <a:avLst/>
            <a:gdLst/>
            <a:ahLst/>
            <a:cxnLst/>
            <a:rect l="l" t="t" r="r" b="b"/>
            <a:pathLst>
              <a:path w="925195" h="7556500">
                <a:moveTo>
                  <a:pt x="925200" y="7556499"/>
                </a:moveTo>
                <a:lnTo>
                  <a:pt x="0" y="7556499"/>
                </a:lnTo>
                <a:lnTo>
                  <a:pt x="744455" y="0"/>
                </a:lnTo>
                <a:lnTo>
                  <a:pt x="925200" y="0"/>
                </a:lnTo>
                <a:lnTo>
                  <a:pt x="925200" y="7556499"/>
                </a:lnTo>
                <a:close/>
              </a:path>
            </a:pathLst>
          </a:custGeom>
          <a:solidFill>
            <a:srgbClr val="2E83C3">
              <a:alpha val="69802"/>
            </a:srgbClr>
          </a:solidFill>
        </p:spPr>
        <p:txBody>
          <a:bodyPr wrap="square" lIns="0" tIns="0" rIns="0" bIns="0" rtlCol="0"/>
          <a:lstStyle/>
          <a:p>
            <a:endParaRPr/>
          </a:p>
        </p:txBody>
      </p:sp>
      <p:sp>
        <p:nvSpPr>
          <p:cNvPr id="23" name="bg object 23"/>
          <p:cNvSpPr/>
          <p:nvPr/>
        </p:nvSpPr>
        <p:spPr>
          <a:xfrm>
            <a:off x="8924638" y="0"/>
            <a:ext cx="1146810" cy="7556500"/>
          </a:xfrm>
          <a:custGeom>
            <a:avLst/>
            <a:gdLst/>
            <a:ahLst/>
            <a:cxnLst/>
            <a:rect l="l" t="t" r="r" b="b"/>
            <a:pathLst>
              <a:path w="1146809" h="7556500">
                <a:moveTo>
                  <a:pt x="1146460" y="7556499"/>
                </a:moveTo>
                <a:lnTo>
                  <a:pt x="1033240" y="7556499"/>
                </a:lnTo>
                <a:lnTo>
                  <a:pt x="0" y="0"/>
                </a:lnTo>
                <a:lnTo>
                  <a:pt x="1146460" y="0"/>
                </a:lnTo>
                <a:lnTo>
                  <a:pt x="1146460" y="7556499"/>
                </a:lnTo>
                <a:close/>
              </a:path>
            </a:pathLst>
          </a:custGeom>
          <a:solidFill>
            <a:srgbClr val="236292">
              <a:alpha val="81567"/>
            </a:srgbClr>
          </a:solidFill>
        </p:spPr>
        <p:txBody>
          <a:bodyPr wrap="square" lIns="0" tIns="0" rIns="0" bIns="0" rtlCol="0"/>
          <a:lstStyle/>
          <a:p>
            <a:endParaRPr/>
          </a:p>
        </p:txBody>
      </p:sp>
      <p:sp>
        <p:nvSpPr>
          <p:cNvPr id="24" name="bg object 24"/>
          <p:cNvSpPr/>
          <p:nvPr/>
        </p:nvSpPr>
        <p:spPr>
          <a:xfrm>
            <a:off x="8896522" y="5438591"/>
            <a:ext cx="1174750" cy="2118360"/>
          </a:xfrm>
          <a:custGeom>
            <a:avLst/>
            <a:gdLst/>
            <a:ahLst/>
            <a:cxnLst/>
            <a:rect l="l" t="t" r="r" b="b"/>
            <a:pathLst>
              <a:path w="1174750" h="2118359">
                <a:moveTo>
                  <a:pt x="680986" y="2117908"/>
                </a:moveTo>
                <a:lnTo>
                  <a:pt x="0" y="2117908"/>
                </a:lnTo>
                <a:lnTo>
                  <a:pt x="1174577" y="0"/>
                </a:lnTo>
                <a:lnTo>
                  <a:pt x="1174577" y="2115614"/>
                </a:lnTo>
                <a:lnTo>
                  <a:pt x="680986" y="2117908"/>
                </a:lnTo>
                <a:close/>
              </a:path>
            </a:pathLst>
          </a:custGeom>
          <a:solidFill>
            <a:srgbClr val="17B0E4">
              <a:alpha val="65489"/>
            </a:srgbClr>
          </a:solidFill>
        </p:spPr>
        <p:txBody>
          <a:bodyPr wrap="square" lIns="0" tIns="0" rIns="0" bIns="0" rtlCol="0"/>
          <a:lstStyle/>
          <a:p>
            <a:endParaRPr/>
          </a:p>
        </p:txBody>
      </p:sp>
      <p:sp>
        <p:nvSpPr>
          <p:cNvPr id="2" name="Holder 2"/>
          <p:cNvSpPr>
            <a:spLocks noGrp="1"/>
          </p:cNvSpPr>
          <p:nvPr>
            <p:ph type="title"/>
          </p:nvPr>
        </p:nvSpPr>
        <p:spPr>
          <a:xfrm>
            <a:off x="490537" y="375015"/>
            <a:ext cx="7438390" cy="108458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58787" y="1685925"/>
            <a:ext cx="7939405" cy="32200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424174" y="7027545"/>
            <a:ext cx="3222752"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3555" y="7027545"/>
            <a:ext cx="2316353"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a:xfrm>
            <a:off x="7251192" y="7027545"/>
            <a:ext cx="2316353"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ijisrt.com/assets/upload/files/IJISRT23MAR1661_%281%29.pdf" TargetMode="External"/><Relationship Id="rId2" Type="http://schemas.openxmlformats.org/officeDocument/2006/relationships/hyperlink" Target="https://www.diva-portal.org/smash/get/diva2%3A1768102/FULLTEXT01.pdf" TargetMode="External"/><Relationship Id="rId1" Type="http://schemas.openxmlformats.org/officeDocument/2006/relationships/slideLayout" Target="../slideLayouts/slideLayout2.xml"/><Relationship Id="rId6" Type="http://schemas.openxmlformats.org/officeDocument/2006/relationships/hyperlink" Target="https://clgiles.ist.psu.edu/papers/IEEE.TNN.face.recognition.hybrid.nn.pdf" TargetMode="External"/><Relationship Id="rId5" Type="http://schemas.openxmlformats.org/officeDocument/2006/relationships/hyperlink" Target="https://www.researchgate.net/publication/391681757_Explainable_AI-Enhanced_Underwriting_Automation_for_Personalized_Insurance_Policy_Recommendations" TargetMode="External"/><Relationship Id="rId4" Type="http://schemas.openxmlformats.org/officeDocument/2006/relationships/hyperlink" Target="https://arxiv.org/pdf/2305.10708.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researchgate.net/publication/3302251_Face_Recognition_A_Convolutional_Neural_Network_Approach" TargetMode="External"/><Relationship Id="rId2" Type="http://schemas.openxmlformats.org/officeDocument/2006/relationships/hyperlink" Target="https://openaccess.thecvf.com/content_cvpr_2015/papers/Li_A_Convolutional_Neural_2015_CVPR_paper.pdf" TargetMode="External"/><Relationship Id="rId1" Type="http://schemas.openxmlformats.org/officeDocument/2006/relationships/slideLayout" Target="../slideLayouts/slideLayout2.xml"/><Relationship Id="rId6" Type="http://schemas.openxmlformats.org/officeDocument/2006/relationships/hyperlink" Target="https://www.ncbi.nlm.nih.gov/pmc/articles/PMC7297568/" TargetMode="External"/><Relationship Id="rId5" Type="http://schemas.openxmlformats.org/officeDocument/2006/relationships/hyperlink" Target="https://arxiv.org/pdf/2106.11125.pdf" TargetMode="External"/><Relationship Id="rId4" Type="http://schemas.openxmlformats.org/officeDocument/2006/relationships/hyperlink" Target="https://www.researchgate.net/publication/363252450_Document_image_analysis_and_recognition_a_survey"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researchgate.net/publication/366185375_Automated_vehicle_insurance_claims_processing_using_computer_vision_natural_language_processing" TargetMode="External"/><Relationship Id="rId2" Type="http://schemas.openxmlformats.org/officeDocument/2006/relationships/hyperlink" Target="https://www.techrxiv.org/users/807282/articles/1210179/master/file/data/Document_classification_july_10/Document_classification_july_10.pdf" TargetMode="External"/><Relationship Id="rId1" Type="http://schemas.openxmlformats.org/officeDocument/2006/relationships/slideLayout" Target="../slideLayouts/slideLayout2.xml"/><Relationship Id="rId6" Type="http://schemas.openxmlformats.org/officeDocument/2006/relationships/hyperlink" Target="https://www.ncbi.nlm.nih.gov/pmc/articles/PMC10662291/" TargetMode="External"/><Relationship Id="rId5" Type="http://schemas.openxmlformats.org/officeDocument/2006/relationships/hyperlink" Target="https://www.researchgate.net/publication/391323743_AI_transformation_in_healthcare_claims_processing_Technical_overview" TargetMode="External"/><Relationship Id="rId4" Type="http://schemas.openxmlformats.org/officeDocument/2006/relationships/hyperlink" Target="https://reunir.unir.net/bitstream/handle/123456789/14324/ijimai8_2_7.pdf?isAllowed=y&amp;sequence=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962DA33C-EA34-6CCC-CF7A-217DC01A3469}"/>
              </a:ext>
            </a:extLst>
          </p:cNvPr>
          <p:cNvSpPr>
            <a:spLocks noChangeArrowheads="1"/>
          </p:cNvSpPr>
          <p:nvPr/>
        </p:nvSpPr>
        <p:spPr bwMode="auto">
          <a:xfrm>
            <a:off x="504349" y="1924216"/>
            <a:ext cx="9062404" cy="5665192"/>
          </a:xfrm>
          <a:prstGeom prst="rect">
            <a:avLst/>
          </a:prstGeom>
          <a:noFill/>
          <a:ln>
            <a:noFill/>
          </a:ln>
          <a:effectLst/>
        </p:spPr>
        <p:txBody>
          <a:bodyPr lIns="0" tIns="3165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a:defRPr/>
            </a:pPr>
            <a:r>
              <a:rPr lang="en-US" sz="3197" b="1" dirty="0" err="1">
                <a:latin typeface="Times New Roman" panose="02020603050405020304" pitchFamily="18" charset="0"/>
                <a:cs typeface="Times New Roman" panose="02020603050405020304" pitchFamily="18" charset="0"/>
              </a:rPr>
              <a:t>Insuresafe</a:t>
            </a:r>
            <a:r>
              <a:rPr lang="en-US" sz="3197" b="1" dirty="0">
                <a:latin typeface="Times New Roman" panose="02020603050405020304" pitchFamily="18" charset="0"/>
                <a:cs typeface="Times New Roman" panose="02020603050405020304" pitchFamily="18" charset="0"/>
              </a:rPr>
              <a:t> –AI Powered Policy Recommendation and Customer Service Portal</a:t>
            </a:r>
            <a:endParaRPr lang="en-IN" sz="3197" b="1" dirty="0">
              <a:latin typeface="Times New Roman" panose="02020603050405020304" pitchFamily="18" charset="0"/>
              <a:cs typeface="Times New Roman" panose="02020603050405020304" pitchFamily="18" charset="0"/>
            </a:endParaRPr>
          </a:p>
          <a:p>
            <a:pPr algn="ctr">
              <a:defRPr/>
            </a:pPr>
            <a:endParaRPr lang="en-IN" altLang="en-US" sz="35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r>
              <a:rPr lang="en-IN" altLang="en-US" sz="3197" b="1" dirty="0">
                <a:latin typeface="Times New Roman" panose="02020603050405020304" pitchFamily="18" charset="0"/>
              </a:rPr>
              <a:t>Group No.</a:t>
            </a:r>
            <a:r>
              <a:rPr lang="en-IN" altLang="en-US" sz="3197"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altLang="en-US" sz="31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p>
          <a:p>
            <a:pPr algn="ctr">
              <a:defRPr/>
            </a:pPr>
            <a:endParaRPr lang="en-IN" altLang="en-US" sz="3197"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r>
              <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Avadhoot </a:t>
            </a:r>
            <a:r>
              <a:rPr lang="en-IN" altLang="en-US" sz="2897"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Virkar</a:t>
            </a:r>
            <a:r>
              <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- 22107064</a:t>
            </a:r>
          </a:p>
          <a:p>
            <a:pPr algn="ctr">
              <a:defRPr/>
            </a:pPr>
            <a:r>
              <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Chinmay Pawaskar – 22107066</a:t>
            </a:r>
          </a:p>
          <a:p>
            <a:pPr algn="ctr">
              <a:defRPr/>
            </a:pPr>
            <a:r>
              <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Atharva </a:t>
            </a:r>
            <a:r>
              <a:rPr lang="en-IN" altLang="en-US" sz="2897"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Nimkar</a:t>
            </a:r>
            <a:r>
              <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22107025</a:t>
            </a:r>
          </a:p>
          <a:p>
            <a:pPr algn="ctr">
              <a:defRPr/>
            </a:pPr>
            <a:endParaRPr lang="en-IN" altLang="en-US" sz="28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r>
              <a:rPr lang="en-IN" altLang="en-US" sz="2797"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a:defRPr/>
            </a:pPr>
            <a:r>
              <a:rPr lang="en-IN" altLang="en-US" sz="2398"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 </a:t>
            </a:r>
            <a:r>
              <a:rPr lang="en-US" sz="2398" b="1" dirty="0">
                <a:latin typeface="Times New Roman" panose="02020603050405020304" pitchFamily="18" charset="0"/>
                <a:cs typeface="Times New Roman" panose="02020603050405020304" pitchFamily="18" charset="0"/>
              </a:rPr>
              <a:t>Poonam Pangarkar </a:t>
            </a:r>
            <a:r>
              <a:rPr lang="en-IN" altLang="en-US" sz="2398"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cxnSp>
        <p:nvCxnSpPr>
          <p:cNvPr id="3" name="Straight Connector 2">
            <a:extLst>
              <a:ext uri="{FF2B5EF4-FFF2-40B4-BE49-F238E27FC236}">
                <a16:creationId xmlns:a16="http://schemas.microsoft.com/office/drawing/2014/main" id="{9C6F78EB-BA21-AE4A-1C6D-ADBCABC5BB81}"/>
              </a:ext>
            </a:extLst>
          </p:cNvPr>
          <p:cNvCxnSpPr/>
          <p:nvPr/>
        </p:nvCxnSpPr>
        <p:spPr>
          <a:xfrm>
            <a:off x="1" y="1743412"/>
            <a:ext cx="1007110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996817AC-457B-1344-1DB6-61635475B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81" y="147897"/>
            <a:ext cx="7679412" cy="157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1275" y="370557"/>
            <a:ext cx="1778000" cy="574040"/>
          </a:xfrm>
          <a:prstGeom prst="rect">
            <a:avLst/>
          </a:prstGeom>
        </p:spPr>
        <p:txBody>
          <a:bodyPr vert="horz" wrap="square" lIns="0" tIns="12700" rIns="0" bIns="0" rtlCol="0">
            <a:spAutoFit/>
          </a:bodyPr>
          <a:lstStyle/>
          <a:p>
            <a:pPr marL="12700">
              <a:lnSpc>
                <a:spcPct val="100000"/>
              </a:lnSpc>
              <a:spcBef>
                <a:spcPts val="100"/>
              </a:spcBef>
            </a:pPr>
            <a:r>
              <a:rPr spc="-10"/>
              <a:t>Contents</a:t>
            </a:r>
          </a:p>
        </p:txBody>
      </p:sp>
      <p:sp>
        <p:nvSpPr>
          <p:cNvPr id="3" name="object 3"/>
          <p:cNvSpPr txBox="1"/>
          <p:nvPr/>
        </p:nvSpPr>
        <p:spPr>
          <a:xfrm>
            <a:off x="582688" y="1023215"/>
            <a:ext cx="7362190" cy="5767605"/>
          </a:xfrm>
          <a:prstGeom prst="rect">
            <a:avLst/>
          </a:prstGeom>
        </p:spPr>
        <p:txBody>
          <a:bodyPr vert="horz" wrap="square" lIns="0" tIns="164465" rIns="0" bIns="0" rtlCol="0">
            <a:spAutoFit/>
          </a:bodyPr>
          <a:lstStyle/>
          <a:p>
            <a:pPr marL="348615" indent="-335915">
              <a:lnSpc>
                <a:spcPct val="100000"/>
              </a:lnSpc>
              <a:spcBef>
                <a:spcPts val="1295"/>
              </a:spcBef>
              <a:buSzPct val="43750"/>
              <a:buFont typeface="Microsoft Sans Serif"/>
              <a:buChar char="●"/>
              <a:tabLst>
                <a:tab pos="348615" algn="l"/>
              </a:tabLst>
            </a:pPr>
            <a:r>
              <a:rPr sz="2400" spc="-10" dirty="0">
                <a:latin typeface="Times New Roman"/>
                <a:cs typeface="Times New Roman"/>
              </a:rPr>
              <a:t>Abstract</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spc="-10" dirty="0">
                <a:latin typeface="Times New Roman"/>
                <a:cs typeface="Times New Roman"/>
              </a:rPr>
              <a:t>Introduction</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spc="-10" dirty="0">
                <a:latin typeface="Times New Roman"/>
                <a:cs typeface="Times New Roman"/>
              </a:rPr>
              <a:t>Objectives</a:t>
            </a:r>
            <a:endParaRPr sz="2400" dirty="0">
              <a:latin typeface="Times New Roman"/>
              <a:cs typeface="Times New Roman"/>
            </a:endParaRPr>
          </a:p>
          <a:p>
            <a:pPr marL="348615" indent="-335915">
              <a:lnSpc>
                <a:spcPct val="100000"/>
              </a:lnSpc>
              <a:spcBef>
                <a:spcPts val="1195"/>
              </a:spcBef>
              <a:buSzPct val="43750"/>
              <a:buFont typeface="Microsoft Sans Serif"/>
              <a:buChar char="●"/>
              <a:tabLst>
                <a:tab pos="348615" algn="l"/>
              </a:tabLst>
            </a:pPr>
            <a:r>
              <a:rPr sz="2400" dirty="0">
                <a:latin typeface="Times New Roman"/>
                <a:cs typeface="Times New Roman"/>
              </a:rPr>
              <a:t>Literature</a:t>
            </a:r>
            <a:r>
              <a:rPr sz="2400" spc="-50" dirty="0">
                <a:latin typeface="Times New Roman"/>
                <a:cs typeface="Times New Roman"/>
              </a:rPr>
              <a:t> </a:t>
            </a:r>
            <a:r>
              <a:rPr sz="2400" spc="-10" dirty="0">
                <a:latin typeface="Times New Roman"/>
                <a:cs typeface="Times New Roman"/>
              </a:rPr>
              <a:t>Review</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dirty="0">
                <a:latin typeface="Times New Roman"/>
                <a:cs typeface="Times New Roman"/>
              </a:rPr>
              <a:t>Research </a:t>
            </a:r>
            <a:r>
              <a:rPr sz="2400" spc="-25" dirty="0">
                <a:latin typeface="Times New Roman"/>
                <a:cs typeface="Times New Roman"/>
              </a:rPr>
              <a:t>Gap</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dirty="0">
                <a:latin typeface="Times New Roman"/>
                <a:cs typeface="Times New Roman"/>
              </a:rPr>
              <a:t>Problem</a:t>
            </a:r>
            <a:r>
              <a:rPr sz="2400" spc="-45" dirty="0">
                <a:latin typeface="Times New Roman"/>
                <a:cs typeface="Times New Roman"/>
              </a:rPr>
              <a:t> </a:t>
            </a:r>
            <a:r>
              <a:rPr sz="2400" spc="-10" dirty="0">
                <a:latin typeface="Times New Roman"/>
                <a:cs typeface="Times New Roman"/>
              </a:rPr>
              <a:t>Definition</a:t>
            </a:r>
            <a:endParaRPr sz="2400" dirty="0">
              <a:latin typeface="Times New Roman"/>
              <a:cs typeface="Times New Roman"/>
            </a:endParaRPr>
          </a:p>
          <a:p>
            <a:pPr marL="348615" indent="-335915">
              <a:lnSpc>
                <a:spcPct val="100000"/>
              </a:lnSpc>
              <a:spcBef>
                <a:spcPts val="1195"/>
              </a:spcBef>
              <a:buSzPct val="43750"/>
              <a:buFont typeface="Microsoft Sans Serif"/>
              <a:buChar char="●"/>
              <a:tabLst>
                <a:tab pos="348615" algn="l"/>
              </a:tabLst>
            </a:pPr>
            <a:r>
              <a:rPr sz="2400" spc="-10" dirty="0">
                <a:latin typeface="Times New Roman"/>
                <a:cs typeface="Times New Roman"/>
              </a:rPr>
              <a:t>Scope</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spc="-10" dirty="0">
                <a:latin typeface="Times New Roman"/>
                <a:cs typeface="Times New Roman"/>
              </a:rPr>
              <a:t>Technological</a:t>
            </a:r>
            <a:r>
              <a:rPr sz="2400" spc="-110" dirty="0">
                <a:latin typeface="Times New Roman"/>
                <a:cs typeface="Times New Roman"/>
              </a:rPr>
              <a:t> </a:t>
            </a:r>
            <a:r>
              <a:rPr sz="2400" spc="-10" dirty="0">
                <a:latin typeface="Times New Roman"/>
                <a:cs typeface="Times New Roman"/>
              </a:rPr>
              <a:t>Stack</a:t>
            </a:r>
            <a:endParaRPr sz="2400" dirty="0">
              <a:latin typeface="Times New Roman"/>
              <a:cs typeface="Times New Roman"/>
            </a:endParaRPr>
          </a:p>
          <a:p>
            <a:pPr marL="348615" indent="-335915">
              <a:lnSpc>
                <a:spcPct val="100000"/>
              </a:lnSpc>
              <a:spcBef>
                <a:spcPts val="1200"/>
              </a:spcBef>
              <a:buSzPct val="43750"/>
              <a:buFont typeface="Microsoft Sans Serif"/>
              <a:buChar char="●"/>
              <a:tabLst>
                <a:tab pos="348615" algn="l"/>
              </a:tabLst>
            </a:pPr>
            <a:r>
              <a:rPr sz="2400" dirty="0">
                <a:latin typeface="Times New Roman"/>
                <a:cs typeface="Times New Roman"/>
              </a:rPr>
              <a:t>Proposed</a:t>
            </a:r>
            <a:r>
              <a:rPr sz="2400" spc="-65" dirty="0">
                <a:latin typeface="Times New Roman"/>
                <a:cs typeface="Times New Roman"/>
              </a:rPr>
              <a:t> </a:t>
            </a:r>
            <a:r>
              <a:rPr sz="2400" spc="-10" dirty="0">
                <a:latin typeface="Times New Roman"/>
                <a:cs typeface="Times New Roman"/>
              </a:rPr>
              <a:t>System</a:t>
            </a:r>
            <a:r>
              <a:rPr sz="2400" spc="-140" dirty="0">
                <a:latin typeface="Times New Roman"/>
                <a:cs typeface="Times New Roman"/>
              </a:rPr>
              <a:t> </a:t>
            </a:r>
            <a:r>
              <a:rPr sz="2400" spc="-10" dirty="0">
                <a:latin typeface="Times New Roman"/>
                <a:cs typeface="Times New Roman"/>
              </a:rPr>
              <a:t>Architecture/Working/Module</a:t>
            </a:r>
            <a:r>
              <a:rPr sz="2400" spc="-40" dirty="0">
                <a:latin typeface="Times New Roman"/>
                <a:cs typeface="Times New Roman"/>
              </a:rPr>
              <a:t> </a:t>
            </a:r>
            <a:r>
              <a:rPr sz="2400" spc="-10" dirty="0">
                <a:latin typeface="Times New Roman"/>
                <a:cs typeface="Times New Roman"/>
              </a:rPr>
              <a:t>Diagram</a:t>
            </a:r>
            <a:endParaRPr sz="2400" dirty="0">
              <a:latin typeface="Times New Roman"/>
              <a:cs typeface="Times New Roman"/>
            </a:endParaRPr>
          </a:p>
          <a:p>
            <a:pPr marL="348615" indent="-335915">
              <a:lnSpc>
                <a:spcPct val="100000"/>
              </a:lnSpc>
              <a:spcBef>
                <a:spcPts val="1195"/>
              </a:spcBef>
              <a:buSzPct val="43750"/>
              <a:buFont typeface="Microsoft Sans Serif"/>
              <a:buChar char="●"/>
              <a:tabLst>
                <a:tab pos="348615" algn="l"/>
              </a:tabLst>
            </a:pPr>
            <a:r>
              <a:rPr sz="2400" dirty="0">
                <a:latin typeface="Times New Roman"/>
                <a:cs typeface="Times New Roman"/>
              </a:rPr>
              <a:t>Prototype</a:t>
            </a:r>
            <a:r>
              <a:rPr sz="2400" spc="-60" dirty="0">
                <a:latin typeface="Times New Roman"/>
                <a:cs typeface="Times New Roman"/>
              </a:rPr>
              <a:t> </a:t>
            </a:r>
            <a:r>
              <a:rPr sz="2400" dirty="0">
                <a:latin typeface="Times New Roman"/>
                <a:cs typeface="Times New Roman"/>
              </a:rPr>
              <a:t>Design</a:t>
            </a:r>
            <a:r>
              <a:rPr sz="2400" spc="-55" dirty="0">
                <a:latin typeface="Times New Roman"/>
                <a:cs typeface="Times New Roman"/>
              </a:rPr>
              <a:t> </a:t>
            </a:r>
            <a:r>
              <a:rPr sz="2400" spc="-10" dirty="0">
                <a:latin typeface="Times New Roman"/>
                <a:cs typeface="Times New Roman"/>
              </a:rPr>
              <a:t>Demonstration</a:t>
            </a:r>
            <a:endParaRPr sz="2400" dirty="0">
              <a:latin typeface="Times New Roman"/>
              <a:cs typeface="Times New Roman"/>
            </a:endParaRPr>
          </a:p>
          <a:p>
            <a:pPr marL="12700">
              <a:lnSpc>
                <a:spcPct val="100000"/>
              </a:lnSpc>
              <a:spcBef>
                <a:spcPts val="1200"/>
              </a:spcBef>
              <a:buSzPct val="43750"/>
              <a:tabLst>
                <a:tab pos="348615" algn="l"/>
              </a:tabLst>
            </a:pP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F4C7E174-BDE6-E2B6-5787-2379DADF9654}"/>
              </a:ext>
            </a:extLst>
          </p:cNvPr>
          <p:cNvSpPr>
            <a:spLocks noChangeArrowheads="1"/>
          </p:cNvSpPr>
          <p:nvPr/>
        </p:nvSpPr>
        <p:spPr bwMode="auto">
          <a:xfrm>
            <a:off x="502763" y="303325"/>
            <a:ext cx="9062404" cy="1260870"/>
          </a:xfrm>
          <a:prstGeom prst="rect">
            <a:avLst/>
          </a:prstGeom>
          <a:noFill/>
          <a:ln>
            <a:noFill/>
          </a:ln>
          <a:effectLst/>
        </p:spPr>
        <p:txBody>
          <a:bodyPr lIns="0" tIns="3165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597"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Abstract</a:t>
            </a:r>
          </a:p>
        </p:txBody>
      </p:sp>
      <p:sp>
        <p:nvSpPr>
          <p:cNvPr id="10243" name="Content Placeholder 2">
            <a:extLst>
              <a:ext uri="{FF2B5EF4-FFF2-40B4-BE49-F238E27FC236}">
                <a16:creationId xmlns:a16="http://schemas.microsoft.com/office/drawing/2014/main" id="{5BE49BF8-3E88-B579-B0B7-07301B449932}"/>
              </a:ext>
            </a:extLst>
          </p:cNvPr>
          <p:cNvSpPr txBox="1">
            <a:spLocks noChangeArrowheads="1"/>
          </p:cNvSpPr>
          <p:nvPr/>
        </p:nvSpPr>
        <p:spPr bwMode="auto">
          <a:xfrm>
            <a:off x="412360" y="1564195"/>
            <a:ext cx="9243208" cy="55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lgn="just">
              <a:spcBef>
                <a:spcPct val="20000"/>
              </a:spcBef>
              <a:buClrTx/>
              <a:buSzTx/>
              <a:buFont typeface="Arial" panose="020B0604020202020204" pitchFamily="34" charset="0"/>
              <a:buNone/>
            </a:pPr>
            <a:r>
              <a:rPr lang="en-US" sz="2200" dirty="0">
                <a:solidFill>
                  <a:schemeClr val="tx1"/>
                </a:solidFill>
                <a:latin typeface="Times New Roman" panose="02020603050405020304" pitchFamily="18" charset="0"/>
                <a:cs typeface="Times New Roman" panose="02020603050405020304" pitchFamily="18" charset="0"/>
              </a:rPr>
              <a:t>The insurance industry faces challenges such as lack of personalized recommendations, slow verification processes, and increasing fraud. To address this, </a:t>
            </a:r>
            <a:r>
              <a:rPr lang="en-US" sz="2200" dirty="0" err="1">
                <a:solidFill>
                  <a:schemeClr val="tx1"/>
                </a:solidFill>
                <a:latin typeface="Times New Roman" panose="02020603050405020304" pitchFamily="18" charset="0"/>
                <a:cs typeface="Times New Roman" panose="02020603050405020304" pitchFamily="18" charset="0"/>
              </a:rPr>
              <a:t>Insuresafe</a:t>
            </a:r>
            <a:r>
              <a:rPr lang="en-US" sz="2200" dirty="0">
                <a:solidFill>
                  <a:schemeClr val="tx1"/>
                </a:solidFill>
                <a:latin typeface="Times New Roman" panose="02020603050405020304" pitchFamily="18" charset="0"/>
                <a:cs typeface="Times New Roman" panose="02020603050405020304" pitchFamily="18" charset="0"/>
              </a:rPr>
              <a:t> – AI Powered Policy Recommendation and Customer Service Portal is developed as an intelligent solution. It automates key insurance operations using AI and smart system logic. The platform includes a Policy Recommendation Engine that suggests suitable plans based on user data like age, income, and lifestyle. A Facial Verification Module enhances security by matching real-time images with stored data. The Document Verification Module uses OCR to extract and validate Aadhaar details. Additionally, the system includes an AI-assisted claims processing module for faster claim handling. It uses deep learning models like YOLO for vehicle damage detection and fraud analysis. The system can automatically approve, reject, or flag claims. Separate dashboards are provided for customers and administrators for easy management. The platform improves efficiency, reduces manual errors, and enhances fraud detection. Overall, </a:t>
            </a:r>
            <a:r>
              <a:rPr lang="en-US" sz="2200" dirty="0" err="1">
                <a:solidFill>
                  <a:schemeClr val="tx1"/>
                </a:solidFill>
                <a:latin typeface="Times New Roman" panose="02020603050405020304" pitchFamily="18" charset="0"/>
                <a:cs typeface="Times New Roman" panose="02020603050405020304" pitchFamily="18" charset="0"/>
              </a:rPr>
              <a:t>InsureSafe</a:t>
            </a:r>
            <a:r>
              <a:rPr lang="en-US" sz="2200" dirty="0">
                <a:solidFill>
                  <a:schemeClr val="tx1"/>
                </a:solidFill>
                <a:latin typeface="Times New Roman" panose="02020603050405020304" pitchFamily="18" charset="0"/>
                <a:cs typeface="Times New Roman" panose="02020603050405020304" pitchFamily="18" charset="0"/>
              </a:rPr>
              <a:t> ensures secure, transparent, and personalized insurance services</a:t>
            </a:r>
            <a:endParaRPr lang="en-US" altLang="en-US" sz="2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6260" y="-4762"/>
            <a:ext cx="4419600" cy="7566025"/>
            <a:chOff x="5656260" y="-4762"/>
            <a:chExt cx="4419600" cy="7566025"/>
          </a:xfrm>
        </p:grpSpPr>
        <p:sp>
          <p:nvSpPr>
            <p:cNvPr id="6" name="object 6"/>
            <p:cNvSpPr/>
            <p:nvPr/>
          </p:nvSpPr>
          <p:spPr>
            <a:xfrm>
              <a:off x="5661023" y="0"/>
              <a:ext cx="4410075" cy="7556500"/>
            </a:xfrm>
            <a:custGeom>
              <a:avLst/>
              <a:gdLst/>
              <a:ahLst/>
              <a:cxnLst/>
              <a:rect l="l" t="t" r="r" b="b"/>
              <a:pathLst>
                <a:path w="4410075" h="7556500">
                  <a:moveTo>
                    <a:pt x="0" y="7556499"/>
                  </a:moveTo>
                  <a:lnTo>
                    <a:pt x="4410076" y="4614869"/>
                  </a:lnTo>
                </a:path>
                <a:path w="4410075" h="7556500">
                  <a:moveTo>
                    <a:pt x="2103438" y="0"/>
                  </a:moveTo>
                  <a:lnTo>
                    <a:pt x="3445899" y="7556499"/>
                  </a:lnTo>
                </a:path>
              </a:pathLst>
            </a:custGeom>
            <a:ln w="9524">
              <a:solidFill>
                <a:srgbClr val="5FCBEE"/>
              </a:solidFill>
            </a:ln>
          </p:spPr>
          <p:txBody>
            <a:bodyPr wrap="square" lIns="0" tIns="0" rIns="0" bIns="0" rtlCol="0"/>
            <a:lstStyle/>
            <a:p>
              <a:endParaRPr/>
            </a:p>
          </p:txBody>
        </p:sp>
        <p:sp>
          <p:nvSpPr>
            <p:cNvPr id="7" name="object 7"/>
            <p:cNvSpPr/>
            <p:nvPr/>
          </p:nvSpPr>
          <p:spPr>
            <a:xfrm>
              <a:off x="7598767" y="0"/>
              <a:ext cx="2472690" cy="7556500"/>
            </a:xfrm>
            <a:custGeom>
              <a:avLst/>
              <a:gdLst/>
              <a:ahLst/>
              <a:cxnLst/>
              <a:rect l="l" t="t" r="r" b="b"/>
              <a:pathLst>
                <a:path w="2472690" h="7556500">
                  <a:moveTo>
                    <a:pt x="2472332" y="7556499"/>
                  </a:moveTo>
                  <a:lnTo>
                    <a:pt x="0" y="7556499"/>
                  </a:lnTo>
                  <a:lnTo>
                    <a:pt x="2229809" y="0"/>
                  </a:lnTo>
                  <a:lnTo>
                    <a:pt x="2472332" y="8659"/>
                  </a:lnTo>
                  <a:lnTo>
                    <a:pt x="2472332" y="7556499"/>
                  </a:lnTo>
                  <a:close/>
                </a:path>
              </a:pathLst>
            </a:custGeom>
            <a:solidFill>
              <a:srgbClr val="5FCBEE">
                <a:alpha val="35685"/>
              </a:srgbClr>
            </a:solidFill>
          </p:spPr>
          <p:txBody>
            <a:bodyPr wrap="square" lIns="0" tIns="0" rIns="0" bIns="0" rtlCol="0"/>
            <a:lstStyle/>
            <a:p>
              <a:endParaRPr/>
            </a:p>
          </p:txBody>
        </p:sp>
        <p:sp>
          <p:nvSpPr>
            <p:cNvPr id="8" name="object 8"/>
            <p:cNvSpPr/>
            <p:nvPr/>
          </p:nvSpPr>
          <p:spPr>
            <a:xfrm>
              <a:off x="7943929" y="0"/>
              <a:ext cx="2127250" cy="7556500"/>
            </a:xfrm>
            <a:custGeom>
              <a:avLst/>
              <a:gdLst/>
              <a:ahLst/>
              <a:cxnLst/>
              <a:rect l="l" t="t" r="r" b="b"/>
              <a:pathLst>
                <a:path w="2127250" h="7556500">
                  <a:moveTo>
                    <a:pt x="2127170" y="7556499"/>
                  </a:moveTo>
                  <a:lnTo>
                    <a:pt x="1323308" y="7556499"/>
                  </a:lnTo>
                  <a:lnTo>
                    <a:pt x="0" y="0"/>
                  </a:lnTo>
                  <a:lnTo>
                    <a:pt x="2127170" y="0"/>
                  </a:lnTo>
                  <a:lnTo>
                    <a:pt x="2127170" y="7556499"/>
                  </a:lnTo>
                  <a:close/>
                </a:path>
              </a:pathLst>
            </a:custGeom>
            <a:solidFill>
              <a:srgbClr val="5FCBEE">
                <a:alpha val="19607"/>
              </a:srgbClr>
            </a:solidFill>
          </p:spPr>
          <p:txBody>
            <a:bodyPr wrap="square" lIns="0" tIns="0" rIns="0" bIns="0" rtlCol="0"/>
            <a:lstStyle/>
            <a:p>
              <a:endParaRPr/>
            </a:p>
          </p:txBody>
        </p:sp>
        <p:sp>
          <p:nvSpPr>
            <p:cNvPr id="9" name="object 9"/>
            <p:cNvSpPr/>
            <p:nvPr/>
          </p:nvSpPr>
          <p:spPr>
            <a:xfrm>
              <a:off x="7321082" y="4333209"/>
              <a:ext cx="2750185" cy="3223895"/>
            </a:xfrm>
            <a:custGeom>
              <a:avLst/>
              <a:gdLst/>
              <a:ahLst/>
              <a:cxnLst/>
              <a:rect l="l" t="t" r="r" b="b"/>
              <a:pathLst>
                <a:path w="2750184" h="3223895">
                  <a:moveTo>
                    <a:pt x="2750016" y="3223291"/>
                  </a:moveTo>
                  <a:lnTo>
                    <a:pt x="0" y="3223291"/>
                  </a:lnTo>
                  <a:lnTo>
                    <a:pt x="2750016" y="0"/>
                  </a:lnTo>
                  <a:lnTo>
                    <a:pt x="2750016" y="3223291"/>
                  </a:lnTo>
                  <a:close/>
                </a:path>
              </a:pathLst>
            </a:custGeom>
            <a:solidFill>
              <a:srgbClr val="17B0E4">
                <a:alpha val="65489"/>
              </a:srgbClr>
            </a:solidFill>
          </p:spPr>
          <p:txBody>
            <a:bodyPr wrap="square" lIns="0" tIns="0" rIns="0" bIns="0" rtlCol="0"/>
            <a:lstStyle/>
            <a:p>
              <a:endParaRPr/>
            </a:p>
          </p:txBody>
        </p:sp>
        <p:sp>
          <p:nvSpPr>
            <p:cNvPr id="10" name="object 10"/>
            <p:cNvSpPr/>
            <p:nvPr/>
          </p:nvSpPr>
          <p:spPr>
            <a:xfrm>
              <a:off x="7730524" y="0"/>
              <a:ext cx="2340610" cy="7556500"/>
            </a:xfrm>
            <a:custGeom>
              <a:avLst/>
              <a:gdLst/>
              <a:ahLst/>
              <a:cxnLst/>
              <a:rect l="l" t="t" r="r" b="b"/>
              <a:pathLst>
                <a:path w="2340609" h="7556500">
                  <a:moveTo>
                    <a:pt x="2151524" y="7556499"/>
                  </a:moveTo>
                  <a:lnTo>
                    <a:pt x="2043338" y="7556499"/>
                  </a:lnTo>
                  <a:lnTo>
                    <a:pt x="0" y="0"/>
                  </a:lnTo>
                  <a:lnTo>
                    <a:pt x="2340575" y="0"/>
                  </a:lnTo>
                  <a:lnTo>
                    <a:pt x="2340575" y="7550906"/>
                  </a:lnTo>
                  <a:lnTo>
                    <a:pt x="2151524" y="7556499"/>
                  </a:lnTo>
                  <a:close/>
                </a:path>
              </a:pathLst>
            </a:custGeom>
            <a:solidFill>
              <a:srgbClr val="17B0E4">
                <a:alpha val="49803"/>
              </a:srgbClr>
            </a:solidFill>
          </p:spPr>
          <p:txBody>
            <a:bodyPr wrap="square" lIns="0" tIns="0" rIns="0" bIns="0" rtlCol="0"/>
            <a:lstStyle/>
            <a:p>
              <a:endParaRPr/>
            </a:p>
          </p:txBody>
        </p:sp>
        <p:sp>
          <p:nvSpPr>
            <p:cNvPr id="11" name="object 11"/>
            <p:cNvSpPr/>
            <p:nvPr/>
          </p:nvSpPr>
          <p:spPr>
            <a:xfrm>
              <a:off x="9145899" y="0"/>
              <a:ext cx="925194" cy="7556500"/>
            </a:xfrm>
            <a:custGeom>
              <a:avLst/>
              <a:gdLst/>
              <a:ahLst/>
              <a:cxnLst/>
              <a:rect l="l" t="t" r="r" b="b"/>
              <a:pathLst>
                <a:path w="925195" h="7556500">
                  <a:moveTo>
                    <a:pt x="925200" y="7556499"/>
                  </a:moveTo>
                  <a:lnTo>
                    <a:pt x="0" y="7556499"/>
                  </a:lnTo>
                  <a:lnTo>
                    <a:pt x="744455" y="0"/>
                  </a:lnTo>
                  <a:lnTo>
                    <a:pt x="925200" y="0"/>
                  </a:lnTo>
                  <a:lnTo>
                    <a:pt x="925200" y="7556499"/>
                  </a:lnTo>
                  <a:close/>
                </a:path>
              </a:pathLst>
            </a:custGeom>
            <a:solidFill>
              <a:srgbClr val="2E83C3">
                <a:alpha val="69802"/>
              </a:srgbClr>
            </a:solidFill>
          </p:spPr>
          <p:txBody>
            <a:bodyPr wrap="square" lIns="0" tIns="0" rIns="0" bIns="0" rtlCol="0"/>
            <a:lstStyle/>
            <a:p>
              <a:endParaRPr/>
            </a:p>
          </p:txBody>
        </p:sp>
        <p:sp>
          <p:nvSpPr>
            <p:cNvPr id="12" name="object 12"/>
            <p:cNvSpPr/>
            <p:nvPr/>
          </p:nvSpPr>
          <p:spPr>
            <a:xfrm>
              <a:off x="8924638" y="0"/>
              <a:ext cx="1146810" cy="7556500"/>
            </a:xfrm>
            <a:custGeom>
              <a:avLst/>
              <a:gdLst/>
              <a:ahLst/>
              <a:cxnLst/>
              <a:rect l="l" t="t" r="r" b="b"/>
              <a:pathLst>
                <a:path w="1146809" h="7556500">
                  <a:moveTo>
                    <a:pt x="1146460" y="7556499"/>
                  </a:moveTo>
                  <a:lnTo>
                    <a:pt x="1033240" y="7556499"/>
                  </a:lnTo>
                  <a:lnTo>
                    <a:pt x="0" y="0"/>
                  </a:lnTo>
                  <a:lnTo>
                    <a:pt x="1146460" y="0"/>
                  </a:lnTo>
                  <a:lnTo>
                    <a:pt x="1146460" y="7556499"/>
                  </a:lnTo>
                  <a:close/>
                </a:path>
              </a:pathLst>
            </a:custGeom>
            <a:solidFill>
              <a:srgbClr val="236292">
                <a:alpha val="81567"/>
              </a:srgbClr>
            </a:solidFill>
          </p:spPr>
          <p:txBody>
            <a:bodyPr wrap="square" lIns="0" tIns="0" rIns="0" bIns="0" rtlCol="0"/>
            <a:lstStyle/>
            <a:p>
              <a:endParaRPr/>
            </a:p>
          </p:txBody>
        </p:sp>
        <p:sp>
          <p:nvSpPr>
            <p:cNvPr id="13" name="object 13"/>
            <p:cNvSpPr/>
            <p:nvPr/>
          </p:nvSpPr>
          <p:spPr>
            <a:xfrm>
              <a:off x="8896522" y="5438591"/>
              <a:ext cx="1174750" cy="2118360"/>
            </a:xfrm>
            <a:custGeom>
              <a:avLst/>
              <a:gdLst/>
              <a:ahLst/>
              <a:cxnLst/>
              <a:rect l="l" t="t" r="r" b="b"/>
              <a:pathLst>
                <a:path w="1174750" h="2118359">
                  <a:moveTo>
                    <a:pt x="680986" y="2117908"/>
                  </a:moveTo>
                  <a:lnTo>
                    <a:pt x="0" y="2117908"/>
                  </a:lnTo>
                  <a:lnTo>
                    <a:pt x="1174577" y="0"/>
                  </a:lnTo>
                  <a:lnTo>
                    <a:pt x="1174577" y="2115614"/>
                  </a:lnTo>
                  <a:lnTo>
                    <a:pt x="680986" y="2117908"/>
                  </a:lnTo>
                  <a:close/>
                </a:path>
              </a:pathLst>
            </a:custGeom>
            <a:solidFill>
              <a:srgbClr val="17B0E4">
                <a:alpha val="65489"/>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61594" rIns="0" bIns="0" rtlCol="0">
            <a:spAutoFit/>
          </a:bodyPr>
          <a:lstStyle/>
          <a:p>
            <a:pPr marL="12700" marR="5080">
              <a:lnSpc>
                <a:spcPts val="4020"/>
              </a:lnSpc>
              <a:spcBef>
                <a:spcPts val="484"/>
              </a:spcBef>
            </a:pPr>
            <a:r>
              <a:t>Sustainable</a:t>
            </a:r>
            <a:r>
              <a:rPr spc="-135"/>
              <a:t> </a:t>
            </a:r>
            <a:r>
              <a:t>Development</a:t>
            </a:r>
            <a:r>
              <a:rPr spc="-125"/>
              <a:t> </a:t>
            </a:r>
            <a:r>
              <a:rPr spc="-10"/>
              <a:t>Goals(SDG) mapped</a:t>
            </a:r>
          </a:p>
        </p:txBody>
      </p:sp>
      <p:sp>
        <p:nvSpPr>
          <p:cNvPr id="16" name="TextBox 15">
            <a:extLst>
              <a:ext uri="{FF2B5EF4-FFF2-40B4-BE49-F238E27FC236}">
                <a16:creationId xmlns:a16="http://schemas.microsoft.com/office/drawing/2014/main" id="{1334B98E-9124-5480-1584-80AA857F6F8B}"/>
              </a:ext>
            </a:extLst>
          </p:cNvPr>
          <p:cNvSpPr txBox="1"/>
          <p:nvPr/>
        </p:nvSpPr>
        <p:spPr>
          <a:xfrm>
            <a:off x="416419" y="2099402"/>
            <a:ext cx="9191453" cy="4216539"/>
          </a:xfrm>
          <a:prstGeom prst="rect">
            <a:avLst/>
          </a:prstGeom>
          <a:noFill/>
        </p:spPr>
        <p:txBody>
          <a:bodyPr wrap="square" rtlCol="0">
            <a:spAutoFit/>
          </a:bodyPr>
          <a:lstStyle/>
          <a:p>
            <a:r>
              <a:rPr lang="en-US" sz="2500" b="1" dirty="0">
                <a:solidFill>
                  <a:schemeClr val="tx1"/>
                </a:solidFill>
                <a:latin typeface="Times New Roman" panose="02020603050405020304" pitchFamily="18" charset="0"/>
                <a:cs typeface="Times New Roman" panose="02020603050405020304" pitchFamily="18" charset="0"/>
              </a:rPr>
              <a:t>SDG 9: Industry, Innovation, and </a:t>
            </a:r>
            <a:r>
              <a:rPr lang="en-US" sz="2500" b="1" dirty="0" err="1">
                <a:solidFill>
                  <a:schemeClr val="tx1"/>
                </a:solidFill>
                <a:latin typeface="Times New Roman" panose="02020603050405020304" pitchFamily="18" charset="0"/>
                <a:cs typeface="Times New Roman" panose="02020603050405020304" pitchFamily="18" charset="0"/>
              </a:rPr>
              <a:t>Infrastructure→</a:t>
            </a:r>
            <a:r>
              <a:rPr lang="en-US" sz="2500" dirty="0" err="1">
                <a:solidFill>
                  <a:schemeClr val="tx1"/>
                </a:solidFill>
                <a:latin typeface="Times New Roman" panose="02020603050405020304" pitchFamily="18" charset="0"/>
                <a:cs typeface="Times New Roman" panose="02020603050405020304" pitchFamily="18" charset="0"/>
              </a:rPr>
              <a:t>Leveraging</a:t>
            </a:r>
            <a:r>
              <a:rPr lang="en-US" sz="2500" dirty="0">
                <a:solidFill>
                  <a:schemeClr val="tx1"/>
                </a:solidFill>
                <a:latin typeface="Times New Roman" panose="02020603050405020304" pitchFamily="18" charset="0"/>
                <a:cs typeface="Times New Roman" panose="02020603050405020304" pitchFamily="18" charset="0"/>
              </a:rPr>
              <a:t> AI and facial verification reflects innovation in financial services infrastructure. </a:t>
            </a:r>
          </a:p>
          <a:p>
            <a:endParaRPr lang="en-US" sz="2400" dirty="0">
              <a:solidFill>
                <a:schemeClr val="tx1"/>
              </a:solidFill>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Insuresafe</a:t>
            </a:r>
            <a:r>
              <a:rPr lang="en-IN" sz="2400" dirty="0">
                <a:latin typeface="Times New Roman" panose="02020603050405020304" pitchFamily="18" charset="0"/>
                <a:cs typeface="Times New Roman" panose="02020603050405020304" pitchFamily="18" charset="0"/>
              </a:rPr>
              <a:t> uses smart AI tools like facial recognition and document checking to improve how insurance works. It helps verify people’s identity, suggest the best insurance plans, and speed up claims in a safer and faster way. This makes the insurance system stronger, more reliable, and easier for everyone to use, which supports the goal of building better industries and infrastructure  </a:t>
            </a:r>
          </a:p>
          <a:p>
            <a:endParaRPr lang="en-IN" sz="25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FD649AF2-6F17-F5E8-CD9D-9AE232E51391}"/>
              </a:ext>
            </a:extLst>
          </p:cNvPr>
          <p:cNvSpPr>
            <a:spLocks noChangeArrowheads="1"/>
          </p:cNvSpPr>
          <p:nvPr/>
        </p:nvSpPr>
        <p:spPr bwMode="auto">
          <a:xfrm>
            <a:off x="502763" y="303325"/>
            <a:ext cx="9062404" cy="1260870"/>
          </a:xfrm>
          <a:prstGeom prst="rect">
            <a:avLst/>
          </a:prstGeom>
          <a:noFill/>
          <a:ln>
            <a:noFill/>
          </a:ln>
          <a:effectLst/>
        </p:spPr>
        <p:txBody>
          <a:bodyPr lIns="0" tIns="3165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597"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B70B71E6-1B87-8C2F-4D1B-4BAB830160CB}"/>
              </a:ext>
            </a:extLst>
          </p:cNvPr>
          <p:cNvSpPr txBox="1">
            <a:spLocks/>
          </p:cNvSpPr>
          <p:nvPr/>
        </p:nvSpPr>
        <p:spPr bwMode="auto">
          <a:xfrm>
            <a:off x="103644" y="1361918"/>
            <a:ext cx="9366916" cy="2679420"/>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3577">
              <a:buNone/>
              <a:defRPr/>
            </a:pPr>
            <a:r>
              <a:rPr lang="en-US" sz="2300" dirty="0">
                <a:latin typeface="Times New Roman" panose="02020603050405020304" pitchFamily="18" charset="0"/>
                <a:cs typeface="Times New Roman" panose="02020603050405020304" pitchFamily="18" charset="0"/>
              </a:rPr>
              <a:t>	In the current insurance industry, customers face slow and complex processes for policy selection, identity verification, and claim approval. While existing solutions provide online access to policies and claims, they still require heavy manual verification, are prone to fraud, and lack personalized recommendations. These persisting issues highlight the need for a secure, automated, and user-friendly platform that combines advanced AI features to improve efficiency and trust.</a:t>
            </a:r>
          </a:p>
          <a:p>
            <a:pPr marL="0" indent="0" algn="just">
              <a:buNone/>
              <a:defRPr/>
            </a:pPr>
            <a:endParaRPr lang="en-US" sz="2300" dirty="0"/>
          </a:p>
          <a:p>
            <a:pPr algn="just" defTabSz="913577">
              <a:buNone/>
              <a:defRPr/>
            </a:pPr>
            <a:endParaRPr lang="en-IN" sz="2300" dirty="0">
              <a:latin typeface="Times New Roman" panose="02020603050405020304" pitchFamily="18" charset="0"/>
              <a:cs typeface="Times New Roman" panose="02020603050405020304" pitchFamily="18" charset="0"/>
            </a:endParaRPr>
          </a:p>
          <a:p>
            <a:pPr algn="just" defTabSz="913577">
              <a:buNone/>
              <a:defRPr/>
            </a:pPr>
            <a:endParaRPr lang="en-US" altLang="en-US" sz="2300" dirty="0">
              <a:solidFill>
                <a:sysClr val="windowText" lastClr="000000"/>
              </a:solidFill>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8BB8FD24-61D7-6CB8-A892-6AF0B183E83A}"/>
              </a:ext>
            </a:extLst>
          </p:cNvPr>
          <p:cNvSpPr txBox="1">
            <a:spLocks/>
          </p:cNvSpPr>
          <p:nvPr/>
        </p:nvSpPr>
        <p:spPr bwMode="auto">
          <a:xfrm>
            <a:off x="350507" y="4226948"/>
            <a:ext cx="9366916" cy="2843347"/>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defRPr/>
            </a:pPr>
            <a:r>
              <a:rPr lang="en-US" sz="2300" b="1" dirty="0">
                <a:latin typeface="Times New Roman" panose="02020603050405020304" pitchFamily="18" charset="0"/>
                <a:cs typeface="Times New Roman" panose="02020603050405020304" pitchFamily="18" charset="0"/>
              </a:rPr>
              <a:t>Motivation</a:t>
            </a:r>
          </a:p>
          <a:p>
            <a:pPr algn="just">
              <a:defRPr/>
            </a:pPr>
            <a:r>
              <a:rPr lang="en-US" sz="2300" dirty="0">
                <a:latin typeface="Times New Roman" panose="02020603050405020304" pitchFamily="18" charset="0"/>
                <a:cs typeface="Times New Roman" panose="02020603050405020304" pitchFamily="18" charset="0"/>
              </a:rPr>
              <a:t>Frequent cases of fake documents and fraudulent claims observed in the insurance market.</a:t>
            </a:r>
          </a:p>
          <a:p>
            <a:pPr algn="just">
              <a:defRPr/>
            </a:pPr>
            <a:r>
              <a:rPr lang="en-US" sz="2300" dirty="0">
                <a:latin typeface="Times New Roman" panose="02020603050405020304" pitchFamily="18" charset="0"/>
                <a:cs typeface="Times New Roman" panose="02020603050405020304" pitchFamily="18" charset="0"/>
              </a:rPr>
              <a:t>Current verification systems rely heavily on manual checks, leading to delays and human errors.</a:t>
            </a:r>
          </a:p>
          <a:p>
            <a:pPr algn="just">
              <a:defRPr/>
            </a:pPr>
            <a:r>
              <a:rPr lang="en-US" sz="2300" dirty="0">
                <a:latin typeface="Times New Roman" panose="02020603050405020304" pitchFamily="18" charset="0"/>
                <a:cs typeface="Times New Roman" panose="02020603050405020304" pitchFamily="18" charset="0"/>
              </a:rPr>
              <a:t>Growing demand for AI-driven, personalized insurance services that save time and reduce risk.</a:t>
            </a:r>
          </a:p>
          <a:p>
            <a:pPr marL="0" indent="0" algn="just">
              <a:buNone/>
              <a:defRPr/>
            </a:pPr>
            <a:endParaRPr lang="en-US" sz="23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9CD8B753-5FAB-58EC-D92F-E3F49387FF20}"/>
              </a:ext>
            </a:extLst>
          </p:cNvPr>
          <p:cNvSpPr>
            <a:spLocks noChangeArrowheads="1"/>
          </p:cNvSpPr>
          <p:nvPr/>
        </p:nvSpPr>
        <p:spPr bwMode="auto">
          <a:xfrm>
            <a:off x="502763" y="303325"/>
            <a:ext cx="9062404" cy="1260870"/>
          </a:xfrm>
          <a:prstGeom prst="rect">
            <a:avLst/>
          </a:prstGeom>
          <a:noFill/>
          <a:ln>
            <a:noFill/>
          </a:ln>
          <a:effectLst/>
        </p:spPr>
        <p:txBody>
          <a:bodyPr lIns="0" tIns="3165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597"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Objectives</a:t>
            </a:r>
          </a:p>
        </p:txBody>
      </p:sp>
      <p:sp>
        <p:nvSpPr>
          <p:cNvPr id="2" name="Content Placeholder 2">
            <a:extLst>
              <a:ext uri="{FF2B5EF4-FFF2-40B4-BE49-F238E27FC236}">
                <a16:creationId xmlns:a16="http://schemas.microsoft.com/office/drawing/2014/main" id="{D24F745F-1154-B077-D334-4375D1A9A25E}"/>
              </a:ext>
            </a:extLst>
          </p:cNvPr>
          <p:cNvSpPr txBox="1">
            <a:spLocks/>
          </p:cNvSpPr>
          <p:nvPr/>
        </p:nvSpPr>
        <p:spPr bwMode="auto">
          <a:xfrm>
            <a:off x="502763" y="1722795"/>
            <a:ext cx="9243208" cy="5530382"/>
          </a:xfrm>
          <a:prstGeom prst="rect">
            <a:avLst/>
          </a:prstGeom>
          <a:noFill/>
          <a:ln>
            <a:noFill/>
          </a:ln>
        </p:spPr>
        <p:txBody>
          <a:bodyPr>
            <a:normAutofit/>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lgn="just">
              <a:spcBef>
                <a:spcPct val="20000"/>
              </a:spcBef>
              <a:buClrTx/>
              <a:buSzTx/>
              <a:buFont typeface="Arial" panose="020B0604020202020204" pitchFamily="34" charset="0"/>
              <a:buChar char="•"/>
            </a:pPr>
            <a:r>
              <a:rPr lang="en-US" altLang="en-US" sz="2298" dirty="0">
                <a:solidFill>
                  <a:schemeClr val="tx1"/>
                </a:solidFill>
                <a:latin typeface="Times New Roman" panose="02020603050405020304" pitchFamily="18" charset="0"/>
                <a:cs typeface="Times New Roman" panose="02020603050405020304" pitchFamily="18" charset="0"/>
              </a:rPr>
              <a:t>To integrate a policy recommendation engine to suggest suitable insurance policies based on user age or income.</a:t>
            </a: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Char char="•"/>
            </a:pP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Char char="•"/>
            </a:pPr>
            <a:r>
              <a:rPr lang="en-US" altLang="en-US" sz="2298" dirty="0">
                <a:solidFill>
                  <a:schemeClr val="tx1"/>
                </a:solidFill>
                <a:latin typeface="Times New Roman" panose="02020603050405020304" pitchFamily="18" charset="0"/>
                <a:cs typeface="Times New Roman" panose="02020603050405020304" pitchFamily="18" charset="0"/>
              </a:rPr>
              <a:t>To implement facial verification using </a:t>
            </a:r>
            <a:r>
              <a:rPr lang="en-US" altLang="en-US" sz="2298" dirty="0" err="1">
                <a:solidFill>
                  <a:schemeClr val="tx1"/>
                </a:solidFill>
                <a:latin typeface="Times New Roman" panose="02020603050405020304" pitchFamily="18" charset="0"/>
                <a:cs typeface="Times New Roman" panose="02020603050405020304" pitchFamily="18" charset="0"/>
              </a:rPr>
              <a:t>Deepface</a:t>
            </a:r>
            <a:r>
              <a:rPr lang="en-US" altLang="en-US" sz="2298" dirty="0">
                <a:solidFill>
                  <a:schemeClr val="tx1"/>
                </a:solidFill>
                <a:latin typeface="Times New Roman" panose="02020603050405020304" pitchFamily="18" charset="0"/>
                <a:cs typeface="Times New Roman" panose="02020603050405020304" pitchFamily="18" charset="0"/>
              </a:rPr>
              <a:t> to compare a live selfie with the user’s photo for secure identity validation during policy issuance.</a:t>
            </a: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None/>
            </a:pPr>
            <a:r>
              <a:rPr lang="en-US" altLang="en-US" sz="2298" dirty="0">
                <a:solidFill>
                  <a:schemeClr val="tx1"/>
                </a:solidFill>
                <a:latin typeface="Times New Roman" panose="02020603050405020304" pitchFamily="18" charset="0"/>
                <a:cs typeface="Times New Roman" panose="02020603050405020304" pitchFamily="18" charset="0"/>
              </a:rPr>
              <a:t> </a:t>
            </a: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Char char="•"/>
            </a:pPr>
            <a:r>
              <a:rPr lang="en-US" altLang="en-US" sz="2298" dirty="0">
                <a:solidFill>
                  <a:schemeClr val="tx1"/>
                </a:solidFill>
                <a:latin typeface="Times New Roman" panose="02020603050405020304" pitchFamily="18" charset="0"/>
                <a:cs typeface="Times New Roman" panose="02020603050405020304" pitchFamily="18" charset="0"/>
              </a:rPr>
              <a:t>To develop a document verification module using OCR and image classification to extract and validate details from uploaded identity documents for compliance and fraud detection.</a:t>
            </a: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None/>
            </a:pPr>
            <a:r>
              <a:rPr lang="en-US" altLang="en-US" sz="2298" dirty="0">
                <a:solidFill>
                  <a:schemeClr val="tx1"/>
                </a:solidFill>
                <a:latin typeface="Times New Roman" panose="02020603050405020304" pitchFamily="18" charset="0"/>
                <a:cs typeface="Times New Roman" panose="02020603050405020304" pitchFamily="18" charset="0"/>
              </a:rPr>
              <a:t> </a:t>
            </a:r>
            <a:endParaRPr lang="en-IN" altLang="en-US" sz="2298" dirty="0">
              <a:solidFill>
                <a:schemeClr val="tx1"/>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Char char="•"/>
            </a:pPr>
            <a:r>
              <a:rPr lang="en-US" altLang="en-US" sz="2298" dirty="0">
                <a:solidFill>
                  <a:schemeClr val="tx1"/>
                </a:solidFill>
                <a:latin typeface="Times New Roman" panose="02020603050405020304" pitchFamily="18" charset="0"/>
                <a:cs typeface="Times New Roman" panose="02020603050405020304" pitchFamily="18" charset="0"/>
              </a:rPr>
              <a:t>To create an AI-assisted claims processing module using YOLO11 to validate uploaded images, detect fraud, and automate claim approvals.</a:t>
            </a:r>
            <a:endParaRPr lang="en-US" altLang="en-US" sz="2298" dirty="0">
              <a:solidFill>
                <a:srgbClr val="000000"/>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None/>
            </a:pPr>
            <a:endParaRPr lang="en-US" altLang="en-US" sz="2298" b="1" dirty="0">
              <a:solidFill>
                <a:srgbClr val="000000"/>
              </a:solidFill>
              <a:latin typeface="Times New Roman" panose="02020603050405020304" pitchFamily="18" charset="0"/>
              <a:cs typeface="Times New Roman" panose="02020603050405020304" pitchFamily="18" charset="0"/>
            </a:endParaRPr>
          </a:p>
          <a:p>
            <a:pPr algn="just">
              <a:spcBef>
                <a:spcPct val="20000"/>
              </a:spcBef>
              <a:buClrTx/>
              <a:buSzTx/>
              <a:buFont typeface="Arial" panose="020B0604020202020204" pitchFamily="34" charset="0"/>
              <a:buNone/>
            </a:pPr>
            <a:endParaRPr lang="en-US" altLang="en-US" sz="2298"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7350" y="255270"/>
            <a:ext cx="7438390" cy="1084580"/>
          </a:xfrm>
          <a:prstGeom prst="rect">
            <a:avLst/>
          </a:prstGeom>
        </p:spPr>
        <p:txBody>
          <a:bodyPr vert="horz" wrap="square" lIns="0" tIns="184546" rIns="0" bIns="0" rtlCol="0">
            <a:spAutoFit/>
          </a:bodyPr>
          <a:lstStyle/>
          <a:p>
            <a:pPr marL="120650">
              <a:lnSpc>
                <a:spcPct val="100000"/>
              </a:lnSpc>
              <a:spcBef>
                <a:spcPts val="100"/>
              </a:spcBef>
            </a:pPr>
            <a:r>
              <a:rPr spc="-10"/>
              <a:t>Literature</a:t>
            </a:r>
            <a:r>
              <a:rPr spc="-185"/>
              <a:t> </a:t>
            </a:r>
            <a:r>
              <a:rPr spc="-10"/>
              <a:t>Review</a:t>
            </a:r>
          </a:p>
        </p:txBody>
      </p:sp>
      <p:graphicFrame>
        <p:nvGraphicFramePr>
          <p:cNvPr id="7" name="Table 6">
            <a:extLst>
              <a:ext uri="{FF2B5EF4-FFF2-40B4-BE49-F238E27FC236}">
                <a16:creationId xmlns:a16="http://schemas.microsoft.com/office/drawing/2014/main" id="{C3418CF9-A592-A427-0034-677866704423}"/>
              </a:ext>
            </a:extLst>
          </p:cNvPr>
          <p:cNvGraphicFramePr>
            <a:graphicFrameLocks noGrp="1"/>
          </p:cNvGraphicFramePr>
          <p:nvPr>
            <p:extLst>
              <p:ext uri="{D42A27DB-BD31-4B8C-83A1-F6EECF244321}">
                <p14:modId xmlns:p14="http://schemas.microsoft.com/office/powerpoint/2010/main" val="4147723533"/>
              </p:ext>
            </p:extLst>
          </p:nvPr>
        </p:nvGraphicFramePr>
        <p:xfrm>
          <a:off x="129615" y="1334994"/>
          <a:ext cx="9811870" cy="5910703"/>
        </p:xfrm>
        <a:graphic>
          <a:graphicData uri="http://schemas.openxmlformats.org/drawingml/2006/table">
            <a:tbl>
              <a:tblPr firstRow="1" bandRow="1">
                <a:tableStyleId>{5C22544A-7EE6-4342-B048-85BDC9FD1C3A}</a:tableStyleId>
              </a:tblPr>
              <a:tblGrid>
                <a:gridCol w="486335">
                  <a:extLst>
                    <a:ext uri="{9D8B030D-6E8A-4147-A177-3AD203B41FA5}">
                      <a16:colId xmlns:a16="http://schemas.microsoft.com/office/drawing/2014/main" val="263392236"/>
                    </a:ext>
                  </a:extLst>
                </a:gridCol>
                <a:gridCol w="1906804">
                  <a:extLst>
                    <a:ext uri="{9D8B030D-6E8A-4147-A177-3AD203B41FA5}">
                      <a16:colId xmlns:a16="http://schemas.microsoft.com/office/drawing/2014/main" val="3824096801"/>
                    </a:ext>
                  </a:extLst>
                </a:gridCol>
                <a:gridCol w="1994282">
                  <a:extLst>
                    <a:ext uri="{9D8B030D-6E8A-4147-A177-3AD203B41FA5}">
                      <a16:colId xmlns:a16="http://schemas.microsoft.com/office/drawing/2014/main" val="1114687493"/>
                    </a:ext>
                  </a:extLst>
                </a:gridCol>
                <a:gridCol w="638171">
                  <a:extLst>
                    <a:ext uri="{9D8B030D-6E8A-4147-A177-3AD203B41FA5}">
                      <a16:colId xmlns:a16="http://schemas.microsoft.com/office/drawing/2014/main" val="1513539786"/>
                    </a:ext>
                  </a:extLst>
                </a:gridCol>
                <a:gridCol w="2393139">
                  <a:extLst>
                    <a:ext uri="{9D8B030D-6E8A-4147-A177-3AD203B41FA5}">
                      <a16:colId xmlns:a16="http://schemas.microsoft.com/office/drawing/2014/main" val="2442594561"/>
                    </a:ext>
                  </a:extLst>
                </a:gridCol>
                <a:gridCol w="2393139">
                  <a:extLst>
                    <a:ext uri="{9D8B030D-6E8A-4147-A177-3AD203B41FA5}">
                      <a16:colId xmlns:a16="http://schemas.microsoft.com/office/drawing/2014/main" val="715564603"/>
                    </a:ext>
                  </a:extLst>
                </a:gridCol>
              </a:tblGrid>
              <a:tr h="744343">
                <a:tc>
                  <a:txBody>
                    <a:bodyPr/>
                    <a:lstStyle/>
                    <a:p>
                      <a:r>
                        <a:rPr sz="1500">
                          <a:latin typeface="Times New Roman" panose="02020603050405020304" pitchFamily="18" charset="0"/>
                          <a:cs typeface="Times New Roman" panose="02020603050405020304" pitchFamily="18" charset="0"/>
                        </a:rPr>
                        <a:t>Sr.no</a:t>
                      </a:r>
                    </a:p>
                  </a:txBody>
                  <a:tcPr/>
                </a:tc>
                <a:tc>
                  <a:txBody>
                    <a:bodyPr/>
                    <a:lstStyle/>
                    <a:p>
                      <a:r>
                        <a:rPr sz="1500">
                          <a:latin typeface="Times New Roman" panose="02020603050405020304" pitchFamily="18" charset="0"/>
                          <a:cs typeface="Times New Roman" panose="02020603050405020304" pitchFamily="18" charset="0"/>
                        </a:rPr>
                        <a:t>Title</a:t>
                      </a:r>
                    </a:p>
                  </a:txBody>
                  <a:tcPr/>
                </a:tc>
                <a:tc>
                  <a:txBody>
                    <a:bodyPr/>
                    <a:lstStyle/>
                    <a:p>
                      <a:r>
                        <a:rPr sz="1500">
                          <a:latin typeface="Times New Roman" panose="02020603050405020304" pitchFamily="18" charset="0"/>
                          <a:cs typeface="Times New Roman" panose="02020603050405020304" pitchFamily="18" charset="0"/>
                        </a:rPr>
                        <a:t>Author(s)</a:t>
                      </a:r>
                    </a:p>
                  </a:txBody>
                  <a:tcPr/>
                </a:tc>
                <a:tc>
                  <a:txBody>
                    <a:bodyPr/>
                    <a:lstStyle/>
                    <a:p>
                      <a:r>
                        <a:rPr sz="1500">
                          <a:latin typeface="Times New Roman" panose="02020603050405020304" pitchFamily="18" charset="0"/>
                          <a:cs typeface="Times New Roman" panose="02020603050405020304" pitchFamily="18" charset="0"/>
                        </a:rPr>
                        <a:t>Year</a:t>
                      </a:r>
                    </a:p>
                  </a:txBody>
                  <a:tcPr/>
                </a:tc>
                <a:tc>
                  <a:txBody>
                    <a:bodyPr/>
                    <a:lstStyle/>
                    <a:p>
                      <a:r>
                        <a:rPr sz="1500">
                          <a:latin typeface="Times New Roman" panose="02020603050405020304" pitchFamily="18" charset="0"/>
                          <a:cs typeface="Times New Roman" panose="02020603050405020304" pitchFamily="18" charset="0"/>
                        </a:rPr>
                        <a:t>Methodology</a:t>
                      </a:r>
                    </a:p>
                  </a:txBody>
                  <a:tcPr/>
                </a:tc>
                <a:tc>
                  <a:txBody>
                    <a:bodyPr/>
                    <a:lstStyle/>
                    <a:p>
                      <a:r>
                        <a:rPr sz="1500">
                          <a:latin typeface="Times New Roman" panose="02020603050405020304" pitchFamily="18" charset="0"/>
                          <a:cs typeface="Times New Roman" panose="02020603050405020304" pitchFamily="18" charset="0"/>
                        </a:rPr>
                        <a:t>Drawback</a:t>
                      </a:r>
                    </a:p>
                  </a:txBody>
                  <a:tcPr/>
                </a:tc>
                <a:extLst>
                  <a:ext uri="{0D108BD9-81ED-4DB2-BD59-A6C34878D82A}">
                    <a16:rowId xmlns:a16="http://schemas.microsoft.com/office/drawing/2014/main" val="2020928998"/>
                  </a:ext>
                </a:extLst>
              </a:tr>
              <a:tr h="1401116">
                <a:tc>
                  <a:txBody>
                    <a:bodyPr/>
                    <a:lstStyle/>
                    <a:p>
                      <a:r>
                        <a:rPr lang="en-US" sz="1500" dirty="0">
                          <a:latin typeface="Times New Roman" panose="02020603050405020304" pitchFamily="18" charset="0"/>
                          <a:cs typeface="Times New Roman" panose="02020603050405020304" pitchFamily="18" charset="0"/>
                        </a:rPr>
                        <a:t>[</a:t>
                      </a:r>
                      <a:r>
                        <a:rPr sz="1500" dirty="0">
                          <a:latin typeface="Times New Roman" panose="02020603050405020304" pitchFamily="18" charset="0"/>
                          <a:cs typeface="Times New Roman" panose="02020603050405020304" pitchFamily="18" charset="0"/>
                        </a:rPr>
                        <a:t>1</a:t>
                      </a:r>
                      <a:r>
                        <a:rPr lang="en-US" sz="150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a:txBody>
                  <a:tcPr/>
                </a:tc>
                <a:tc>
                  <a:txBody>
                    <a:bodyPr/>
                    <a:lstStyle/>
                    <a:p>
                      <a:r>
                        <a:rPr sz="1500">
                          <a:latin typeface="Times New Roman" panose="02020603050405020304" pitchFamily="18" charset="0"/>
                          <a:cs typeface="Times New Roman" panose="02020603050405020304" pitchFamily="18" charset="0"/>
                        </a:rPr>
                        <a:t>Deep Cross-Domain Insurance Recommendation System (DCDIR)</a:t>
                      </a:r>
                    </a:p>
                  </a:txBody>
                  <a:tcPr/>
                </a:tc>
                <a:tc>
                  <a:txBody>
                    <a:bodyPr/>
                    <a:lstStyle/>
                    <a:p>
                      <a:r>
                        <a:rPr sz="1500">
                          <a:latin typeface="Times New Roman" panose="02020603050405020304" pitchFamily="18" charset="0"/>
                          <a:cs typeface="Times New Roman" panose="02020603050405020304" pitchFamily="18" charset="0"/>
                        </a:rPr>
                        <a:t>Ye Bi, Liqiang Song, Mengqiu Yao, Zhenyu Wu, Jianming Wang, Jing Xiao</a:t>
                      </a:r>
                    </a:p>
                  </a:txBody>
                  <a:tcPr/>
                </a:tc>
                <a:tc>
                  <a:txBody>
                    <a:bodyPr/>
                    <a:lstStyle/>
                    <a:p>
                      <a:r>
                        <a:rPr sz="1500">
                          <a:latin typeface="Times New Roman" panose="02020603050405020304" pitchFamily="18" charset="0"/>
                          <a:cs typeface="Times New Roman" panose="02020603050405020304" pitchFamily="18" charset="0"/>
                        </a:rPr>
                        <a:t>2020</a:t>
                      </a:r>
                    </a:p>
                  </a:txBody>
                  <a:tcPr/>
                </a:tc>
                <a:tc>
                  <a:txBody>
                    <a:bodyPr/>
                    <a:lstStyle/>
                    <a:p>
                      <a:r>
                        <a:rPr sz="1500">
                          <a:latin typeface="Times New Roman" panose="02020603050405020304" pitchFamily="18" charset="0"/>
                          <a:cs typeface="Times New Roman" panose="02020603050405020304" pitchFamily="18" charset="0"/>
                        </a:rPr>
                        <a:t>Graph-based insurance knowledge feature learning + GRU for user interest modeling + multi-layer perceptron for mapping across domains</a:t>
                      </a:r>
                    </a:p>
                  </a:txBody>
                  <a:tcPr/>
                </a:tc>
                <a:tc>
                  <a:txBody>
                    <a:bodyPr/>
                    <a:lstStyle/>
                    <a:p>
                      <a:r>
                        <a:rPr sz="1500">
                          <a:latin typeface="Times New Roman" panose="02020603050405020304" pitchFamily="18" charset="0"/>
                          <a:cs typeface="Times New Roman" panose="02020603050405020304" pitchFamily="18" charset="0"/>
                        </a:rPr>
                        <a:t>Requires large cross-domain datasets; complexity in knowledge graph construction</a:t>
                      </a:r>
                    </a:p>
                  </a:txBody>
                  <a:tcPr/>
                </a:tc>
                <a:extLst>
                  <a:ext uri="{0D108BD9-81ED-4DB2-BD59-A6C34878D82A}">
                    <a16:rowId xmlns:a16="http://schemas.microsoft.com/office/drawing/2014/main" val="55996107"/>
                  </a:ext>
                </a:extLst>
              </a:tr>
              <a:tr h="1182191">
                <a:tc>
                  <a:txBody>
                    <a:bodyPr/>
                    <a:lstStyle/>
                    <a:p>
                      <a:r>
                        <a:rPr lang="en-US" sz="1500" dirty="0">
                          <a:latin typeface="Times New Roman" panose="02020603050405020304" pitchFamily="18" charset="0"/>
                          <a:cs typeface="Times New Roman" panose="02020603050405020304" pitchFamily="18" charset="0"/>
                        </a:rPr>
                        <a:t>[</a:t>
                      </a:r>
                      <a:r>
                        <a:rPr sz="1500" dirty="0">
                          <a:latin typeface="Times New Roman" panose="02020603050405020304" pitchFamily="18" charset="0"/>
                          <a:cs typeface="Times New Roman" panose="02020603050405020304" pitchFamily="18" charset="0"/>
                        </a:rPr>
                        <a:t>2</a:t>
                      </a:r>
                      <a:r>
                        <a:rPr lang="en-US" sz="150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a:txBody>
                  <a:tcPr/>
                </a:tc>
                <a:tc>
                  <a:txBody>
                    <a:bodyPr/>
                    <a:lstStyle/>
                    <a:p>
                      <a:r>
                        <a:rPr sz="1500">
                          <a:latin typeface="Times New Roman" panose="02020603050405020304" pitchFamily="18" charset="0"/>
                          <a:cs typeface="Times New Roman" panose="02020603050405020304" pitchFamily="18" charset="0"/>
                        </a:rPr>
                        <a:t>Session-Based Insurance Recommendation Model</a:t>
                      </a:r>
                    </a:p>
                  </a:txBody>
                  <a:tcPr/>
                </a:tc>
                <a:tc>
                  <a:txBody>
                    <a:bodyPr/>
                    <a:lstStyle/>
                    <a:p>
                      <a:r>
                        <a:rPr sz="1500">
                          <a:latin typeface="Times New Roman" panose="02020603050405020304" pitchFamily="18" charset="0"/>
                          <a:cs typeface="Times New Roman" panose="02020603050405020304" pitchFamily="18" charset="0"/>
                        </a:rPr>
                        <a:t>Simone Borg Bruun, Maria Maistro, Christina Lioma</a:t>
                      </a:r>
                    </a:p>
                  </a:txBody>
                  <a:tcPr/>
                </a:tc>
                <a:tc>
                  <a:txBody>
                    <a:bodyPr/>
                    <a:lstStyle/>
                    <a:p>
                      <a:r>
                        <a:rPr sz="1500">
                          <a:latin typeface="Times New Roman" panose="02020603050405020304" pitchFamily="18" charset="0"/>
                          <a:cs typeface="Times New Roman" panose="02020603050405020304" pitchFamily="18" charset="0"/>
                        </a:rPr>
                        <a:t>2022</a:t>
                      </a:r>
                    </a:p>
                  </a:txBody>
                  <a:tcPr/>
                </a:tc>
                <a:tc>
                  <a:txBody>
                    <a:bodyPr/>
                    <a:lstStyle/>
                    <a:p>
                      <a:r>
                        <a:rPr sz="1500">
                          <a:latin typeface="Times New Roman" panose="02020603050405020304" pitchFamily="18" charset="0"/>
                          <a:cs typeface="Times New Roman" panose="02020603050405020304" pitchFamily="18" charset="0"/>
                        </a:rPr>
                        <a:t>Recurrent neural network trained on user session sequences in insurance domain to recommend policies</a:t>
                      </a:r>
                    </a:p>
                  </a:txBody>
                  <a:tcPr/>
                </a:tc>
                <a:tc>
                  <a:txBody>
                    <a:bodyPr/>
                    <a:lstStyle/>
                    <a:p>
                      <a:r>
                        <a:rPr sz="1500">
                          <a:latin typeface="Times New Roman" panose="02020603050405020304" pitchFamily="18" charset="0"/>
                          <a:cs typeface="Times New Roman" panose="02020603050405020304" pitchFamily="18" charset="0"/>
                        </a:rPr>
                        <a:t>Sparse interaction data; limited product variety; complex session modeling</a:t>
                      </a:r>
                    </a:p>
                  </a:txBody>
                  <a:tcPr/>
                </a:tc>
                <a:extLst>
                  <a:ext uri="{0D108BD9-81ED-4DB2-BD59-A6C34878D82A}">
                    <a16:rowId xmlns:a16="http://schemas.microsoft.com/office/drawing/2014/main" val="380873773"/>
                  </a:ext>
                </a:extLst>
              </a:tr>
              <a:tr h="1182191">
                <a:tc>
                  <a:txBody>
                    <a:bodyPr/>
                    <a:lstStyle/>
                    <a:p>
                      <a:r>
                        <a:rPr lang="en-US" sz="1500" dirty="0">
                          <a:latin typeface="Times New Roman" panose="02020603050405020304" pitchFamily="18" charset="0"/>
                          <a:cs typeface="Times New Roman" panose="02020603050405020304" pitchFamily="18" charset="0"/>
                        </a:rPr>
                        <a:t>[</a:t>
                      </a:r>
                      <a:r>
                        <a:rPr sz="1500" dirty="0">
                          <a:latin typeface="Times New Roman" panose="02020603050405020304" pitchFamily="18" charset="0"/>
                          <a:cs typeface="Times New Roman" panose="02020603050405020304" pitchFamily="18" charset="0"/>
                        </a:rPr>
                        <a:t>3</a:t>
                      </a:r>
                      <a:r>
                        <a:rPr lang="en-US" sz="150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a:txBody>
                  <a:tcPr/>
                </a:tc>
                <a:tc>
                  <a:txBody>
                    <a:bodyPr/>
                    <a:lstStyle/>
                    <a:p>
                      <a:r>
                        <a:rPr sz="1500">
                          <a:latin typeface="Times New Roman" panose="02020603050405020304" pitchFamily="18" charset="0"/>
                          <a:cs typeface="Times New Roman" panose="02020603050405020304" pitchFamily="18" charset="0"/>
                        </a:rPr>
                        <a:t>Accurate and Interpretable ML for Transparent Pricing</a:t>
                      </a:r>
                    </a:p>
                  </a:txBody>
                  <a:tcPr/>
                </a:tc>
                <a:tc>
                  <a:txBody>
                    <a:bodyPr/>
                    <a:lstStyle/>
                    <a:p>
                      <a:r>
                        <a:rPr sz="1500">
                          <a:latin typeface="Times New Roman" panose="02020603050405020304" pitchFamily="18" charset="0"/>
                          <a:cs typeface="Times New Roman" panose="02020603050405020304" pitchFamily="18" charset="0"/>
                        </a:rPr>
                        <a:t>Rohun Kshirsagar et al. (Lumiata team)</a:t>
                      </a:r>
                    </a:p>
                  </a:txBody>
                  <a:tcPr/>
                </a:tc>
                <a:tc>
                  <a:txBody>
                    <a:bodyPr/>
                    <a:lstStyle/>
                    <a:p>
                      <a:r>
                        <a:rPr sz="1500">
                          <a:latin typeface="Times New Roman" panose="02020603050405020304" pitchFamily="18" charset="0"/>
                          <a:cs typeface="Times New Roman" panose="02020603050405020304" pitchFamily="18" charset="0"/>
                        </a:rPr>
                        <a:t>2020</a:t>
                      </a:r>
                    </a:p>
                  </a:txBody>
                  <a:tcPr/>
                </a:tc>
                <a:tc>
                  <a:txBody>
                    <a:bodyPr/>
                    <a:lstStyle/>
                    <a:p>
                      <a:r>
                        <a:rPr sz="1500">
                          <a:latin typeface="Times New Roman" panose="02020603050405020304" pitchFamily="18" charset="0"/>
                          <a:cs typeface="Times New Roman" panose="02020603050405020304" pitchFamily="18" charset="0"/>
                        </a:rPr>
                        <a:t>Two-tier model (patient-level &amp; employer-group-level) for prediction, outperforming actuarial models by 20%</a:t>
                      </a:r>
                    </a:p>
                  </a:txBody>
                  <a:tcPr/>
                </a:tc>
                <a:tc>
                  <a:txBody>
                    <a:bodyPr/>
                    <a:lstStyle/>
                    <a:p>
                      <a:r>
                        <a:rPr sz="1500">
                          <a:latin typeface="Times New Roman" panose="02020603050405020304" pitchFamily="18" charset="0"/>
                          <a:cs typeface="Times New Roman" panose="02020603050405020304" pitchFamily="18" charset="0"/>
                        </a:rPr>
                        <a:t>High data requirement; restricted to employer-sponsored plans; complex implementation</a:t>
                      </a:r>
                    </a:p>
                  </a:txBody>
                  <a:tcPr/>
                </a:tc>
                <a:extLst>
                  <a:ext uri="{0D108BD9-81ED-4DB2-BD59-A6C34878D82A}">
                    <a16:rowId xmlns:a16="http://schemas.microsoft.com/office/drawing/2014/main" val="1564739881"/>
                  </a:ext>
                </a:extLst>
              </a:tr>
              <a:tr h="1220669">
                <a:tc>
                  <a:txBody>
                    <a:bodyPr/>
                    <a:lstStyle/>
                    <a:p>
                      <a:r>
                        <a:rPr lang="en-US" sz="1500" dirty="0">
                          <a:latin typeface="Times New Roman" panose="02020603050405020304" pitchFamily="18" charset="0"/>
                          <a:cs typeface="Times New Roman" panose="02020603050405020304" pitchFamily="18" charset="0"/>
                        </a:rPr>
                        <a:t>[</a:t>
                      </a:r>
                      <a:r>
                        <a:rPr sz="1500" dirty="0">
                          <a:latin typeface="Times New Roman" panose="02020603050405020304" pitchFamily="18" charset="0"/>
                          <a:cs typeface="Times New Roman" panose="02020603050405020304" pitchFamily="18" charset="0"/>
                        </a:rPr>
                        <a:t>4</a:t>
                      </a:r>
                      <a:r>
                        <a:rPr lang="en-US" sz="150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a:txBody>
                  <a:tcPr/>
                </a:tc>
                <a:tc>
                  <a:txBody>
                    <a:bodyPr/>
                    <a:lstStyle/>
                    <a:p>
                      <a:r>
                        <a:rPr sz="1500">
                          <a:latin typeface="Times New Roman" panose="02020603050405020304" pitchFamily="18" charset="0"/>
                          <a:cs typeface="Times New Roman" panose="02020603050405020304" pitchFamily="18" charset="0"/>
                        </a:rPr>
                        <a:t>Explainable AI-Enhanced Underwriting Automation</a:t>
                      </a:r>
                    </a:p>
                  </a:txBody>
                  <a:tcPr/>
                </a:tc>
                <a:tc>
                  <a:txBody>
                    <a:bodyPr/>
                    <a:lstStyle/>
                    <a:p>
                      <a:r>
                        <a:rPr sz="1500">
                          <a:latin typeface="Times New Roman" panose="02020603050405020304" pitchFamily="18" charset="0"/>
                          <a:cs typeface="Times New Roman" panose="02020603050405020304" pitchFamily="18" charset="0"/>
                        </a:rPr>
                        <a:t>Hari Suresh Babu Gummadi</a:t>
                      </a:r>
                    </a:p>
                  </a:txBody>
                  <a:tcPr/>
                </a:tc>
                <a:tc>
                  <a:txBody>
                    <a:bodyPr/>
                    <a:lstStyle/>
                    <a:p>
                      <a:r>
                        <a:rPr sz="1500">
                          <a:latin typeface="Times New Roman" panose="02020603050405020304" pitchFamily="18" charset="0"/>
                          <a:cs typeface="Times New Roman" panose="02020603050405020304" pitchFamily="18" charset="0"/>
                        </a:rPr>
                        <a:t>2025</a:t>
                      </a:r>
                    </a:p>
                  </a:txBody>
                  <a:tcPr/>
                </a:tc>
                <a:tc>
                  <a:txBody>
                    <a:bodyPr/>
                    <a:lstStyle/>
                    <a:p>
                      <a:r>
                        <a:rPr sz="1500">
                          <a:latin typeface="Times New Roman" panose="02020603050405020304" pitchFamily="18" charset="0"/>
                          <a:cs typeface="Times New Roman" panose="02020603050405020304" pitchFamily="18" charset="0"/>
                        </a:rPr>
                        <a:t>XAI-enhanced underwriting using SHAP, ALE, counterfactuals, rule extraction; personalized recommendations</a:t>
                      </a:r>
                    </a:p>
                  </a:txBody>
                  <a:tcPr/>
                </a:tc>
                <a:tc>
                  <a:txBody>
                    <a:bodyPr/>
                    <a:lstStyle/>
                    <a:p>
                      <a:r>
                        <a:rPr sz="1500" dirty="0">
                          <a:latin typeface="Times New Roman" panose="02020603050405020304" pitchFamily="18" charset="0"/>
                          <a:cs typeface="Times New Roman" panose="02020603050405020304" pitchFamily="18" charset="0"/>
                        </a:rPr>
                        <a:t>Heavy computational overhead; need for explainable frameworks; integration challenge</a:t>
                      </a:r>
                    </a:p>
                  </a:txBody>
                  <a:tcPr/>
                </a:tc>
                <a:extLst>
                  <a:ext uri="{0D108BD9-81ED-4DB2-BD59-A6C34878D82A}">
                    <a16:rowId xmlns:a16="http://schemas.microsoft.com/office/drawing/2014/main" val="91407825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2C7B215-B41F-919F-05CE-0BD07B2151C6}"/>
              </a:ext>
            </a:extLst>
          </p:cNvPr>
          <p:cNvGraphicFramePr>
            <a:graphicFrameLocks noGrp="1"/>
          </p:cNvGraphicFramePr>
          <p:nvPr>
            <p:extLst>
              <p:ext uri="{D42A27DB-BD31-4B8C-83A1-F6EECF244321}">
                <p14:modId xmlns:p14="http://schemas.microsoft.com/office/powerpoint/2010/main" val="2668554605"/>
              </p:ext>
            </p:extLst>
          </p:nvPr>
        </p:nvGraphicFramePr>
        <p:xfrm>
          <a:off x="236666" y="484095"/>
          <a:ext cx="9445214" cy="7010400"/>
        </p:xfrm>
        <a:graphic>
          <a:graphicData uri="http://schemas.openxmlformats.org/drawingml/2006/table">
            <a:tbl>
              <a:tblPr firstRow="1" bandRow="1">
                <a:tableStyleId>{5C22544A-7EE6-4342-B048-85BDC9FD1C3A}</a:tableStyleId>
              </a:tblPr>
              <a:tblGrid>
                <a:gridCol w="542056">
                  <a:extLst>
                    <a:ext uri="{9D8B030D-6E8A-4147-A177-3AD203B41FA5}">
                      <a16:colId xmlns:a16="http://schemas.microsoft.com/office/drawing/2014/main" val="1711422224"/>
                    </a:ext>
                  </a:extLst>
                </a:gridCol>
                <a:gridCol w="1860780">
                  <a:extLst>
                    <a:ext uri="{9D8B030D-6E8A-4147-A177-3AD203B41FA5}">
                      <a16:colId xmlns:a16="http://schemas.microsoft.com/office/drawing/2014/main" val="3003594571"/>
                    </a:ext>
                  </a:extLst>
                </a:gridCol>
                <a:gridCol w="1746534">
                  <a:extLst>
                    <a:ext uri="{9D8B030D-6E8A-4147-A177-3AD203B41FA5}">
                      <a16:colId xmlns:a16="http://schemas.microsoft.com/office/drawing/2014/main" val="3685579166"/>
                    </a:ext>
                  </a:extLst>
                </a:gridCol>
                <a:gridCol w="688422">
                  <a:extLst>
                    <a:ext uri="{9D8B030D-6E8A-4147-A177-3AD203B41FA5}">
                      <a16:colId xmlns:a16="http://schemas.microsoft.com/office/drawing/2014/main" val="3227873273"/>
                    </a:ext>
                  </a:extLst>
                </a:gridCol>
                <a:gridCol w="2303711">
                  <a:extLst>
                    <a:ext uri="{9D8B030D-6E8A-4147-A177-3AD203B41FA5}">
                      <a16:colId xmlns:a16="http://schemas.microsoft.com/office/drawing/2014/main" val="296165913"/>
                    </a:ext>
                  </a:extLst>
                </a:gridCol>
                <a:gridCol w="2303711">
                  <a:extLst>
                    <a:ext uri="{9D8B030D-6E8A-4147-A177-3AD203B41FA5}">
                      <a16:colId xmlns:a16="http://schemas.microsoft.com/office/drawing/2014/main" val="2160801438"/>
                    </a:ext>
                  </a:extLst>
                </a:gridCol>
              </a:tblGrid>
              <a:tr h="566975">
                <a:tc>
                  <a:txBody>
                    <a:bodyPr/>
                    <a:lstStyle/>
                    <a:p>
                      <a:r>
                        <a:rPr sz="1600">
                          <a:latin typeface="Times New Roman" panose="02020603050405020304" pitchFamily="18" charset="0"/>
                          <a:cs typeface="Times New Roman" panose="02020603050405020304" pitchFamily="18" charset="0"/>
                        </a:rPr>
                        <a:t>Sr.no</a:t>
                      </a:r>
                    </a:p>
                  </a:txBody>
                  <a:tcPr/>
                </a:tc>
                <a:tc>
                  <a:txBody>
                    <a:bodyPr/>
                    <a:lstStyle/>
                    <a:p>
                      <a:r>
                        <a:rPr sz="1600" dirty="0">
                          <a:latin typeface="Times New Roman" panose="02020603050405020304" pitchFamily="18" charset="0"/>
                          <a:cs typeface="Times New Roman" panose="02020603050405020304" pitchFamily="18" charset="0"/>
                        </a:rPr>
                        <a:t>Title</a:t>
                      </a:r>
                    </a:p>
                  </a:txBody>
                  <a:tcPr/>
                </a:tc>
                <a:tc>
                  <a:txBody>
                    <a:bodyPr/>
                    <a:lstStyle/>
                    <a:p>
                      <a:r>
                        <a:rPr sz="1600">
                          <a:latin typeface="Times New Roman" panose="02020603050405020304" pitchFamily="18" charset="0"/>
                          <a:cs typeface="Times New Roman" panose="02020603050405020304" pitchFamily="18" charset="0"/>
                        </a:rPr>
                        <a:t>Author(s)</a:t>
                      </a:r>
                    </a:p>
                  </a:txBody>
                  <a:tcPr/>
                </a:tc>
                <a:tc>
                  <a:txBody>
                    <a:bodyPr/>
                    <a:lstStyle/>
                    <a:p>
                      <a:r>
                        <a:rPr sz="1600">
                          <a:latin typeface="Times New Roman" panose="02020603050405020304" pitchFamily="18" charset="0"/>
                          <a:cs typeface="Times New Roman" panose="02020603050405020304" pitchFamily="18" charset="0"/>
                        </a:rPr>
                        <a:t>Year</a:t>
                      </a:r>
                    </a:p>
                  </a:txBody>
                  <a:tcPr/>
                </a:tc>
                <a:tc>
                  <a:txBody>
                    <a:bodyPr/>
                    <a:lstStyle/>
                    <a:p>
                      <a:r>
                        <a:rPr sz="1600">
                          <a:latin typeface="Times New Roman" panose="02020603050405020304" pitchFamily="18" charset="0"/>
                          <a:cs typeface="Times New Roman" panose="02020603050405020304" pitchFamily="18" charset="0"/>
                        </a:rPr>
                        <a:t>Methodology</a:t>
                      </a:r>
                    </a:p>
                  </a:txBody>
                  <a:tcPr/>
                </a:tc>
                <a:tc>
                  <a:txBody>
                    <a:bodyPr/>
                    <a:lstStyle/>
                    <a:p>
                      <a:r>
                        <a:rPr sz="1600">
                          <a:latin typeface="Times New Roman" panose="02020603050405020304" pitchFamily="18" charset="0"/>
                          <a:cs typeface="Times New Roman" panose="02020603050405020304" pitchFamily="18" charset="0"/>
                        </a:rPr>
                        <a:t>Drawback</a:t>
                      </a:r>
                    </a:p>
                  </a:txBody>
                  <a:tcPr/>
                </a:tc>
                <a:extLst>
                  <a:ext uri="{0D108BD9-81ED-4DB2-BD59-A6C34878D82A}">
                    <a16:rowId xmlns:a16="http://schemas.microsoft.com/office/drawing/2014/main" val="2879936784"/>
                  </a:ext>
                </a:extLst>
              </a:tr>
              <a:tr h="1283153">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5</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dirty="0">
                          <a:latin typeface="Times New Roman" panose="02020603050405020304" pitchFamily="18" charset="0"/>
                          <a:cs typeface="Times New Roman" panose="02020603050405020304" pitchFamily="18" charset="0"/>
                        </a:rPr>
                        <a:t>Machine Learning Recommender for Nigerian Health Insurance</a:t>
                      </a:r>
                    </a:p>
                  </a:txBody>
                  <a:tcPr/>
                </a:tc>
                <a:tc>
                  <a:txBody>
                    <a:bodyPr/>
                    <a:lstStyle/>
                    <a:p>
                      <a:r>
                        <a:rPr sz="1600">
                          <a:latin typeface="Times New Roman" panose="02020603050405020304" pitchFamily="18" charset="0"/>
                          <a:cs typeface="Times New Roman" panose="02020603050405020304" pitchFamily="18" charset="0"/>
                        </a:rPr>
                        <a:t>Ayomide Owoyemi, Emmanuel Nnaemeka et al.</a:t>
                      </a:r>
                    </a:p>
                  </a:txBody>
                  <a:tcPr/>
                </a:tc>
                <a:tc>
                  <a:txBody>
                    <a:bodyPr/>
                    <a:lstStyle/>
                    <a:p>
                      <a:r>
                        <a:rPr sz="1600">
                          <a:latin typeface="Times New Roman" panose="02020603050405020304" pitchFamily="18" charset="0"/>
                          <a:cs typeface="Times New Roman" panose="02020603050405020304" pitchFamily="18" charset="0"/>
                        </a:rPr>
                        <a:t>2023</a:t>
                      </a:r>
                    </a:p>
                  </a:txBody>
                  <a:tcPr/>
                </a:tc>
                <a:tc>
                  <a:txBody>
                    <a:bodyPr/>
                    <a:lstStyle/>
                    <a:p>
                      <a:r>
                        <a:rPr sz="1600">
                          <a:latin typeface="Times New Roman" panose="02020603050405020304" pitchFamily="18" charset="0"/>
                          <a:cs typeface="Times New Roman" panose="02020603050405020304" pitchFamily="18" charset="0"/>
                        </a:rPr>
                        <a:t>Content-based recommender using KNN and cosine similarity for HMO selection based on location/prices</a:t>
                      </a:r>
                    </a:p>
                  </a:txBody>
                  <a:tcPr/>
                </a:tc>
                <a:tc>
                  <a:txBody>
                    <a:bodyPr/>
                    <a:lstStyle/>
                    <a:p>
                      <a:r>
                        <a:rPr sz="1600">
                          <a:latin typeface="Times New Roman" panose="02020603050405020304" pitchFamily="18" charset="0"/>
                          <a:cs typeface="Times New Roman" panose="02020603050405020304" pitchFamily="18" charset="0"/>
                        </a:rPr>
                        <a:t>Limited to Nigerian context; doesn't address non-location factors</a:t>
                      </a:r>
                    </a:p>
                  </a:txBody>
                  <a:tcPr/>
                </a:tc>
                <a:extLst>
                  <a:ext uri="{0D108BD9-81ED-4DB2-BD59-A6C34878D82A}">
                    <a16:rowId xmlns:a16="http://schemas.microsoft.com/office/drawing/2014/main" val="2094903372"/>
                  </a:ext>
                </a:extLst>
              </a:tr>
              <a:tr h="1760606">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6</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err="1">
                          <a:latin typeface="Times New Roman" panose="02020603050405020304" pitchFamily="18" charset="0"/>
                          <a:cs typeface="Times New Roman" panose="02020603050405020304" pitchFamily="18" charset="0"/>
                        </a:rPr>
                        <a:t>EfficientFace</a:t>
                      </a:r>
                      <a:r>
                        <a:rPr lang="en-US" sz="1600" dirty="0">
                          <a:latin typeface="Times New Roman" panose="02020603050405020304" pitchFamily="18" charset="0"/>
                          <a:cs typeface="Times New Roman" panose="02020603050405020304" pitchFamily="18" charset="0"/>
                        </a:rPr>
                        <a:t>: An Efficient Deep Network with Feature Enhancement for Accurate Face Detection</a:t>
                      </a:r>
                      <a:endParaRPr sz="1600" dirty="0">
                        <a:latin typeface="Times New Roman" panose="02020603050405020304" pitchFamily="18" charset="0"/>
                        <a:cs typeface="Times New Roman" panose="02020603050405020304" pitchFamily="18" charset="0"/>
                      </a:endParaRPr>
                    </a:p>
                  </a:txBody>
                  <a:tcPr/>
                </a:tc>
                <a:tc>
                  <a:txBody>
                    <a:bodyPr/>
                    <a:lstStyle/>
                    <a:p>
                      <a:r>
                        <a:rPr lang="en-IN" sz="1600" dirty="0" err="1">
                          <a:latin typeface="Times New Roman" panose="02020603050405020304" pitchFamily="18" charset="0"/>
                          <a:cs typeface="Times New Roman" panose="02020603050405020304" pitchFamily="18" charset="0"/>
                        </a:rPr>
                        <a:t>Guangtao</a:t>
                      </a:r>
                      <a:r>
                        <a:rPr lang="en-IN" sz="1600" dirty="0">
                          <a:latin typeface="Times New Roman" panose="02020603050405020304" pitchFamily="18" charset="0"/>
                          <a:cs typeface="Times New Roman" panose="02020603050405020304" pitchFamily="18" charset="0"/>
                        </a:rPr>
                        <a:t> Wang, Jun Li, Zhijian Wu, Jianhua Xu, </a:t>
                      </a:r>
                      <a:r>
                        <a:rPr lang="en-IN" sz="1600" dirty="0" err="1">
                          <a:latin typeface="Times New Roman" panose="02020603050405020304" pitchFamily="18" charset="0"/>
                          <a:cs typeface="Times New Roman" panose="02020603050405020304" pitchFamily="18" charset="0"/>
                        </a:rPr>
                        <a:t>Jifeng</a:t>
                      </a:r>
                      <a:r>
                        <a:rPr lang="en-IN" sz="1600" dirty="0">
                          <a:latin typeface="Times New Roman" panose="02020603050405020304" pitchFamily="18" charset="0"/>
                          <a:cs typeface="Times New Roman" panose="02020603050405020304" pitchFamily="18" charset="0"/>
                        </a:rPr>
                        <a:t> Shen, </a:t>
                      </a:r>
                      <a:r>
                        <a:rPr lang="en-IN" sz="1600" dirty="0" err="1">
                          <a:latin typeface="Times New Roman" panose="02020603050405020304" pitchFamily="18" charset="0"/>
                          <a:cs typeface="Times New Roman" panose="02020603050405020304" pitchFamily="18" charset="0"/>
                        </a:rPr>
                        <a:t>Wankou</a:t>
                      </a:r>
                      <a:r>
                        <a:rPr lang="en-IN" sz="1600" dirty="0">
                          <a:latin typeface="Times New Roman" panose="02020603050405020304" pitchFamily="18" charset="0"/>
                          <a:cs typeface="Times New Roman" panose="02020603050405020304" pitchFamily="18" charset="0"/>
                        </a:rPr>
                        <a:t> Yang</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2023</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Lightweight CNN with feature fusion and attention for robust face detection</a:t>
                      </a:r>
                    </a:p>
                  </a:txBody>
                  <a:tcPr/>
                </a:tc>
                <a:tc>
                  <a:txBody>
                    <a:bodyPr/>
                    <a:lstStyle/>
                    <a:p>
                      <a:r>
                        <a:rPr lang="en-US" sz="1600" dirty="0">
                          <a:latin typeface="Times New Roman" panose="02020603050405020304" pitchFamily="18" charset="0"/>
                          <a:cs typeface="Times New Roman" panose="02020603050405020304" pitchFamily="18" charset="0"/>
                        </a:rPr>
                        <a:t>Struggles in highly occluded/low-resource cases; attention adds overhead</a:t>
                      </a:r>
                      <a:endParaRP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3924308"/>
                  </a:ext>
                </a:extLst>
              </a:tr>
              <a:tr h="1044427">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7</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Human Face Recognition Based on CNN and Augmented Dataset</a:t>
                      </a:r>
                      <a:endParaRPr sz="1600" dirty="0">
                        <a:latin typeface="Times New Roman" panose="02020603050405020304" pitchFamily="18" charset="0"/>
                        <a:cs typeface="Times New Roman" panose="02020603050405020304" pitchFamily="18" charset="0"/>
                      </a:endParaRPr>
                    </a:p>
                  </a:txBody>
                  <a:tcPr/>
                </a:tc>
                <a:tc>
                  <a:txBody>
                    <a:bodyPr/>
                    <a:lstStyle/>
                    <a:p>
                      <a:r>
                        <a:rPr lang="fr-FR" sz="1600" dirty="0">
                          <a:latin typeface="Times New Roman" panose="02020603050405020304" pitchFamily="18" charset="0"/>
                          <a:cs typeface="Times New Roman" panose="02020603050405020304" pitchFamily="18" charset="0"/>
                        </a:rPr>
                        <a:t>P. Lu, B. Song, L. Xu</a:t>
                      </a:r>
                      <a:endParaRPr sz="1600" dirty="0">
                        <a:latin typeface="Times New Roman" panose="02020603050405020304" pitchFamily="18" charset="0"/>
                        <a:cs typeface="Times New Roman" panose="02020603050405020304" pitchFamily="18" charset="0"/>
                      </a:endParaRPr>
                    </a:p>
                  </a:txBody>
                  <a:tcPr/>
                </a:tc>
                <a:tc>
                  <a:txBody>
                    <a:bodyPr/>
                    <a:lstStyle/>
                    <a:p>
                      <a:r>
                        <a:rPr sz="1600" dirty="0">
                          <a:latin typeface="Times New Roman" panose="02020603050405020304" pitchFamily="18" charset="0"/>
                          <a:cs typeface="Times New Roman" panose="02020603050405020304" pitchFamily="18" charset="0"/>
                        </a:rPr>
                        <a:t>20</a:t>
                      </a:r>
                      <a:r>
                        <a:rPr lang="en-US" sz="1600" dirty="0">
                          <a:latin typeface="Times New Roman" panose="02020603050405020304" pitchFamily="18" charset="0"/>
                          <a:cs typeface="Times New Roman" panose="02020603050405020304" pitchFamily="18" charset="0"/>
                        </a:rPr>
                        <a:t>21</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CNN with augmented training data to improve recognition accuracy</a:t>
                      </a:r>
                      <a:endParaRPr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Relies on augmentations; limited generalization to real-world variations</a:t>
                      </a:r>
                      <a:endParaRP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9626399"/>
                  </a:ext>
                </a:extLst>
              </a:tr>
              <a:tr h="1044427">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8</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Document Image Analysis Survey</a:t>
                      </a:r>
                    </a:p>
                  </a:txBody>
                  <a:tcPr/>
                </a:tc>
                <a:tc>
                  <a:txBody>
                    <a:bodyPr/>
                    <a:lstStyle/>
                    <a:p>
                      <a:r>
                        <a:rPr lang="en-IN" sz="1600" dirty="0">
                          <a:latin typeface="Times New Roman" panose="02020603050405020304" pitchFamily="18" charset="0"/>
                          <a:cs typeface="Times New Roman" panose="02020603050405020304" pitchFamily="18" charset="0"/>
                        </a:rPr>
                        <a:t>V. V. </a:t>
                      </a:r>
                      <a:r>
                        <a:rPr lang="en-IN" sz="1600" dirty="0" err="1">
                          <a:latin typeface="Times New Roman" panose="02020603050405020304" pitchFamily="18" charset="0"/>
                          <a:cs typeface="Times New Roman" panose="02020603050405020304" pitchFamily="18" charset="0"/>
                        </a:rPr>
                        <a:t>Arlazarov</a:t>
                      </a:r>
                      <a:r>
                        <a:rPr lang="en-IN" sz="1600" dirty="0">
                          <a:latin typeface="Times New Roman" panose="02020603050405020304" pitchFamily="18" charset="0"/>
                          <a:cs typeface="Times New Roman" panose="02020603050405020304" pitchFamily="18" charset="0"/>
                        </a:rPr>
                        <a:t>, E. I. Andreeva, K. B. Bulatov, D. P. Nikolaev.</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2022</a:t>
                      </a:r>
                    </a:p>
                  </a:txBody>
                  <a:tcPr/>
                </a:tc>
                <a:tc>
                  <a:txBody>
                    <a:bodyPr/>
                    <a:lstStyle/>
                    <a:p>
                      <a:r>
                        <a:rPr sz="1600" dirty="0">
                          <a:latin typeface="Times New Roman" panose="02020603050405020304" pitchFamily="18" charset="0"/>
                          <a:cs typeface="Times New Roman" panose="02020603050405020304" pitchFamily="18" charset="0"/>
                        </a:rPr>
                        <a:t>Broad survey of document recognition techniques: OCR, layout, classification</a:t>
                      </a:r>
                    </a:p>
                  </a:txBody>
                  <a:tcPr/>
                </a:tc>
                <a:tc>
                  <a:txBody>
                    <a:bodyPr/>
                    <a:lstStyle/>
                    <a:p>
                      <a:r>
                        <a:rPr sz="1600" dirty="0">
                          <a:latin typeface="Times New Roman" panose="02020603050405020304" pitchFamily="18" charset="0"/>
                          <a:cs typeface="Times New Roman" panose="02020603050405020304" pitchFamily="18" charset="0"/>
                        </a:rPr>
                        <a:t>No empirical baseline; broad coverage, not focused app</a:t>
                      </a:r>
                    </a:p>
                  </a:txBody>
                  <a:tcPr/>
                </a:tc>
                <a:extLst>
                  <a:ext uri="{0D108BD9-81ED-4DB2-BD59-A6C34878D82A}">
                    <a16:rowId xmlns:a16="http://schemas.microsoft.com/office/drawing/2014/main" val="2742137737"/>
                  </a:ext>
                </a:extLst>
              </a:tr>
              <a:tr h="1163790">
                <a:tc>
                  <a:txBody>
                    <a:bodyPr/>
                    <a:lstStyle/>
                    <a:p>
                      <a:r>
                        <a:rPr lang="en-US" dirty="0"/>
                        <a:t>[</a:t>
                      </a:r>
                      <a:r>
                        <a:rPr dirty="0"/>
                        <a:t>9</a:t>
                      </a:r>
                      <a:r>
                        <a:rPr lang="en-US" dirty="0"/>
                        <a:t>]</a:t>
                      </a:r>
                      <a:endParaRPr dirty="0"/>
                    </a:p>
                  </a:txBody>
                  <a:tcPr/>
                </a:tc>
                <a:tc>
                  <a:txBody>
                    <a:bodyPr/>
                    <a:lstStyle/>
                    <a:p>
                      <a:r>
                        <a:t>Document Classification via OCR</a:t>
                      </a:r>
                    </a:p>
                  </a:txBody>
                  <a:tcPr/>
                </a:tc>
                <a:tc>
                  <a:txBody>
                    <a:bodyPr/>
                    <a:lstStyle/>
                    <a:p>
                      <a:r>
                        <a:rPr lang="en-IN" sz="1600" dirty="0">
                          <a:latin typeface="Times New Roman" panose="02020603050405020304" pitchFamily="18" charset="0"/>
                          <a:cs typeface="Times New Roman" panose="02020603050405020304" pitchFamily="18" charset="0"/>
                        </a:rPr>
                        <a:t>O. O. Petrova, B. I. Savelev, O. A. Slavin</a:t>
                      </a:r>
                      <a:endParaRPr sz="1600" dirty="0">
                        <a:latin typeface="Times New Roman" panose="02020603050405020304" pitchFamily="18" charset="0"/>
                        <a:cs typeface="Times New Roman" panose="02020603050405020304" pitchFamily="18" charset="0"/>
                      </a:endParaRPr>
                    </a:p>
                  </a:txBody>
                  <a:tcPr/>
                </a:tc>
                <a:tc>
                  <a:txBody>
                    <a:bodyPr/>
                    <a:lstStyle/>
                    <a:p>
                      <a:r>
                        <a:t>2021</a:t>
                      </a:r>
                    </a:p>
                  </a:txBody>
                  <a:tcPr/>
                </a:tc>
                <a:tc>
                  <a:txBody>
                    <a:bodyPr/>
                    <a:lstStyle/>
                    <a:p>
                      <a:r>
                        <a:t>OCR+ML classifier pipeline for document categorization</a:t>
                      </a:r>
                    </a:p>
                  </a:txBody>
                  <a:tcPr/>
                </a:tc>
                <a:tc>
                  <a:txBody>
                    <a:bodyPr/>
                    <a:lstStyle/>
                    <a:p>
                      <a:r>
                        <a:rPr dirty="0"/>
                        <a:t>OCR accuracy dependent on image quality; few real-world evaluations</a:t>
                      </a:r>
                    </a:p>
                  </a:txBody>
                  <a:tcPr/>
                </a:tc>
                <a:extLst>
                  <a:ext uri="{0D108BD9-81ED-4DB2-BD59-A6C34878D82A}">
                    <a16:rowId xmlns:a16="http://schemas.microsoft.com/office/drawing/2014/main" val="1754680914"/>
                  </a:ext>
                </a:extLst>
              </a:tr>
            </a:tbl>
          </a:graphicData>
        </a:graphic>
      </p:graphicFrame>
    </p:spTree>
    <p:extLst>
      <p:ext uri="{BB962C8B-B14F-4D97-AF65-F5344CB8AC3E}">
        <p14:creationId xmlns:p14="http://schemas.microsoft.com/office/powerpoint/2010/main" val="1035928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DA3AC5-3F37-71B9-E18D-C7EA803BA758}"/>
              </a:ext>
            </a:extLst>
          </p:cNvPr>
          <p:cNvGraphicFramePr>
            <a:graphicFrameLocks noGrp="1"/>
          </p:cNvGraphicFramePr>
          <p:nvPr>
            <p:extLst>
              <p:ext uri="{D42A27DB-BD31-4B8C-83A1-F6EECF244321}">
                <p14:modId xmlns:p14="http://schemas.microsoft.com/office/powerpoint/2010/main" val="1378459593"/>
              </p:ext>
            </p:extLst>
          </p:nvPr>
        </p:nvGraphicFramePr>
        <p:xfrm>
          <a:off x="158750" y="577850"/>
          <a:ext cx="9832976" cy="6889086"/>
        </p:xfrm>
        <a:graphic>
          <a:graphicData uri="http://schemas.openxmlformats.org/drawingml/2006/table">
            <a:tbl>
              <a:tblPr firstRow="1" bandRow="1">
                <a:tableStyleId>{5C22544A-7EE6-4342-B048-85BDC9FD1C3A}</a:tableStyleId>
              </a:tblPr>
              <a:tblGrid>
                <a:gridCol w="706984">
                  <a:extLst>
                    <a:ext uri="{9D8B030D-6E8A-4147-A177-3AD203B41FA5}">
                      <a16:colId xmlns:a16="http://schemas.microsoft.com/office/drawing/2014/main" val="1601142730"/>
                    </a:ext>
                  </a:extLst>
                </a:gridCol>
                <a:gridCol w="1691302">
                  <a:extLst>
                    <a:ext uri="{9D8B030D-6E8A-4147-A177-3AD203B41FA5}">
                      <a16:colId xmlns:a16="http://schemas.microsoft.com/office/drawing/2014/main" val="2400705488"/>
                    </a:ext>
                  </a:extLst>
                </a:gridCol>
                <a:gridCol w="1998572">
                  <a:extLst>
                    <a:ext uri="{9D8B030D-6E8A-4147-A177-3AD203B41FA5}">
                      <a16:colId xmlns:a16="http://schemas.microsoft.com/office/drawing/2014/main" val="2058593303"/>
                    </a:ext>
                  </a:extLst>
                </a:gridCol>
                <a:gridCol w="639544">
                  <a:extLst>
                    <a:ext uri="{9D8B030D-6E8A-4147-A177-3AD203B41FA5}">
                      <a16:colId xmlns:a16="http://schemas.microsoft.com/office/drawing/2014/main" val="2178303281"/>
                    </a:ext>
                  </a:extLst>
                </a:gridCol>
                <a:gridCol w="2398287">
                  <a:extLst>
                    <a:ext uri="{9D8B030D-6E8A-4147-A177-3AD203B41FA5}">
                      <a16:colId xmlns:a16="http://schemas.microsoft.com/office/drawing/2014/main" val="2555462964"/>
                    </a:ext>
                  </a:extLst>
                </a:gridCol>
                <a:gridCol w="2398287">
                  <a:extLst>
                    <a:ext uri="{9D8B030D-6E8A-4147-A177-3AD203B41FA5}">
                      <a16:colId xmlns:a16="http://schemas.microsoft.com/office/drawing/2014/main" val="3898467042"/>
                    </a:ext>
                  </a:extLst>
                </a:gridCol>
              </a:tblGrid>
              <a:tr h="488286">
                <a:tc>
                  <a:txBody>
                    <a:bodyPr/>
                    <a:lstStyle/>
                    <a:p>
                      <a:r>
                        <a:rPr sz="1600">
                          <a:latin typeface="Times New Roman" panose="02020603050405020304" pitchFamily="18" charset="0"/>
                          <a:cs typeface="Times New Roman" panose="02020603050405020304" pitchFamily="18" charset="0"/>
                        </a:rPr>
                        <a:t>Sr.no</a:t>
                      </a:r>
                    </a:p>
                  </a:txBody>
                  <a:tcPr/>
                </a:tc>
                <a:tc>
                  <a:txBody>
                    <a:bodyPr/>
                    <a:lstStyle/>
                    <a:p>
                      <a:r>
                        <a:rPr sz="1600">
                          <a:latin typeface="Times New Roman" panose="02020603050405020304" pitchFamily="18" charset="0"/>
                          <a:cs typeface="Times New Roman" panose="02020603050405020304" pitchFamily="18" charset="0"/>
                        </a:rPr>
                        <a:t>Title</a:t>
                      </a:r>
                    </a:p>
                  </a:txBody>
                  <a:tcPr/>
                </a:tc>
                <a:tc>
                  <a:txBody>
                    <a:bodyPr/>
                    <a:lstStyle/>
                    <a:p>
                      <a:r>
                        <a:rPr sz="1600">
                          <a:latin typeface="Times New Roman" panose="02020603050405020304" pitchFamily="18" charset="0"/>
                          <a:cs typeface="Times New Roman" panose="02020603050405020304" pitchFamily="18" charset="0"/>
                        </a:rPr>
                        <a:t>Author(s)</a:t>
                      </a:r>
                    </a:p>
                  </a:txBody>
                  <a:tcPr/>
                </a:tc>
                <a:tc>
                  <a:txBody>
                    <a:bodyPr/>
                    <a:lstStyle/>
                    <a:p>
                      <a:r>
                        <a:rPr sz="1600">
                          <a:latin typeface="Times New Roman" panose="02020603050405020304" pitchFamily="18" charset="0"/>
                          <a:cs typeface="Times New Roman" panose="02020603050405020304" pitchFamily="18" charset="0"/>
                        </a:rPr>
                        <a:t>Year</a:t>
                      </a:r>
                    </a:p>
                  </a:txBody>
                  <a:tcPr/>
                </a:tc>
                <a:tc>
                  <a:txBody>
                    <a:bodyPr/>
                    <a:lstStyle/>
                    <a:p>
                      <a:r>
                        <a:rPr sz="1600">
                          <a:latin typeface="Times New Roman" panose="02020603050405020304" pitchFamily="18" charset="0"/>
                          <a:cs typeface="Times New Roman" panose="02020603050405020304" pitchFamily="18" charset="0"/>
                        </a:rPr>
                        <a:t>Methodology</a:t>
                      </a:r>
                    </a:p>
                  </a:txBody>
                  <a:tcPr/>
                </a:tc>
                <a:tc>
                  <a:txBody>
                    <a:bodyPr/>
                    <a:lstStyle/>
                    <a:p>
                      <a:r>
                        <a:rPr sz="1600">
                          <a:latin typeface="Times New Roman" panose="02020603050405020304" pitchFamily="18" charset="0"/>
                          <a:cs typeface="Times New Roman" panose="02020603050405020304" pitchFamily="18" charset="0"/>
                        </a:rPr>
                        <a:t>Drawback</a:t>
                      </a:r>
                    </a:p>
                  </a:txBody>
                  <a:tcPr/>
                </a:tc>
                <a:extLst>
                  <a:ext uri="{0D108BD9-81ED-4DB2-BD59-A6C34878D82A}">
                    <a16:rowId xmlns:a16="http://schemas.microsoft.com/office/drawing/2014/main" val="755762223"/>
                  </a:ext>
                </a:extLst>
              </a:tr>
              <a:tr h="1012742">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10</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Identity Document Verification Pipeline</a:t>
                      </a:r>
                    </a:p>
                  </a:txBody>
                  <a:tcPr/>
                </a:tc>
                <a:tc>
                  <a:txBody>
                    <a:bodyPr/>
                    <a:lstStyle/>
                    <a:p>
                      <a:r>
                        <a:rPr sz="1600">
                          <a:latin typeface="Times New Roman" panose="02020603050405020304" pitchFamily="18" charset="0"/>
                          <a:cs typeface="Times New Roman" panose="02020603050405020304" pitchFamily="18" charset="0"/>
                        </a:rPr>
                        <a:t>Castelblanco et al.</a:t>
                      </a:r>
                    </a:p>
                  </a:txBody>
                  <a:tcPr/>
                </a:tc>
                <a:tc>
                  <a:txBody>
                    <a:bodyPr/>
                    <a:lstStyle/>
                    <a:p>
                      <a:r>
                        <a:rPr sz="1600">
                          <a:latin typeface="Times New Roman" panose="02020603050405020304" pitchFamily="18" charset="0"/>
                          <a:cs typeface="Times New Roman" panose="02020603050405020304" pitchFamily="18" charset="0"/>
                        </a:rPr>
                        <a:t>2020</a:t>
                      </a:r>
                    </a:p>
                  </a:txBody>
                  <a:tcPr/>
                </a:tc>
                <a:tc>
                  <a:txBody>
                    <a:bodyPr/>
                    <a:lstStyle/>
                    <a:p>
                      <a:r>
                        <a:rPr sz="1600">
                          <a:latin typeface="Times New Roman" panose="02020603050405020304" pitchFamily="18" charset="0"/>
                          <a:cs typeface="Times New Roman" panose="02020603050405020304" pitchFamily="18" charset="0"/>
                        </a:rPr>
                        <a:t>Deep learning ML pipeline: segmentation, localization, authenticity classification (~98% accuracy)</a:t>
                      </a:r>
                    </a:p>
                  </a:txBody>
                  <a:tcPr/>
                </a:tc>
                <a:tc>
                  <a:txBody>
                    <a:bodyPr/>
                    <a:lstStyle/>
                    <a:p>
                      <a:r>
                        <a:rPr sz="1600">
                          <a:latin typeface="Times New Roman" panose="02020603050405020304" pitchFamily="18" charset="0"/>
                          <a:cs typeface="Times New Roman" panose="02020603050405020304" pitchFamily="18" charset="0"/>
                        </a:rPr>
                        <a:t>Tested on limited Colombian IDs; may not generalize</a:t>
                      </a:r>
                    </a:p>
                  </a:txBody>
                  <a:tcPr/>
                </a:tc>
                <a:extLst>
                  <a:ext uri="{0D108BD9-81ED-4DB2-BD59-A6C34878D82A}">
                    <a16:rowId xmlns:a16="http://schemas.microsoft.com/office/drawing/2014/main" val="1937090652"/>
                  </a:ext>
                </a:extLst>
              </a:tr>
              <a:tr h="781258">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11</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ConvNeXt V2 for Document Analysis</a:t>
                      </a:r>
                    </a:p>
                  </a:txBody>
                  <a:tcPr/>
                </a:tc>
                <a:tc>
                  <a:txBody>
                    <a:bodyPr/>
                    <a:lstStyle/>
                    <a:p>
                      <a:r>
                        <a:rPr sz="1600">
                          <a:latin typeface="Times New Roman" panose="02020603050405020304" pitchFamily="18" charset="0"/>
                          <a:cs typeface="Times New Roman" panose="02020603050405020304" pitchFamily="18" charset="0"/>
                        </a:rPr>
                        <a:t>Xin, et al.</a:t>
                      </a:r>
                    </a:p>
                  </a:txBody>
                  <a:tcPr/>
                </a:tc>
                <a:tc>
                  <a:txBody>
                    <a:bodyPr/>
                    <a:lstStyle/>
                    <a:p>
                      <a:r>
                        <a:rPr sz="1600">
                          <a:latin typeface="Times New Roman" panose="02020603050405020304" pitchFamily="18" charset="0"/>
                          <a:cs typeface="Times New Roman" panose="02020603050405020304" pitchFamily="18" charset="0"/>
                        </a:rPr>
                        <a:t>2023</a:t>
                      </a:r>
                    </a:p>
                  </a:txBody>
                  <a:tcPr/>
                </a:tc>
                <a:tc>
                  <a:txBody>
                    <a:bodyPr/>
                    <a:lstStyle/>
                    <a:p>
                      <a:r>
                        <a:rPr sz="1600">
                          <a:latin typeface="Times New Roman" panose="02020603050405020304" pitchFamily="18" charset="0"/>
                          <a:cs typeface="Times New Roman" panose="02020603050405020304" pitchFamily="18" charset="0"/>
                        </a:rPr>
                        <a:t>Modern CNN-based architecture for classification of document images</a:t>
                      </a:r>
                    </a:p>
                  </a:txBody>
                  <a:tcPr/>
                </a:tc>
                <a:tc>
                  <a:txBody>
                    <a:bodyPr/>
                    <a:lstStyle/>
                    <a:p>
                      <a:r>
                        <a:rPr sz="1600">
                          <a:latin typeface="Times New Roman" panose="02020603050405020304" pitchFamily="18" charset="0"/>
                          <a:cs typeface="Times New Roman" panose="02020603050405020304" pitchFamily="18" charset="0"/>
                        </a:rPr>
                        <a:t>Experimental; not evaluated on insurance document datasets</a:t>
                      </a:r>
                    </a:p>
                  </a:txBody>
                  <a:tcPr/>
                </a:tc>
                <a:extLst>
                  <a:ext uri="{0D108BD9-81ED-4DB2-BD59-A6C34878D82A}">
                    <a16:rowId xmlns:a16="http://schemas.microsoft.com/office/drawing/2014/main" val="3579191610"/>
                  </a:ext>
                </a:extLst>
              </a:tr>
              <a:tr h="781258">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12</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Auto Vehicle Claim Processing (CV &amp; NLP)</a:t>
                      </a:r>
                    </a:p>
                  </a:txBody>
                  <a:tcPr/>
                </a:tc>
                <a:tc>
                  <a:txBody>
                    <a:bodyPr/>
                    <a:lstStyle/>
                    <a:p>
                      <a:r>
                        <a:rPr sz="1600">
                          <a:latin typeface="Times New Roman" panose="02020603050405020304" pitchFamily="18" charset="0"/>
                          <a:cs typeface="Times New Roman" panose="02020603050405020304" pitchFamily="18" charset="0"/>
                        </a:rPr>
                        <a:t>Fernando et al.</a:t>
                      </a:r>
                    </a:p>
                  </a:txBody>
                  <a:tcPr/>
                </a:tc>
                <a:tc>
                  <a:txBody>
                    <a:bodyPr/>
                    <a:lstStyle/>
                    <a:p>
                      <a:r>
                        <a:rPr sz="1600">
                          <a:latin typeface="Times New Roman" panose="02020603050405020304" pitchFamily="18" charset="0"/>
                          <a:cs typeface="Times New Roman" panose="02020603050405020304" pitchFamily="18" charset="0"/>
                        </a:rPr>
                        <a:t>2022</a:t>
                      </a:r>
                    </a:p>
                  </a:txBody>
                  <a:tcPr/>
                </a:tc>
                <a:tc>
                  <a:txBody>
                    <a:bodyPr/>
                    <a:lstStyle/>
                    <a:p>
                      <a:r>
                        <a:rPr sz="1600">
                          <a:latin typeface="Times New Roman" panose="02020603050405020304" pitchFamily="18" charset="0"/>
                          <a:cs typeface="Times New Roman" panose="02020603050405020304" pitchFamily="18" charset="0"/>
                        </a:rPr>
                        <a:t>Hybrid solution: CNN for damage detection, OCR, plus NLP to extract claim data</a:t>
                      </a:r>
                    </a:p>
                  </a:txBody>
                  <a:tcPr/>
                </a:tc>
                <a:tc>
                  <a:txBody>
                    <a:bodyPr/>
                    <a:lstStyle/>
                    <a:p>
                      <a:r>
                        <a:rPr sz="1600">
                          <a:latin typeface="Times New Roman" panose="02020603050405020304" pitchFamily="18" charset="0"/>
                          <a:cs typeface="Times New Roman" panose="02020603050405020304" pitchFamily="18" charset="0"/>
                        </a:rPr>
                        <a:t>Limited domain (vehicle); limited generalization; complex integration</a:t>
                      </a:r>
                    </a:p>
                  </a:txBody>
                  <a:tcPr/>
                </a:tc>
                <a:extLst>
                  <a:ext uri="{0D108BD9-81ED-4DB2-BD59-A6C34878D82A}">
                    <a16:rowId xmlns:a16="http://schemas.microsoft.com/office/drawing/2014/main" val="3066713851"/>
                  </a:ext>
                </a:extLst>
              </a:tr>
              <a:tr h="781258">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13</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Medical Insurance Data Analytics w/ DL</a:t>
                      </a:r>
                    </a:p>
                  </a:txBody>
                  <a:tcPr/>
                </a:tc>
                <a:tc>
                  <a:txBody>
                    <a:bodyPr/>
                    <a:lstStyle/>
                    <a:p>
                      <a:r>
                        <a:rPr sz="1600">
                          <a:latin typeface="Times New Roman" panose="02020603050405020304" pitchFamily="18" charset="0"/>
                          <a:cs typeface="Times New Roman" panose="02020603050405020304" pitchFamily="18" charset="0"/>
                        </a:rPr>
                        <a:t>(Unir team)</a:t>
                      </a:r>
                    </a:p>
                  </a:txBody>
                  <a:tcPr/>
                </a:tc>
                <a:tc>
                  <a:txBody>
                    <a:bodyPr/>
                    <a:lstStyle/>
                    <a:p>
                      <a:r>
                        <a:rPr sz="1600">
                          <a:latin typeface="Times New Roman" panose="02020603050405020304" pitchFamily="18" charset="0"/>
                          <a:cs typeface="Times New Roman" panose="02020603050405020304" pitchFamily="18" charset="0"/>
                        </a:rPr>
                        <a:t>2023</a:t>
                      </a:r>
                    </a:p>
                  </a:txBody>
                  <a:tcPr/>
                </a:tc>
                <a:tc>
                  <a:txBody>
                    <a:bodyPr/>
                    <a:lstStyle/>
                    <a:p>
                      <a:r>
                        <a:rPr sz="1600">
                          <a:latin typeface="Times New Roman" panose="02020603050405020304" pitchFamily="18" charset="0"/>
                          <a:cs typeface="Times New Roman" panose="02020603050405020304" pitchFamily="18" charset="0"/>
                        </a:rPr>
                        <a:t>CNN pipelines for medical documentation and image analysis in health claims</a:t>
                      </a:r>
                    </a:p>
                  </a:txBody>
                  <a:tcPr/>
                </a:tc>
                <a:tc>
                  <a:txBody>
                    <a:bodyPr/>
                    <a:lstStyle/>
                    <a:p>
                      <a:r>
                        <a:rPr sz="1600">
                          <a:latin typeface="Times New Roman" panose="02020603050405020304" pitchFamily="18" charset="0"/>
                          <a:cs typeface="Times New Roman" panose="02020603050405020304" pitchFamily="18" charset="0"/>
                        </a:rPr>
                        <a:t>Domain-specific; generalizability limited</a:t>
                      </a:r>
                    </a:p>
                  </a:txBody>
                  <a:tcPr/>
                </a:tc>
                <a:extLst>
                  <a:ext uri="{0D108BD9-81ED-4DB2-BD59-A6C34878D82A}">
                    <a16:rowId xmlns:a16="http://schemas.microsoft.com/office/drawing/2014/main" val="1306197412"/>
                  </a:ext>
                </a:extLst>
              </a:tr>
              <a:tr h="781258">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14</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AI Transformation in Healthcare Claims</a:t>
                      </a:r>
                    </a:p>
                  </a:txBody>
                  <a:tcPr/>
                </a:tc>
                <a:tc>
                  <a:txBody>
                    <a:bodyPr/>
                    <a:lstStyle/>
                    <a:p>
                      <a:r>
                        <a:rPr sz="1600">
                          <a:latin typeface="Times New Roman" panose="02020603050405020304" pitchFamily="18" charset="0"/>
                          <a:cs typeface="Times New Roman" panose="02020603050405020304" pitchFamily="18" charset="0"/>
                        </a:rPr>
                        <a:t>ResearchGate authors</a:t>
                      </a:r>
                    </a:p>
                  </a:txBody>
                  <a:tcPr/>
                </a:tc>
                <a:tc>
                  <a:txBody>
                    <a:bodyPr/>
                    <a:lstStyle/>
                    <a:p>
                      <a:r>
                        <a:rPr sz="1600">
                          <a:latin typeface="Times New Roman" panose="02020603050405020304" pitchFamily="18" charset="0"/>
                          <a:cs typeface="Times New Roman" panose="02020603050405020304" pitchFamily="18" charset="0"/>
                        </a:rPr>
                        <a:t>2025</a:t>
                      </a:r>
                    </a:p>
                  </a:txBody>
                  <a:tcPr/>
                </a:tc>
                <a:tc>
                  <a:txBody>
                    <a:bodyPr/>
                    <a:lstStyle/>
                    <a:p>
                      <a:r>
                        <a:rPr sz="1600">
                          <a:latin typeface="Times New Roman" panose="02020603050405020304" pitchFamily="18" charset="0"/>
                          <a:cs typeface="Times New Roman" panose="02020603050405020304" pitchFamily="18" charset="0"/>
                        </a:rPr>
                        <a:t>Survey of NLP, Intelligent Document Processing, automation in claims</a:t>
                      </a:r>
                    </a:p>
                  </a:txBody>
                  <a:tcPr/>
                </a:tc>
                <a:tc>
                  <a:txBody>
                    <a:bodyPr/>
                    <a:lstStyle/>
                    <a:p>
                      <a:r>
                        <a:rPr sz="1600">
                          <a:latin typeface="Times New Roman" panose="02020603050405020304" pitchFamily="18" charset="0"/>
                          <a:cs typeface="Times New Roman" panose="02020603050405020304" pitchFamily="18" charset="0"/>
                        </a:rPr>
                        <a:t>Descriptive; lacks experimental results</a:t>
                      </a:r>
                    </a:p>
                  </a:txBody>
                  <a:tcPr/>
                </a:tc>
                <a:extLst>
                  <a:ext uri="{0D108BD9-81ED-4DB2-BD59-A6C34878D82A}">
                    <a16:rowId xmlns:a16="http://schemas.microsoft.com/office/drawing/2014/main" val="2941091057"/>
                  </a:ext>
                </a:extLst>
              </a:tr>
              <a:tr h="1012742">
                <a:tc>
                  <a:txBody>
                    <a:bodyPr/>
                    <a:lstStyle/>
                    <a:p>
                      <a:r>
                        <a:rPr lang="en-US"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15</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Medical Image Analysis Using DL</a:t>
                      </a:r>
                    </a:p>
                  </a:txBody>
                  <a:tcPr/>
                </a:tc>
                <a:tc>
                  <a:txBody>
                    <a:bodyPr/>
                    <a:lstStyle/>
                    <a:p>
                      <a:r>
                        <a:rPr lang="en-IN" sz="1600" dirty="0">
                          <a:latin typeface="Times New Roman" panose="02020603050405020304" pitchFamily="18" charset="0"/>
                          <a:cs typeface="Times New Roman" panose="02020603050405020304" pitchFamily="18" charset="0"/>
                        </a:rPr>
                        <a:t>M. Li and co-authors</a:t>
                      </a:r>
                      <a:endParaRPr sz="1600" dirty="0">
                        <a:latin typeface="Times New Roman" panose="02020603050405020304" pitchFamily="18" charset="0"/>
                        <a:cs typeface="Times New Roman" panose="02020603050405020304" pitchFamily="18" charset="0"/>
                      </a:endParaRPr>
                    </a:p>
                  </a:txBody>
                  <a:tcPr/>
                </a:tc>
                <a:tc>
                  <a:txBody>
                    <a:bodyPr/>
                    <a:lstStyle/>
                    <a:p>
                      <a:r>
                        <a:rPr sz="1600">
                          <a:latin typeface="Times New Roman" panose="02020603050405020304" pitchFamily="18" charset="0"/>
                          <a:cs typeface="Times New Roman" panose="02020603050405020304" pitchFamily="18" charset="0"/>
                        </a:rPr>
                        <a:t>2023</a:t>
                      </a:r>
                    </a:p>
                  </a:txBody>
                  <a:tcPr/>
                </a:tc>
                <a:tc>
                  <a:txBody>
                    <a:bodyPr/>
                    <a:lstStyle/>
                    <a:p>
                      <a:r>
                        <a:rPr sz="1600">
                          <a:latin typeface="Times New Roman" panose="02020603050405020304" pitchFamily="18" charset="0"/>
                          <a:cs typeface="Times New Roman" panose="02020603050405020304" pitchFamily="18" charset="0"/>
                        </a:rPr>
                        <a:t>Survey of deep learning techniques for medical images (transferable to claims)</a:t>
                      </a:r>
                    </a:p>
                  </a:txBody>
                  <a:tcPr/>
                </a:tc>
                <a:tc>
                  <a:txBody>
                    <a:bodyPr/>
                    <a:lstStyle/>
                    <a:p>
                      <a:r>
                        <a:rPr sz="1600" dirty="0">
                          <a:latin typeface="Times New Roman" panose="02020603050405020304" pitchFamily="18" charset="0"/>
                          <a:cs typeface="Times New Roman" panose="02020603050405020304" pitchFamily="18" charset="0"/>
                        </a:rPr>
                        <a:t>General healthcare focus; needs adaptation for insurance workflows</a:t>
                      </a:r>
                    </a:p>
                  </a:txBody>
                  <a:tcPr/>
                </a:tc>
                <a:extLst>
                  <a:ext uri="{0D108BD9-81ED-4DB2-BD59-A6C34878D82A}">
                    <a16:rowId xmlns:a16="http://schemas.microsoft.com/office/drawing/2014/main" val="490084043"/>
                  </a:ext>
                </a:extLst>
              </a:tr>
            </a:tbl>
          </a:graphicData>
        </a:graphic>
      </p:graphicFrame>
    </p:spTree>
    <p:extLst>
      <p:ext uri="{BB962C8B-B14F-4D97-AF65-F5344CB8AC3E}">
        <p14:creationId xmlns:p14="http://schemas.microsoft.com/office/powerpoint/2010/main" val="249339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AFB76762-3B7E-AB8A-E8CD-573CED911645}"/>
              </a:ext>
            </a:extLst>
          </p:cNvPr>
          <p:cNvSpPr>
            <a:spLocks noChangeArrowheads="1"/>
          </p:cNvSpPr>
          <p:nvPr/>
        </p:nvSpPr>
        <p:spPr bwMode="auto">
          <a:xfrm>
            <a:off x="577305" y="574531"/>
            <a:ext cx="9062404" cy="1260870"/>
          </a:xfrm>
          <a:prstGeom prst="rect">
            <a:avLst/>
          </a:prstGeom>
          <a:noFill/>
          <a:ln>
            <a:noFill/>
          </a:ln>
          <a:effectLst/>
        </p:spPr>
        <p:txBody>
          <a:bodyPr lIns="0" tIns="3165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597"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Research Gap(</a:t>
            </a:r>
            <a:r>
              <a:rPr lang="en-IN" altLang="en-US" sz="3597" b="1">
                <a:solidFill>
                  <a:srgbClr val="000000"/>
                </a:solidFill>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19459" name="Rectangle 2">
            <a:extLst>
              <a:ext uri="{FF2B5EF4-FFF2-40B4-BE49-F238E27FC236}">
                <a16:creationId xmlns:a16="http://schemas.microsoft.com/office/drawing/2014/main" id="{2B6D40BF-943B-3840-3B8A-558B2F1F3309}"/>
              </a:ext>
            </a:extLst>
          </p:cNvPr>
          <p:cNvSpPr>
            <a:spLocks noChangeArrowheads="1"/>
          </p:cNvSpPr>
          <p:nvPr/>
        </p:nvSpPr>
        <p:spPr bwMode="auto">
          <a:xfrm>
            <a:off x="502763" y="1768789"/>
            <a:ext cx="9062404" cy="4984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2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nSpc>
                <a:spcPct val="93000"/>
              </a:lnSpc>
              <a:spcAft>
                <a:spcPts val="1412"/>
              </a:spcAft>
            </a:pPr>
            <a:endParaRPr lang="en-IN" altLang="en-US" sz="2398">
              <a:solidFill>
                <a:srgbClr val="000000"/>
              </a:solidFill>
              <a:latin typeface="Times New Roman" panose="02020603050405020304" pitchFamily="18" charset="0"/>
              <a:cs typeface="Times New Roman" panose="02020603050405020304" pitchFamily="18" charset="0"/>
            </a:endParaRPr>
          </a:p>
        </p:txBody>
      </p:sp>
      <p:sp>
        <p:nvSpPr>
          <p:cNvPr id="19460" name="Rectangle 11">
            <a:extLst>
              <a:ext uri="{FF2B5EF4-FFF2-40B4-BE49-F238E27FC236}">
                <a16:creationId xmlns:a16="http://schemas.microsoft.com/office/drawing/2014/main" id="{2AFE5076-BAED-3CD1-F312-3E6C69213935}"/>
              </a:ext>
            </a:extLst>
          </p:cNvPr>
          <p:cNvSpPr>
            <a:spLocks noChangeArrowheads="1"/>
          </p:cNvSpPr>
          <p:nvPr/>
        </p:nvSpPr>
        <p:spPr bwMode="auto">
          <a:xfrm>
            <a:off x="577305" y="2388918"/>
            <a:ext cx="8634184" cy="4151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buFontTx/>
              <a:buChar char="•"/>
            </a:pPr>
            <a:r>
              <a:rPr lang="en-US" altLang="en-US" sz="2398" b="1" dirty="0">
                <a:latin typeface="Times New Roman" panose="02020603050405020304" pitchFamily="18" charset="0"/>
                <a:cs typeface="Times New Roman" panose="02020603050405020304" pitchFamily="18" charset="0"/>
              </a:rPr>
              <a:t>Manual verification delays</a:t>
            </a:r>
            <a:r>
              <a:rPr lang="en-US" altLang="en-US" sz="2398" dirty="0">
                <a:latin typeface="Times New Roman" panose="02020603050405020304" pitchFamily="18" charset="0"/>
                <a:cs typeface="Times New Roman" panose="02020603050405020304" pitchFamily="18" charset="0"/>
              </a:rPr>
              <a:t> – Claims and policy approvals still rely on paperwork and repeated document submissions, slowing the process.</a:t>
            </a:r>
          </a:p>
          <a:p>
            <a:pPr algn="just">
              <a:buFontTx/>
              <a:buChar char="•"/>
            </a:pPr>
            <a:endParaRPr lang="en-US" altLang="en-US" sz="2398" dirty="0">
              <a:latin typeface="Times New Roman" panose="02020603050405020304" pitchFamily="18" charset="0"/>
              <a:cs typeface="Times New Roman" panose="02020603050405020304" pitchFamily="18" charset="0"/>
            </a:endParaRPr>
          </a:p>
          <a:p>
            <a:pPr algn="just">
              <a:buFontTx/>
              <a:buChar char="•"/>
            </a:pPr>
            <a:r>
              <a:rPr lang="en-US" altLang="en-US" sz="2398" b="1" dirty="0">
                <a:latin typeface="Times New Roman" panose="02020603050405020304" pitchFamily="18" charset="0"/>
                <a:cs typeface="Times New Roman" panose="02020603050405020304" pitchFamily="18" charset="0"/>
              </a:rPr>
              <a:t>Ineffective chatbots</a:t>
            </a:r>
            <a:r>
              <a:rPr lang="en-US" altLang="en-US" sz="2398" dirty="0">
                <a:latin typeface="Times New Roman" panose="02020603050405020304" pitchFamily="18" charset="0"/>
                <a:cs typeface="Times New Roman" panose="02020603050405020304" pitchFamily="18" charset="0"/>
              </a:rPr>
              <a:t> – Automated support often fails to resolve queries, leading to frustration and longer resolution times.</a:t>
            </a:r>
          </a:p>
          <a:p>
            <a:pPr algn="just">
              <a:buFontTx/>
              <a:buChar char="•"/>
            </a:pPr>
            <a:endParaRPr lang="en-US" altLang="en-US" sz="2398" dirty="0">
              <a:latin typeface="Times New Roman" panose="02020603050405020304" pitchFamily="18" charset="0"/>
              <a:cs typeface="Times New Roman" panose="02020603050405020304" pitchFamily="18" charset="0"/>
            </a:endParaRPr>
          </a:p>
          <a:p>
            <a:pPr algn="just">
              <a:buFontTx/>
              <a:buChar char="•"/>
            </a:pPr>
            <a:r>
              <a:rPr lang="en-US" altLang="en-US" sz="2398" b="1" dirty="0">
                <a:latin typeface="Times New Roman" panose="02020603050405020304" pitchFamily="18" charset="0"/>
                <a:cs typeface="Times New Roman" panose="02020603050405020304" pitchFamily="18" charset="0"/>
              </a:rPr>
              <a:t>Old systems</a:t>
            </a:r>
            <a:r>
              <a:rPr lang="en-US" altLang="en-US" sz="2398" dirty="0">
                <a:latin typeface="Times New Roman" panose="02020603050405020304" pitchFamily="18" charset="0"/>
                <a:cs typeface="Times New Roman" panose="02020603050405020304" pitchFamily="18" charset="0"/>
              </a:rPr>
              <a:t> – Insurance companies often use outdated systems where data is stored separately, making it slow to find and update customer information.</a:t>
            </a:r>
          </a:p>
          <a:p>
            <a:pPr algn="just">
              <a:buFontTx/>
              <a:buChar char="•"/>
            </a:pPr>
            <a:endParaRPr lang="en-US" altLang="en-US" sz="2398"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6309" rIns="0" bIns="0" rtlCol="0">
            <a:spAutoFit/>
          </a:bodyPr>
          <a:lstStyle/>
          <a:p>
            <a:pPr marL="381000">
              <a:lnSpc>
                <a:spcPct val="100000"/>
              </a:lnSpc>
              <a:spcBef>
                <a:spcPts val="100"/>
              </a:spcBef>
            </a:pPr>
            <a:r>
              <a:t>Problem</a:t>
            </a:r>
            <a:r>
              <a:rPr spc="-210"/>
              <a:t> </a:t>
            </a:r>
            <a:r>
              <a:rPr spc="-10"/>
              <a:t>Definition</a:t>
            </a:r>
          </a:p>
        </p:txBody>
      </p:sp>
      <p:sp>
        <p:nvSpPr>
          <p:cNvPr id="8" name="TextBox 7">
            <a:extLst>
              <a:ext uri="{FF2B5EF4-FFF2-40B4-BE49-F238E27FC236}">
                <a16:creationId xmlns:a16="http://schemas.microsoft.com/office/drawing/2014/main" id="{8B4A616E-9C8A-92ED-4738-455680041AF2}"/>
              </a:ext>
            </a:extLst>
          </p:cNvPr>
          <p:cNvSpPr txBox="1"/>
          <p:nvPr/>
        </p:nvSpPr>
        <p:spPr>
          <a:xfrm>
            <a:off x="490537" y="1538343"/>
            <a:ext cx="9580562" cy="4889480"/>
          </a:xfrm>
          <a:prstGeom prst="rect">
            <a:avLst/>
          </a:prstGeom>
          <a:noFill/>
        </p:spPr>
        <p:txBody>
          <a:bodyPr wrap="square">
            <a:spAutoFit/>
          </a:bodyPr>
          <a:lstStyle/>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Difficulty in selecting suitable insurance policies due to lack of recommendations.</a:t>
            </a:r>
          </a:p>
          <a:p>
            <a:pPr marL="285750" indent="-285750">
              <a:buFont typeface="Arial" panose="020B0604020202020204" pitchFamily="34" charset="0"/>
              <a:buChar char="•"/>
            </a:pPr>
            <a:endParaRPr lang="en-US" sz="2398"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Manual verification processes leading to errors and weak fraud detection.</a:t>
            </a:r>
          </a:p>
          <a:p>
            <a:pPr marL="285750" indent="-285750">
              <a:buFont typeface="Arial" panose="020B0604020202020204" pitchFamily="34" charset="0"/>
              <a:buChar char="•"/>
            </a:pPr>
            <a:endParaRPr lang="en-US" sz="2398"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Slow claim settlement and outdated payment methods.</a:t>
            </a:r>
          </a:p>
          <a:p>
            <a:pPr marL="285750" indent="-285750">
              <a:buFont typeface="Arial" panose="020B0604020202020204" pitchFamily="34" charset="0"/>
              <a:buChar char="•"/>
            </a:pPr>
            <a:endParaRPr lang="en-US" sz="2398"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Lack of AI-based tools like OCR, fraud detection, and chatbots.</a:t>
            </a:r>
          </a:p>
          <a:p>
            <a:pPr marL="285750" indent="-285750">
              <a:buFont typeface="Arial" panose="020B0604020202020204" pitchFamily="34" charset="0"/>
              <a:buChar char="•"/>
            </a:pPr>
            <a:endParaRPr lang="en-US" sz="2398"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Complex and non-user-friendly insurance websites.</a:t>
            </a:r>
          </a:p>
          <a:p>
            <a:pPr marL="285750" indent="-285750">
              <a:buFont typeface="Arial" panose="020B0604020202020204" pitchFamily="34" charset="0"/>
              <a:buChar char="•"/>
            </a:pPr>
            <a:endParaRPr lang="en-US" sz="2398"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398" dirty="0">
                <a:solidFill>
                  <a:schemeClr val="tx1"/>
                </a:solidFill>
                <a:latin typeface="Times New Roman" panose="02020603050405020304" pitchFamily="18" charset="0"/>
                <a:cs typeface="Times New Roman" panose="02020603050405020304" pitchFamily="18" charset="0"/>
              </a:rPr>
              <a:t>Need for an intelligent platform to automate processes and improve efficiency.</a:t>
            </a:r>
            <a:endParaRPr lang="en-IN" sz="2398"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8128AE-737B-918E-C329-D82B540CB54E}"/>
              </a:ext>
            </a:extLst>
          </p:cNvPr>
          <p:cNvSpPr txBox="1">
            <a:spLocks/>
          </p:cNvSpPr>
          <p:nvPr/>
        </p:nvSpPr>
        <p:spPr bwMode="auto">
          <a:xfrm>
            <a:off x="575719" y="657001"/>
            <a:ext cx="6991088" cy="862784"/>
          </a:xfrm>
          <a:prstGeom prst="rect">
            <a:avLst/>
          </a:prstGeom>
          <a:noFill/>
          <a:ln>
            <a:noFill/>
          </a:ln>
        </p:spPr>
        <p:txBody>
          <a:bodyPr/>
          <a:lstStyle>
            <a:lvl1pPr algn="l" defTabSz="503238" rtl="0" eaLnBrk="0" fontAlgn="base" hangingPunct="0">
              <a:spcBef>
                <a:spcPct val="0"/>
              </a:spcBef>
              <a:spcAft>
                <a:spcPct val="0"/>
              </a:spcAft>
              <a:defRPr sz="3968"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IN" altLang="en-US" sz="3597"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Scope</a:t>
            </a:r>
            <a:endParaRPr lang="en-IN" sz="3597"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22531" name="Rectangle 5">
            <a:extLst>
              <a:ext uri="{FF2B5EF4-FFF2-40B4-BE49-F238E27FC236}">
                <a16:creationId xmlns:a16="http://schemas.microsoft.com/office/drawing/2014/main" id="{A72CAF0B-D529-27AD-0171-C16A1A1226C2}"/>
              </a:ext>
            </a:extLst>
          </p:cNvPr>
          <p:cNvSpPr>
            <a:spLocks noChangeArrowheads="1"/>
          </p:cNvSpPr>
          <p:nvPr/>
        </p:nvSpPr>
        <p:spPr bwMode="auto">
          <a:xfrm>
            <a:off x="575719" y="1772186"/>
            <a:ext cx="9351056" cy="4889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buFontTx/>
              <a:buChar char="•"/>
            </a:pPr>
            <a:r>
              <a:rPr lang="en-US" altLang="en-US" sz="2398" b="1" dirty="0">
                <a:latin typeface="Times New Roman" panose="02020603050405020304" pitchFamily="18" charset="0"/>
                <a:cs typeface="Times New Roman" panose="02020603050405020304" pitchFamily="18" charset="0"/>
              </a:rPr>
              <a:t>Easy Policy Selection</a:t>
            </a:r>
            <a:r>
              <a:rPr lang="en-US" altLang="en-US" sz="2398" dirty="0">
                <a:latin typeface="Times New Roman" panose="02020603050405020304" pitchFamily="18" charset="0"/>
                <a:cs typeface="Times New Roman" panose="02020603050405020304" pitchFamily="18" charset="0"/>
              </a:rPr>
              <a:t> – A simple interface with clear language and AI-driven recommendations to help users choose the best policy for their needs.</a:t>
            </a:r>
          </a:p>
          <a:p>
            <a:pPr algn="just">
              <a:buFontTx/>
              <a:buChar char="•"/>
            </a:pPr>
            <a:endParaRPr lang="en-US" altLang="en-US" sz="2398" dirty="0">
              <a:latin typeface="Times New Roman" panose="02020603050405020304" pitchFamily="18" charset="0"/>
              <a:cs typeface="Times New Roman" panose="02020603050405020304" pitchFamily="18" charset="0"/>
            </a:endParaRPr>
          </a:p>
          <a:p>
            <a:pPr algn="just">
              <a:buFontTx/>
              <a:buChar char="•"/>
            </a:pPr>
            <a:r>
              <a:rPr lang="en-US" altLang="en-US" sz="2398" b="1" dirty="0">
                <a:latin typeface="Times New Roman" panose="02020603050405020304" pitchFamily="18" charset="0"/>
                <a:cs typeface="Times New Roman" panose="02020603050405020304" pitchFamily="18" charset="0"/>
              </a:rPr>
              <a:t>Secure Identity Verification</a:t>
            </a:r>
            <a:r>
              <a:rPr lang="en-US" altLang="en-US" sz="2398" dirty="0">
                <a:latin typeface="Times New Roman" panose="02020603050405020304" pitchFamily="18" charset="0"/>
                <a:cs typeface="Times New Roman" panose="02020603050405020304" pitchFamily="18" charset="0"/>
              </a:rPr>
              <a:t> – Facial recognition and document scanning to confirm user identity quickly and safely.</a:t>
            </a:r>
          </a:p>
          <a:p>
            <a:pPr algn="just">
              <a:buFontTx/>
              <a:buChar char="•"/>
            </a:pPr>
            <a:endParaRPr lang="en-US" altLang="en-US" sz="2398" dirty="0">
              <a:latin typeface="Times New Roman" panose="02020603050405020304" pitchFamily="18" charset="0"/>
              <a:cs typeface="Times New Roman" panose="02020603050405020304" pitchFamily="18" charset="0"/>
            </a:endParaRPr>
          </a:p>
          <a:p>
            <a:pPr algn="just">
              <a:buFontTx/>
              <a:buChar char="•"/>
            </a:pPr>
            <a:r>
              <a:rPr lang="en-US" altLang="en-US" sz="2398" b="1" dirty="0">
                <a:latin typeface="Times New Roman" panose="02020603050405020304" pitchFamily="18" charset="0"/>
                <a:cs typeface="Times New Roman" panose="02020603050405020304" pitchFamily="18" charset="0"/>
              </a:rPr>
              <a:t>Fast Document Verification</a:t>
            </a:r>
            <a:r>
              <a:rPr lang="en-US" altLang="en-US" sz="2398" dirty="0">
                <a:latin typeface="Times New Roman" panose="02020603050405020304" pitchFamily="18" charset="0"/>
                <a:cs typeface="Times New Roman" panose="02020603050405020304" pitchFamily="18" charset="0"/>
              </a:rPr>
              <a:t> – AI-based OCR and image analysis to check the authenticity of identity documents without manual delays.</a:t>
            </a:r>
          </a:p>
          <a:p>
            <a:pPr algn="just">
              <a:buFontTx/>
              <a:buChar char="•"/>
            </a:pPr>
            <a:endParaRPr lang="en-US" altLang="en-US" sz="2398" dirty="0">
              <a:latin typeface="Times New Roman" panose="02020603050405020304" pitchFamily="18" charset="0"/>
              <a:cs typeface="Times New Roman" panose="02020603050405020304" pitchFamily="18" charset="0"/>
            </a:endParaRPr>
          </a:p>
          <a:p>
            <a:pPr algn="just">
              <a:buFontTx/>
              <a:buChar char="•"/>
            </a:pPr>
            <a:r>
              <a:rPr lang="en-US" altLang="en-US" sz="2398" b="1" dirty="0">
                <a:latin typeface="Times New Roman" panose="02020603050405020304" pitchFamily="18" charset="0"/>
                <a:cs typeface="Times New Roman" panose="02020603050405020304" pitchFamily="18" charset="0"/>
              </a:rPr>
              <a:t>Smart Claim Processing</a:t>
            </a:r>
            <a:r>
              <a:rPr lang="en-US" altLang="en-US" sz="2398" dirty="0">
                <a:latin typeface="Times New Roman" panose="02020603050405020304" pitchFamily="18" charset="0"/>
                <a:cs typeface="Times New Roman" panose="02020603050405020304" pitchFamily="18" charset="0"/>
              </a:rPr>
              <a:t> – AI tools to analyze claim images/documents, detect fraud, and approve genuine claims faster.</a:t>
            </a:r>
          </a:p>
          <a:p>
            <a:pPr algn="just"/>
            <a:endParaRPr lang="en-US" altLang="en-US" sz="2398"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798" rIns="0" bIns="0" rtlCol="0">
            <a:spAutoFit/>
          </a:bodyPr>
          <a:lstStyle/>
          <a:p>
            <a:pPr marL="12700">
              <a:lnSpc>
                <a:spcPct val="100000"/>
              </a:lnSpc>
              <a:spcBef>
                <a:spcPts val="100"/>
              </a:spcBef>
            </a:pPr>
            <a:r>
              <a:rPr spc="-20"/>
              <a:t>Technological</a:t>
            </a:r>
            <a:r>
              <a:rPr spc="-155"/>
              <a:t> </a:t>
            </a:r>
            <a:r>
              <a:rPr spc="-20"/>
              <a:t>Stack</a:t>
            </a:r>
          </a:p>
        </p:txBody>
      </p:sp>
      <p:sp>
        <p:nvSpPr>
          <p:cNvPr id="3" name="object 3"/>
          <p:cNvSpPr txBox="1"/>
          <p:nvPr/>
        </p:nvSpPr>
        <p:spPr>
          <a:xfrm>
            <a:off x="615950" y="1479840"/>
            <a:ext cx="9296400" cy="4765407"/>
          </a:xfrm>
          <a:prstGeom prst="rect">
            <a:avLst/>
          </a:prstGeom>
        </p:spPr>
        <p:txBody>
          <a:bodyPr vert="horz" wrap="square" lIns="0" tIns="12700" rIns="0" bIns="0" rtlCol="0">
            <a:spAutoFit/>
          </a:bodyPr>
          <a:lstStyle/>
          <a:p>
            <a:r>
              <a:rPr lang="en-IN" sz="2200" b="1" dirty="0">
                <a:latin typeface="Times New Roman" panose="02020603050405020304" pitchFamily="18" charset="0"/>
                <a:cs typeface="Times New Roman" panose="02020603050405020304" pitchFamily="18" charset="0"/>
              </a:rPr>
              <a:t>Frontend Technologies :</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HTML5, CSS3, JavaScript</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Bootstrap 5.3.7</a:t>
            </a:r>
          </a:p>
          <a:p>
            <a:r>
              <a:rPr lang="en-IN" sz="2200" dirty="0">
                <a:latin typeface="Times New Roman" panose="02020603050405020304" pitchFamily="18" charset="0"/>
                <a:cs typeface="Times New Roman" panose="02020603050405020304" pitchFamily="18" charset="0"/>
              </a:rPr>
              <a:t> </a:t>
            </a:r>
          </a:p>
          <a:p>
            <a:r>
              <a:rPr lang="en-IN" sz="2200" b="1" dirty="0">
                <a:latin typeface="Times New Roman" panose="02020603050405020304" pitchFamily="18" charset="0"/>
                <a:cs typeface="Times New Roman" panose="02020603050405020304" pitchFamily="18" charset="0"/>
              </a:rPr>
              <a:t>Backend Technologies :</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Python 3.13.1</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Flask 3.1.2</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MongoDB 1.46.11</a:t>
            </a:r>
          </a:p>
          <a:p>
            <a:r>
              <a:rPr lang="en-IN" sz="2200" dirty="0">
                <a:latin typeface="Times New Roman" panose="02020603050405020304" pitchFamily="18" charset="0"/>
                <a:cs typeface="Times New Roman" panose="02020603050405020304" pitchFamily="18" charset="0"/>
              </a:rPr>
              <a:t> </a:t>
            </a:r>
          </a:p>
          <a:p>
            <a:r>
              <a:rPr lang="en-IN" sz="2200" b="1" dirty="0">
                <a:latin typeface="Times New Roman" panose="02020603050405020304" pitchFamily="18" charset="0"/>
                <a:cs typeface="Times New Roman" panose="02020603050405020304" pitchFamily="18" charset="0"/>
              </a:rPr>
              <a:t>Model Used:</a:t>
            </a: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Deepface</a:t>
            </a:r>
            <a:endParaRPr lang="en-IN" sz="2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Optical Character Recognition (OCR)</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YOLO11 </a:t>
            </a:r>
          </a:p>
          <a:p>
            <a:pPr marL="316865" marR="5080" indent="-304800" algn="just">
              <a:lnSpc>
                <a:spcPct val="100000"/>
              </a:lnSpc>
              <a:spcBef>
                <a:spcPts val="100"/>
              </a:spcBef>
              <a:buFont typeface="Microsoft Sans Serif"/>
              <a:buChar char="•"/>
              <a:tabLst>
                <a:tab pos="316865" algn="l"/>
                <a:tab pos="318770" algn="l"/>
              </a:tabLst>
            </a:pP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2" y="663906"/>
            <a:ext cx="9848215" cy="513080"/>
          </a:xfrm>
          <a:prstGeom prst="rect">
            <a:avLst/>
          </a:prstGeom>
        </p:spPr>
        <p:txBody>
          <a:bodyPr vert="horz" wrap="square" lIns="0" tIns="12700" rIns="0" bIns="0" rtlCol="0">
            <a:spAutoFit/>
          </a:bodyPr>
          <a:lstStyle/>
          <a:p>
            <a:pPr marL="12700">
              <a:lnSpc>
                <a:spcPct val="100000"/>
              </a:lnSpc>
              <a:spcBef>
                <a:spcPts val="100"/>
              </a:spcBef>
            </a:pPr>
            <a:r>
              <a:rPr sz="3200"/>
              <a:t>Proposed</a:t>
            </a:r>
            <a:r>
              <a:rPr sz="3200" spc="-85"/>
              <a:t> </a:t>
            </a:r>
            <a:r>
              <a:rPr sz="3200"/>
              <a:t>system</a:t>
            </a:r>
            <a:r>
              <a:rPr sz="3200" spc="-80"/>
              <a:t> </a:t>
            </a:r>
            <a:r>
              <a:rPr sz="3200" spc="-20"/>
              <a:t>architecture/Working/Module</a:t>
            </a:r>
            <a:r>
              <a:rPr sz="3200" spc="-85"/>
              <a:t> </a:t>
            </a:r>
            <a:r>
              <a:rPr sz="3200" spc="-10"/>
              <a:t>Diagram</a:t>
            </a:r>
            <a:endParaRPr sz="3200"/>
          </a:p>
        </p:txBody>
      </p:sp>
      <p:pic>
        <p:nvPicPr>
          <p:cNvPr id="5" name="Picture 4">
            <a:extLst>
              <a:ext uri="{FF2B5EF4-FFF2-40B4-BE49-F238E27FC236}">
                <a16:creationId xmlns:a16="http://schemas.microsoft.com/office/drawing/2014/main" id="{2F089616-8BE3-8B11-E95D-D6E6D8E78A10}"/>
              </a:ext>
            </a:extLst>
          </p:cNvPr>
          <p:cNvPicPr>
            <a:picLocks noChangeAspect="1"/>
          </p:cNvPicPr>
          <p:nvPr/>
        </p:nvPicPr>
        <p:blipFill>
          <a:blip r:embed="rId3">
            <a:extLst>
              <a:ext uri="{28A0092B-C50C-407E-A947-70E740481C1C}">
                <a14:useLocalDpi xmlns:a14="http://schemas.microsoft.com/office/drawing/2010/main" val="0"/>
              </a:ext>
            </a:extLst>
          </a:blip>
          <a:srcRect l="15809" t="1" r="16256" b="-893"/>
          <a:stretch>
            <a:fillRect/>
          </a:stretch>
        </p:blipFill>
        <p:spPr>
          <a:xfrm>
            <a:off x="1129553" y="1273803"/>
            <a:ext cx="6841863" cy="57156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0A80-D25D-8921-27FE-3EDF6050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E55ED-8C82-776A-0085-B901B263F70D}"/>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D51F847A-9280-FA16-81F6-B4F0395FEDAD}"/>
              </a:ext>
            </a:extLst>
          </p:cNvPr>
          <p:cNvSpPr txBox="1"/>
          <p:nvPr/>
        </p:nvSpPr>
        <p:spPr>
          <a:xfrm>
            <a:off x="96752" y="6282465"/>
            <a:ext cx="9187030" cy="369332"/>
          </a:xfrm>
          <a:prstGeom prst="rect">
            <a:avLst/>
          </a:prstGeom>
          <a:noFill/>
        </p:spPr>
        <p:txBody>
          <a:bodyPr wrap="square" rtlCol="0">
            <a:spAutoFit/>
          </a:bodyPr>
          <a:lstStyle/>
          <a:p>
            <a:pPr algn="ctr"/>
            <a:r>
              <a:rPr lang="en-US" dirty="0"/>
              <a:t>Fig. 1.1: Landing Page</a:t>
            </a:r>
            <a:endParaRPr lang="en-IN" dirty="0"/>
          </a:p>
        </p:txBody>
      </p:sp>
      <p:pic>
        <p:nvPicPr>
          <p:cNvPr id="9" name="Picture 8">
            <a:extLst>
              <a:ext uri="{FF2B5EF4-FFF2-40B4-BE49-F238E27FC236}">
                <a16:creationId xmlns:a16="http://schemas.microsoft.com/office/drawing/2014/main" id="{5DC87EEA-E678-4FDB-EB79-2E13AA07F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11" y="1759918"/>
            <a:ext cx="8969633" cy="4221333"/>
          </a:xfrm>
          <a:prstGeom prst="rect">
            <a:avLst/>
          </a:prstGeom>
        </p:spPr>
      </p:pic>
    </p:spTree>
    <p:extLst>
      <p:ext uri="{BB962C8B-B14F-4D97-AF65-F5344CB8AC3E}">
        <p14:creationId xmlns:p14="http://schemas.microsoft.com/office/powerpoint/2010/main" val="157066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44153-C14E-695E-EB2A-1BF04C4DA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C8A5A-2782-A7DC-F4D1-AF951D6F4BEA}"/>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F6E7F995-3B04-4877-F582-5E61300E7A2A}"/>
              </a:ext>
            </a:extLst>
          </p:cNvPr>
          <p:cNvSpPr txBox="1"/>
          <p:nvPr/>
        </p:nvSpPr>
        <p:spPr>
          <a:xfrm>
            <a:off x="96752" y="6282465"/>
            <a:ext cx="9187030" cy="369332"/>
          </a:xfrm>
          <a:prstGeom prst="rect">
            <a:avLst/>
          </a:prstGeom>
          <a:noFill/>
        </p:spPr>
        <p:txBody>
          <a:bodyPr wrap="square" rtlCol="0">
            <a:spAutoFit/>
          </a:bodyPr>
          <a:lstStyle/>
          <a:p>
            <a:pPr algn="ctr"/>
            <a:r>
              <a:rPr lang="en-US" dirty="0"/>
              <a:t>Fig. 1.2: Face Verification</a:t>
            </a:r>
            <a:endParaRPr lang="en-IN" dirty="0"/>
          </a:p>
        </p:txBody>
      </p:sp>
      <p:pic>
        <p:nvPicPr>
          <p:cNvPr id="4" name="Picture 3">
            <a:extLst>
              <a:ext uri="{FF2B5EF4-FFF2-40B4-BE49-F238E27FC236}">
                <a16:creationId xmlns:a16="http://schemas.microsoft.com/office/drawing/2014/main" id="{A5C56775-9B35-459D-3341-1C2A2FD5B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641" y="2182965"/>
            <a:ext cx="8050812" cy="4050636"/>
          </a:xfrm>
          <a:prstGeom prst="rect">
            <a:avLst/>
          </a:prstGeom>
        </p:spPr>
      </p:pic>
    </p:spTree>
    <p:extLst>
      <p:ext uri="{BB962C8B-B14F-4D97-AF65-F5344CB8AC3E}">
        <p14:creationId xmlns:p14="http://schemas.microsoft.com/office/powerpoint/2010/main" val="1512634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19F3-5D6F-91B9-DF57-4C43BAB23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16A66-2E1B-DFF5-730D-F944F70EEED2}"/>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5B25E394-0CFE-D86D-37B5-9D2A047FCC42}"/>
              </a:ext>
            </a:extLst>
          </p:cNvPr>
          <p:cNvSpPr txBox="1"/>
          <p:nvPr/>
        </p:nvSpPr>
        <p:spPr>
          <a:xfrm>
            <a:off x="354438" y="6461918"/>
            <a:ext cx="9187030" cy="369332"/>
          </a:xfrm>
          <a:prstGeom prst="rect">
            <a:avLst/>
          </a:prstGeom>
          <a:noFill/>
        </p:spPr>
        <p:txBody>
          <a:bodyPr wrap="square" rtlCol="0">
            <a:spAutoFit/>
          </a:bodyPr>
          <a:lstStyle/>
          <a:p>
            <a:pPr algn="ctr"/>
            <a:r>
              <a:rPr lang="en-US" dirty="0"/>
              <a:t>Fig. 1.3 Policies Page</a:t>
            </a:r>
            <a:endParaRPr lang="en-IN" dirty="0"/>
          </a:p>
        </p:txBody>
      </p:sp>
      <p:pic>
        <p:nvPicPr>
          <p:cNvPr id="4" name="Picture 3">
            <a:extLst>
              <a:ext uri="{FF2B5EF4-FFF2-40B4-BE49-F238E27FC236}">
                <a16:creationId xmlns:a16="http://schemas.microsoft.com/office/drawing/2014/main" id="{8187012A-1824-084D-BEF4-2C3E1CDD4660}"/>
              </a:ext>
            </a:extLst>
          </p:cNvPr>
          <p:cNvPicPr>
            <a:picLocks noChangeAspect="1"/>
          </p:cNvPicPr>
          <p:nvPr/>
        </p:nvPicPr>
        <p:blipFill>
          <a:blip r:embed="rId2"/>
          <a:stretch>
            <a:fillRect/>
          </a:stretch>
        </p:blipFill>
        <p:spPr>
          <a:xfrm>
            <a:off x="561656" y="1566453"/>
            <a:ext cx="9084654" cy="4423593"/>
          </a:xfrm>
          <a:prstGeom prst="rect">
            <a:avLst/>
          </a:prstGeom>
        </p:spPr>
      </p:pic>
    </p:spTree>
    <p:extLst>
      <p:ext uri="{BB962C8B-B14F-4D97-AF65-F5344CB8AC3E}">
        <p14:creationId xmlns:p14="http://schemas.microsoft.com/office/powerpoint/2010/main" val="1176434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2166B-B034-8EFF-FD3A-870969B85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965EF-CF0D-C3BE-8E2F-26E5A7613ED0}"/>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26B07575-D40D-6368-1819-8E9AB03A7827}"/>
              </a:ext>
            </a:extLst>
          </p:cNvPr>
          <p:cNvSpPr txBox="1"/>
          <p:nvPr/>
        </p:nvSpPr>
        <p:spPr>
          <a:xfrm>
            <a:off x="96752" y="6282465"/>
            <a:ext cx="9187030" cy="369332"/>
          </a:xfrm>
          <a:prstGeom prst="rect">
            <a:avLst/>
          </a:prstGeom>
          <a:noFill/>
        </p:spPr>
        <p:txBody>
          <a:bodyPr wrap="square" rtlCol="0">
            <a:spAutoFit/>
          </a:bodyPr>
          <a:lstStyle/>
          <a:p>
            <a:pPr algn="ctr"/>
            <a:r>
              <a:rPr lang="en-US" dirty="0"/>
              <a:t>Fig. 1.4: Application For Policies</a:t>
            </a:r>
            <a:endParaRPr lang="en-IN" dirty="0"/>
          </a:p>
        </p:txBody>
      </p:sp>
      <p:pic>
        <p:nvPicPr>
          <p:cNvPr id="5" name="Picture 4">
            <a:extLst>
              <a:ext uri="{FF2B5EF4-FFF2-40B4-BE49-F238E27FC236}">
                <a16:creationId xmlns:a16="http://schemas.microsoft.com/office/drawing/2014/main" id="{A21DC225-1496-ABCD-A44F-D3129F642467}"/>
              </a:ext>
            </a:extLst>
          </p:cNvPr>
          <p:cNvPicPr>
            <a:picLocks noChangeAspect="1"/>
          </p:cNvPicPr>
          <p:nvPr/>
        </p:nvPicPr>
        <p:blipFill>
          <a:blip r:embed="rId2"/>
          <a:stretch>
            <a:fillRect/>
          </a:stretch>
        </p:blipFill>
        <p:spPr>
          <a:xfrm>
            <a:off x="398033" y="1452282"/>
            <a:ext cx="9391426" cy="4711850"/>
          </a:xfrm>
          <a:prstGeom prst="rect">
            <a:avLst/>
          </a:prstGeom>
        </p:spPr>
      </p:pic>
    </p:spTree>
    <p:extLst>
      <p:ext uri="{BB962C8B-B14F-4D97-AF65-F5344CB8AC3E}">
        <p14:creationId xmlns:p14="http://schemas.microsoft.com/office/powerpoint/2010/main" val="391099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BC3D-842D-917D-D086-239F9A0B04C2}"/>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4A3C54B2-7750-D41E-12CD-FD2450CC250C}"/>
              </a:ext>
            </a:extLst>
          </p:cNvPr>
          <p:cNvSpPr txBox="1"/>
          <p:nvPr/>
        </p:nvSpPr>
        <p:spPr>
          <a:xfrm>
            <a:off x="96752" y="6282465"/>
            <a:ext cx="9187030" cy="369332"/>
          </a:xfrm>
          <a:prstGeom prst="rect">
            <a:avLst/>
          </a:prstGeom>
          <a:noFill/>
        </p:spPr>
        <p:txBody>
          <a:bodyPr wrap="square" rtlCol="0">
            <a:spAutoFit/>
          </a:bodyPr>
          <a:lstStyle/>
          <a:p>
            <a:pPr algn="ctr"/>
            <a:r>
              <a:rPr lang="en-US" dirty="0"/>
              <a:t>Fig. 1.5: AI Claims</a:t>
            </a:r>
            <a:endParaRPr lang="en-IN" dirty="0"/>
          </a:p>
        </p:txBody>
      </p:sp>
      <p:pic>
        <p:nvPicPr>
          <p:cNvPr id="4" name="Picture 3">
            <a:extLst>
              <a:ext uri="{FF2B5EF4-FFF2-40B4-BE49-F238E27FC236}">
                <a16:creationId xmlns:a16="http://schemas.microsoft.com/office/drawing/2014/main" id="{7280F54D-84EC-4B29-1F1B-A008EB4B2CD1}"/>
              </a:ext>
            </a:extLst>
          </p:cNvPr>
          <p:cNvPicPr>
            <a:picLocks noChangeAspect="1"/>
          </p:cNvPicPr>
          <p:nvPr/>
        </p:nvPicPr>
        <p:blipFill>
          <a:blip r:embed="rId2"/>
          <a:stretch>
            <a:fillRect/>
          </a:stretch>
        </p:blipFill>
        <p:spPr>
          <a:xfrm>
            <a:off x="561656" y="1540023"/>
            <a:ext cx="8993393" cy="4430471"/>
          </a:xfrm>
          <a:prstGeom prst="rect">
            <a:avLst/>
          </a:prstGeom>
        </p:spPr>
      </p:pic>
    </p:spTree>
    <p:extLst>
      <p:ext uri="{BB962C8B-B14F-4D97-AF65-F5344CB8AC3E}">
        <p14:creationId xmlns:p14="http://schemas.microsoft.com/office/powerpoint/2010/main" val="25955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070E-5716-C419-9067-3F8156167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4D44D-CE41-C755-9F66-3DE08C1822BE}"/>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A5B58CCE-5431-19CD-8F1E-346684F520B7}"/>
              </a:ext>
            </a:extLst>
          </p:cNvPr>
          <p:cNvSpPr txBox="1"/>
          <p:nvPr/>
        </p:nvSpPr>
        <p:spPr>
          <a:xfrm>
            <a:off x="96752" y="6282465"/>
            <a:ext cx="9187030" cy="369332"/>
          </a:xfrm>
          <a:prstGeom prst="rect">
            <a:avLst/>
          </a:prstGeom>
          <a:noFill/>
        </p:spPr>
        <p:txBody>
          <a:bodyPr wrap="square" rtlCol="0">
            <a:spAutoFit/>
          </a:bodyPr>
          <a:lstStyle/>
          <a:p>
            <a:pPr algn="ctr"/>
            <a:r>
              <a:rPr lang="en-US" dirty="0"/>
              <a:t>Fig. 1.6: Admin Panel</a:t>
            </a:r>
            <a:endParaRPr lang="en-IN" dirty="0"/>
          </a:p>
        </p:txBody>
      </p:sp>
      <p:pic>
        <p:nvPicPr>
          <p:cNvPr id="4" name="Picture 3">
            <a:extLst>
              <a:ext uri="{FF2B5EF4-FFF2-40B4-BE49-F238E27FC236}">
                <a16:creationId xmlns:a16="http://schemas.microsoft.com/office/drawing/2014/main" id="{FBE10BCC-E574-C041-BF13-0086B776B117}"/>
              </a:ext>
            </a:extLst>
          </p:cNvPr>
          <p:cNvPicPr>
            <a:picLocks noChangeAspect="1"/>
          </p:cNvPicPr>
          <p:nvPr/>
        </p:nvPicPr>
        <p:blipFill>
          <a:blip r:embed="rId2"/>
          <a:stretch>
            <a:fillRect/>
          </a:stretch>
        </p:blipFill>
        <p:spPr>
          <a:xfrm>
            <a:off x="561656" y="1614226"/>
            <a:ext cx="9359153" cy="4539148"/>
          </a:xfrm>
          <a:prstGeom prst="rect">
            <a:avLst/>
          </a:prstGeom>
        </p:spPr>
      </p:pic>
    </p:spTree>
    <p:extLst>
      <p:ext uri="{BB962C8B-B14F-4D97-AF65-F5344CB8AC3E}">
        <p14:creationId xmlns:p14="http://schemas.microsoft.com/office/powerpoint/2010/main" val="424138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EDE48-F2F1-06F9-1766-30C67AFC2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A8AC-2580-848C-FABA-A81DF3E50708}"/>
              </a:ext>
            </a:extLst>
          </p:cNvPr>
          <p:cNvSpPr>
            <a:spLocks noGrp="1"/>
          </p:cNvSpPr>
          <p:nvPr>
            <p:ph type="title"/>
          </p:nvPr>
        </p:nvSpPr>
        <p:spPr>
          <a:xfrm>
            <a:off x="561656" y="761094"/>
            <a:ext cx="8257223" cy="1148985"/>
          </a:xfrm>
        </p:spPr>
        <p:txBody>
          <a:bodyPr/>
          <a:lstStyle/>
          <a:p>
            <a:r>
              <a:rPr lang="en-IN" dirty="0"/>
              <a:t>Prototype Design Demonstration</a:t>
            </a:r>
          </a:p>
        </p:txBody>
      </p:sp>
      <p:sp>
        <p:nvSpPr>
          <p:cNvPr id="6" name="TextBox 5">
            <a:extLst>
              <a:ext uri="{FF2B5EF4-FFF2-40B4-BE49-F238E27FC236}">
                <a16:creationId xmlns:a16="http://schemas.microsoft.com/office/drawing/2014/main" id="{FED06A75-DED8-1171-A03F-F76E43197F26}"/>
              </a:ext>
            </a:extLst>
          </p:cNvPr>
          <p:cNvSpPr txBox="1"/>
          <p:nvPr/>
        </p:nvSpPr>
        <p:spPr>
          <a:xfrm>
            <a:off x="96752" y="6282465"/>
            <a:ext cx="9187030" cy="369332"/>
          </a:xfrm>
          <a:prstGeom prst="rect">
            <a:avLst/>
          </a:prstGeom>
          <a:noFill/>
        </p:spPr>
        <p:txBody>
          <a:bodyPr wrap="square" rtlCol="0">
            <a:spAutoFit/>
          </a:bodyPr>
          <a:lstStyle/>
          <a:p>
            <a:pPr algn="ctr"/>
            <a:r>
              <a:rPr lang="en-US" dirty="0"/>
              <a:t>Fig. 1.7: Profile Page </a:t>
            </a:r>
            <a:endParaRPr lang="en-IN" dirty="0"/>
          </a:p>
        </p:txBody>
      </p:sp>
      <p:pic>
        <p:nvPicPr>
          <p:cNvPr id="8" name="Picture 7">
            <a:extLst>
              <a:ext uri="{FF2B5EF4-FFF2-40B4-BE49-F238E27FC236}">
                <a16:creationId xmlns:a16="http://schemas.microsoft.com/office/drawing/2014/main" id="{C15AE8A0-39ED-8246-1BFF-520DD8BC2901}"/>
              </a:ext>
            </a:extLst>
          </p:cNvPr>
          <p:cNvPicPr>
            <a:picLocks noChangeAspect="1"/>
          </p:cNvPicPr>
          <p:nvPr/>
        </p:nvPicPr>
        <p:blipFill>
          <a:blip r:embed="rId2"/>
          <a:stretch>
            <a:fillRect/>
          </a:stretch>
        </p:blipFill>
        <p:spPr>
          <a:xfrm>
            <a:off x="561656" y="1610584"/>
            <a:ext cx="8930760" cy="4335332"/>
          </a:xfrm>
          <a:prstGeom prst="rect">
            <a:avLst/>
          </a:prstGeom>
        </p:spPr>
      </p:pic>
    </p:spTree>
    <p:extLst>
      <p:ext uri="{BB962C8B-B14F-4D97-AF65-F5344CB8AC3E}">
        <p14:creationId xmlns:p14="http://schemas.microsoft.com/office/powerpoint/2010/main" val="238640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798" rIns="0" bIns="0" rtlCol="0">
            <a:spAutoFit/>
          </a:bodyPr>
          <a:lstStyle/>
          <a:p>
            <a:pPr marL="12700">
              <a:lnSpc>
                <a:spcPct val="100000"/>
              </a:lnSpc>
              <a:spcBef>
                <a:spcPts val="100"/>
              </a:spcBef>
            </a:pPr>
            <a:r>
              <a:rPr spc="-10"/>
              <a:t>References</a:t>
            </a:r>
          </a:p>
        </p:txBody>
      </p:sp>
      <p:sp>
        <p:nvSpPr>
          <p:cNvPr id="5" name="TextBox 4">
            <a:extLst>
              <a:ext uri="{FF2B5EF4-FFF2-40B4-BE49-F238E27FC236}">
                <a16:creationId xmlns:a16="http://schemas.microsoft.com/office/drawing/2014/main" id="{00D3C393-0BB4-4DBE-25D3-5BE20F9D6ACE}"/>
              </a:ext>
            </a:extLst>
          </p:cNvPr>
          <p:cNvSpPr txBox="1"/>
          <p:nvPr/>
        </p:nvSpPr>
        <p:spPr>
          <a:xfrm>
            <a:off x="615950" y="1308636"/>
            <a:ext cx="9144000" cy="5940088"/>
          </a:xfrm>
          <a:prstGeom prst="rect">
            <a:avLst/>
          </a:prstGeom>
          <a:noFill/>
        </p:spPr>
        <p:txBody>
          <a:bodyPr wrap="square" rtlCol="0">
            <a:spAutoFit/>
          </a:bodyPr>
          <a:lstStyle/>
          <a:p>
            <a:pPr marL="342900" indent="-342900">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A. Al-Azzam, </a:t>
            </a:r>
            <a:r>
              <a:rPr lang="en-IN" sz="1900" b="1" dirty="0">
                <a:latin typeface="Times New Roman" panose="02020603050405020304" pitchFamily="18" charset="0"/>
                <a:cs typeface="Times New Roman" panose="02020603050405020304" pitchFamily="18" charset="0"/>
              </a:rPr>
              <a:t>“Recommendation System for Insurance Policies”</a:t>
            </a:r>
            <a:r>
              <a:rPr lang="en-IN" sz="1900" dirty="0">
                <a:latin typeface="Times New Roman" panose="02020603050405020304" pitchFamily="18" charset="0"/>
                <a:cs typeface="Times New Roman" panose="02020603050405020304" pitchFamily="18" charset="0"/>
              </a:rPr>
              <a:t>, Thesis, Diva Portal, pp. 1–67, </a:t>
            </a:r>
            <a:r>
              <a:rPr lang="en-IN" sz="1900" b="1" dirty="0">
                <a:latin typeface="Times New Roman" panose="02020603050405020304" pitchFamily="18" charset="0"/>
                <a:cs typeface="Times New Roman" panose="02020603050405020304" pitchFamily="18" charset="0"/>
              </a:rPr>
              <a:t>2023</a:t>
            </a:r>
            <a:r>
              <a:rPr lang="en-IN" sz="1900" dirty="0">
                <a:latin typeface="Times New Roman" panose="02020603050405020304" pitchFamily="18" charset="0"/>
                <a:cs typeface="Times New Roman" panose="02020603050405020304" pitchFamily="18" charset="0"/>
              </a:rPr>
              <a:t>. Available: </a:t>
            </a:r>
            <a:r>
              <a:rPr lang="en-IN" sz="1900" u="sng" dirty="0">
                <a:latin typeface="Times New Roman" panose="02020603050405020304" pitchFamily="18" charset="0"/>
                <a:cs typeface="Times New Roman" panose="02020603050405020304" pitchFamily="18" charset="0"/>
                <a:hlinkClick r:id="rId2"/>
              </a:rPr>
              <a:t>https://www.diva-portal.org/smash/get/diva2%3A1768102/FULLTEXT01.pdf</a:t>
            </a:r>
            <a:r>
              <a:rPr lang="en-IN" sz="1900" u="sng" dirty="0">
                <a:latin typeface="Times New Roman" panose="02020603050405020304" pitchFamily="18" charset="0"/>
                <a:cs typeface="Times New Roman" panose="02020603050405020304" pitchFamily="18" charset="0"/>
              </a:rPr>
              <a:t> .[1].</a:t>
            </a:r>
            <a:endParaRPr lang="en-IN"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B. BHUVANESHWARI, GAYATRI DEEPTHI Y., K. KEERTHANA, </a:t>
            </a:r>
            <a:r>
              <a:rPr lang="en-IN" sz="1900" b="1" dirty="0">
                <a:latin typeface="Times New Roman" panose="02020603050405020304" pitchFamily="18" charset="0"/>
                <a:cs typeface="Times New Roman" panose="02020603050405020304" pitchFamily="18" charset="0"/>
              </a:rPr>
              <a:t>“Insurance Recommendation System”</a:t>
            </a:r>
            <a:r>
              <a:rPr lang="en-IN" sz="1900" dirty="0">
                <a:latin typeface="Times New Roman" panose="02020603050405020304" pitchFamily="18" charset="0"/>
                <a:cs typeface="Times New Roman" panose="02020603050405020304" pitchFamily="18" charset="0"/>
              </a:rPr>
              <a:t>, </a:t>
            </a:r>
            <a:r>
              <a:rPr lang="en-IN" sz="1900" i="1" dirty="0">
                <a:latin typeface="Times New Roman" panose="02020603050405020304" pitchFamily="18" charset="0"/>
                <a:cs typeface="Times New Roman" panose="02020603050405020304" pitchFamily="18" charset="0"/>
              </a:rPr>
              <a:t>International Journal of Innovative Science and Research Technology (IJISRT)</a:t>
            </a:r>
            <a:r>
              <a:rPr lang="en-IN" sz="1900" dirty="0">
                <a:latin typeface="Times New Roman" panose="02020603050405020304" pitchFamily="18" charset="0"/>
                <a:cs typeface="Times New Roman" panose="02020603050405020304" pitchFamily="18" charset="0"/>
              </a:rPr>
              <a:t>, vol. 8, no. 3, pp. 1292–1297, </a:t>
            </a:r>
            <a:r>
              <a:rPr lang="en-IN" sz="1900" b="1" dirty="0">
                <a:latin typeface="Times New Roman" panose="02020603050405020304" pitchFamily="18" charset="0"/>
                <a:cs typeface="Times New Roman" panose="02020603050405020304" pitchFamily="18" charset="0"/>
              </a:rPr>
              <a:t>2023. </a:t>
            </a:r>
            <a:r>
              <a:rPr lang="en-IN" sz="1900" dirty="0">
                <a:latin typeface="Times New Roman" panose="02020603050405020304" pitchFamily="18" charset="0"/>
                <a:cs typeface="Times New Roman" panose="02020603050405020304" pitchFamily="18" charset="0"/>
              </a:rPr>
              <a:t>Available</a:t>
            </a:r>
            <a:r>
              <a:rPr lang="en-IN" sz="1900" dirty="0"/>
              <a:t>: </a:t>
            </a:r>
            <a:r>
              <a:rPr lang="en-IN" sz="1900" dirty="0">
                <a:latin typeface="Times New Roman" panose="02020603050405020304" pitchFamily="18" charset="0"/>
                <a:cs typeface="Times New Roman" panose="02020603050405020304" pitchFamily="18" charset="0"/>
                <a:hlinkClick r:id="rId3"/>
              </a:rPr>
              <a:t>https://ijisrt.com/assets/upload/files/IJISRT23MAR1661_%281%29.pdf</a:t>
            </a:r>
            <a:r>
              <a:rPr lang="en-IN" sz="1900" dirty="0">
                <a:latin typeface="Times New Roman" panose="02020603050405020304" pitchFamily="18" charset="0"/>
                <a:cs typeface="Times New Roman" panose="02020603050405020304" pitchFamily="18" charset="0"/>
              </a:rPr>
              <a:t> </a:t>
            </a:r>
            <a:r>
              <a:rPr lang="en-IN" sz="1900" u="sng" dirty="0">
                <a:latin typeface="Times New Roman" panose="02020603050405020304" pitchFamily="18" charset="0"/>
                <a:cs typeface="Times New Roman" panose="02020603050405020304" pitchFamily="18" charset="0"/>
                <a:hlinkClick r:id="rId3"/>
              </a:rPr>
              <a:t>https://ijisrt.com/assets/upload/files/IJISRT23MAR1661_%281%29.pdf</a:t>
            </a:r>
            <a:r>
              <a:rPr lang="en-IN" sz="1900" u="sng" dirty="0">
                <a:latin typeface="Times New Roman" panose="02020603050405020304" pitchFamily="18" charset="0"/>
                <a:cs typeface="Times New Roman" panose="02020603050405020304" pitchFamily="18" charset="0"/>
              </a:rPr>
              <a:t>. [2].</a:t>
            </a:r>
            <a:endParaRPr lang="en-IN"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S. Choudhary, R. Singh, and K. Mehta, </a:t>
            </a:r>
            <a:r>
              <a:rPr lang="en-IN" sz="1900" b="1" dirty="0">
                <a:latin typeface="Times New Roman" panose="02020603050405020304" pitchFamily="18" charset="0"/>
                <a:cs typeface="Times New Roman" panose="02020603050405020304" pitchFamily="18" charset="0"/>
              </a:rPr>
              <a:t>“Recommendation System for Health Insurance Decision Making”</a:t>
            </a:r>
            <a:r>
              <a:rPr lang="en-IN" sz="1900" dirty="0">
                <a:latin typeface="Times New Roman" panose="02020603050405020304" pitchFamily="18" charset="0"/>
                <a:cs typeface="Times New Roman" panose="02020603050405020304" pitchFamily="18" charset="0"/>
              </a:rPr>
              <a:t>, </a:t>
            </a:r>
            <a:r>
              <a:rPr lang="en-IN" sz="1900" i="1" dirty="0" err="1">
                <a:latin typeface="Times New Roman" panose="02020603050405020304" pitchFamily="18" charset="0"/>
                <a:cs typeface="Times New Roman" panose="02020603050405020304" pitchFamily="18" charset="0"/>
              </a:rPr>
              <a:t>arXiv</a:t>
            </a:r>
            <a:r>
              <a:rPr lang="en-IN" sz="1900" i="1" dirty="0">
                <a:latin typeface="Times New Roman" panose="02020603050405020304" pitchFamily="18" charset="0"/>
                <a:cs typeface="Times New Roman" panose="02020603050405020304" pitchFamily="18" charset="0"/>
              </a:rPr>
              <a:t> preprint arXiv:2305.10708</a:t>
            </a:r>
            <a:r>
              <a:rPr lang="en-IN" sz="1900" dirty="0">
                <a:latin typeface="Times New Roman" panose="02020603050405020304" pitchFamily="18" charset="0"/>
                <a:cs typeface="Times New Roman" panose="02020603050405020304" pitchFamily="18" charset="0"/>
              </a:rPr>
              <a:t>, pp. 1–10, </a:t>
            </a:r>
            <a:r>
              <a:rPr lang="en-IN" sz="1900" b="1" dirty="0">
                <a:latin typeface="Times New Roman" panose="02020603050405020304" pitchFamily="18" charset="0"/>
                <a:cs typeface="Times New Roman" panose="02020603050405020304" pitchFamily="18" charset="0"/>
              </a:rPr>
              <a:t>2023</a:t>
            </a:r>
            <a:r>
              <a:rPr lang="en-IN" sz="1900" dirty="0">
                <a:latin typeface="Times New Roman" panose="02020603050405020304" pitchFamily="18" charset="0"/>
                <a:cs typeface="Times New Roman" panose="02020603050405020304" pitchFamily="18" charset="0"/>
              </a:rPr>
              <a:t>. Available: </a:t>
            </a:r>
            <a:r>
              <a:rPr lang="en-IN" sz="1900" u="sng" dirty="0">
                <a:latin typeface="Times New Roman" panose="02020603050405020304" pitchFamily="18" charset="0"/>
                <a:cs typeface="Times New Roman" panose="02020603050405020304" pitchFamily="18" charset="0"/>
                <a:hlinkClick r:id="rId4"/>
              </a:rPr>
              <a:t>https://arxiv.org/pdf/2305.10708.pdf</a:t>
            </a:r>
            <a:r>
              <a:rPr lang="en-IN" sz="1900" u="sng" dirty="0">
                <a:latin typeface="Times New Roman" panose="02020603050405020304" pitchFamily="18" charset="0"/>
                <a:cs typeface="Times New Roman" panose="02020603050405020304" pitchFamily="18" charset="0"/>
              </a:rPr>
              <a:t>.[3].</a:t>
            </a:r>
            <a:endParaRPr lang="en-IN"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M. Dutta and P. Saha, </a:t>
            </a:r>
            <a:r>
              <a:rPr lang="en-IN" sz="1900" b="1" dirty="0">
                <a:latin typeface="Times New Roman" panose="02020603050405020304" pitchFamily="18" charset="0"/>
                <a:cs typeface="Times New Roman" panose="02020603050405020304" pitchFamily="18" charset="0"/>
              </a:rPr>
              <a:t>“Explainable AI-Enhanced Underwriting Automation for Personalized Insurance Policy Recommendations”</a:t>
            </a:r>
            <a:r>
              <a:rPr lang="en-IN" sz="1900" dirty="0">
                <a:latin typeface="Times New Roman" panose="02020603050405020304" pitchFamily="18" charset="0"/>
                <a:cs typeface="Times New Roman" panose="02020603050405020304" pitchFamily="18" charset="0"/>
              </a:rPr>
              <a:t>, </a:t>
            </a:r>
            <a:r>
              <a:rPr lang="en-IN" sz="1900" i="1" dirty="0">
                <a:latin typeface="Times New Roman" panose="02020603050405020304" pitchFamily="18" charset="0"/>
                <a:cs typeface="Times New Roman" panose="02020603050405020304" pitchFamily="18" charset="0"/>
              </a:rPr>
              <a:t>ResearchGate Preprint</a:t>
            </a:r>
            <a:r>
              <a:rPr lang="en-IN" sz="1900" dirty="0">
                <a:latin typeface="Times New Roman" panose="02020603050405020304" pitchFamily="18" charset="0"/>
                <a:cs typeface="Times New Roman" panose="02020603050405020304" pitchFamily="18" charset="0"/>
              </a:rPr>
              <a:t>, pp. 1–12, </a:t>
            </a:r>
            <a:r>
              <a:rPr lang="en-IN" sz="1900" b="1" dirty="0">
                <a:latin typeface="Times New Roman" panose="02020603050405020304" pitchFamily="18" charset="0"/>
                <a:cs typeface="Times New Roman" panose="02020603050405020304" pitchFamily="18" charset="0"/>
              </a:rPr>
              <a:t>2024</a:t>
            </a:r>
            <a:r>
              <a:rPr lang="en-IN" sz="1900" dirty="0">
                <a:latin typeface="Times New Roman" panose="02020603050405020304" pitchFamily="18" charset="0"/>
                <a:cs typeface="Times New Roman" panose="02020603050405020304" pitchFamily="18" charset="0"/>
              </a:rPr>
              <a:t>. Available: </a:t>
            </a:r>
            <a:r>
              <a:rPr lang="en-IN" sz="1900" u="sng" dirty="0">
                <a:latin typeface="Times New Roman" panose="02020603050405020304" pitchFamily="18" charset="0"/>
                <a:cs typeface="Times New Roman" panose="02020603050405020304" pitchFamily="18" charset="0"/>
                <a:hlinkClick r:id="rId5"/>
              </a:rPr>
              <a:t>https://www.researchgate.net/publication/391681757_Explainable_AI-Enhanced_Underwriting_Automation_for_Personalized_Insurance_Policy_Recommendations</a:t>
            </a:r>
            <a:r>
              <a:rPr lang="en-IN" sz="1900" u="sng" dirty="0">
                <a:latin typeface="Times New Roman" panose="02020603050405020304" pitchFamily="18" charset="0"/>
                <a:cs typeface="Times New Roman" panose="02020603050405020304" pitchFamily="18" charset="0"/>
              </a:rPr>
              <a:t> [4].</a:t>
            </a:r>
            <a:endParaRPr lang="en-IN"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H. Wechsler, J. Phillips, V. Bruce, and T. Huang, </a:t>
            </a:r>
            <a:r>
              <a:rPr lang="en-IN" sz="1900" b="1" dirty="0">
                <a:latin typeface="Times New Roman" panose="02020603050405020304" pitchFamily="18" charset="0"/>
                <a:cs typeface="Times New Roman" panose="02020603050405020304" pitchFamily="18" charset="0"/>
              </a:rPr>
              <a:t>“Face Recognition: A Convolutional Neural-Network Approach”</a:t>
            </a:r>
            <a:r>
              <a:rPr lang="en-IN" sz="1900" dirty="0">
                <a:latin typeface="Times New Roman" panose="02020603050405020304" pitchFamily="18" charset="0"/>
                <a:cs typeface="Times New Roman" panose="02020603050405020304" pitchFamily="18" charset="0"/>
              </a:rPr>
              <a:t>, </a:t>
            </a:r>
            <a:r>
              <a:rPr lang="en-IN" sz="1900" i="1" dirty="0">
                <a:latin typeface="Times New Roman" panose="02020603050405020304" pitchFamily="18" charset="0"/>
                <a:cs typeface="Times New Roman" panose="02020603050405020304" pitchFamily="18" charset="0"/>
              </a:rPr>
              <a:t>IEEE Transactions on Neural Networks</a:t>
            </a:r>
            <a:r>
              <a:rPr lang="en-IN" sz="1900" dirty="0">
                <a:latin typeface="Times New Roman" panose="02020603050405020304" pitchFamily="18" charset="0"/>
                <a:cs typeface="Times New Roman" panose="02020603050405020304" pitchFamily="18" charset="0"/>
              </a:rPr>
              <a:t>, vol. 8, no. 1, pp. 98–113, </a:t>
            </a:r>
            <a:r>
              <a:rPr lang="en-IN" sz="1900" b="1" dirty="0">
                <a:latin typeface="Times New Roman" panose="02020603050405020304" pitchFamily="18" charset="0"/>
                <a:cs typeface="Times New Roman" panose="02020603050405020304" pitchFamily="18" charset="0"/>
              </a:rPr>
              <a:t>2023</a:t>
            </a:r>
            <a:r>
              <a:rPr lang="en-IN" sz="1900" dirty="0">
                <a:latin typeface="Times New Roman" panose="02020603050405020304" pitchFamily="18" charset="0"/>
                <a:cs typeface="Times New Roman" panose="02020603050405020304" pitchFamily="18" charset="0"/>
              </a:rPr>
              <a:t>. Available: </a:t>
            </a:r>
            <a:r>
              <a:rPr lang="en-IN" sz="1900" u="sng" dirty="0">
                <a:latin typeface="Times New Roman" panose="02020603050405020304" pitchFamily="18" charset="0"/>
                <a:cs typeface="Times New Roman" panose="02020603050405020304" pitchFamily="18" charset="0"/>
                <a:hlinkClick r:id="rId6"/>
              </a:rPr>
              <a:t>https://clgiles.ist.psu.edu/papers/IEEE.TNN.face.recognition.hybrid.nn.pdf</a:t>
            </a:r>
            <a:r>
              <a:rPr lang="en-IN" sz="1900" u="sng" dirty="0">
                <a:latin typeface="Times New Roman" panose="02020603050405020304" pitchFamily="18" charset="0"/>
                <a:cs typeface="Times New Roman" panose="02020603050405020304" pitchFamily="18" charset="0"/>
              </a:rPr>
              <a:t> [5].</a:t>
            </a:r>
            <a:endParaRPr lang="en-IN"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2970-0BB7-2934-8906-D369122A9A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0F7528-8C7D-9B9C-7E80-F941FFB35703}"/>
              </a:ext>
            </a:extLst>
          </p:cNvPr>
          <p:cNvSpPr txBox="1">
            <a:spLocks noGrp="1"/>
          </p:cNvSpPr>
          <p:nvPr>
            <p:ph type="title"/>
          </p:nvPr>
        </p:nvSpPr>
        <p:spPr>
          <a:prstGeom prst="rect">
            <a:avLst/>
          </a:prstGeom>
        </p:spPr>
        <p:txBody>
          <a:bodyPr vert="horz" wrap="square" lIns="0" tIns="267798" rIns="0" bIns="0" rtlCol="0">
            <a:spAutoFit/>
          </a:bodyPr>
          <a:lstStyle/>
          <a:p>
            <a:pPr marL="12700">
              <a:lnSpc>
                <a:spcPct val="100000"/>
              </a:lnSpc>
              <a:spcBef>
                <a:spcPts val="100"/>
              </a:spcBef>
            </a:pPr>
            <a:r>
              <a:rPr spc="-10"/>
              <a:t>References</a:t>
            </a:r>
          </a:p>
        </p:txBody>
      </p:sp>
      <p:sp>
        <p:nvSpPr>
          <p:cNvPr id="5" name="TextBox 4">
            <a:extLst>
              <a:ext uri="{FF2B5EF4-FFF2-40B4-BE49-F238E27FC236}">
                <a16:creationId xmlns:a16="http://schemas.microsoft.com/office/drawing/2014/main" id="{ED8AF7ED-1F9C-5113-5C37-573123058187}"/>
              </a:ext>
            </a:extLst>
          </p:cNvPr>
          <p:cNvSpPr txBox="1"/>
          <p:nvPr/>
        </p:nvSpPr>
        <p:spPr>
          <a:xfrm>
            <a:off x="490537" y="1308636"/>
            <a:ext cx="9220200" cy="6247864"/>
          </a:xfrm>
          <a:prstGeom prst="rect">
            <a:avLst/>
          </a:prstGeom>
          <a:noFill/>
        </p:spPr>
        <p:txBody>
          <a:bodyPr wrap="square" rtlCol="0">
            <a:spAutoFit/>
          </a:bodyPr>
          <a:lstStyle/>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 Li, Z. Lin, X. Shen, J. Brandt, and G. Hua, </a:t>
            </a:r>
            <a:r>
              <a:rPr lang="en-IN" sz="2000" b="1" dirty="0">
                <a:latin typeface="Times New Roman" panose="02020603050405020304" pitchFamily="18" charset="0"/>
                <a:cs typeface="Times New Roman" panose="02020603050405020304" pitchFamily="18" charset="0"/>
              </a:rPr>
              <a:t>“A Convolutional Neural Network Cascade for Face Detection”</a:t>
            </a:r>
            <a:r>
              <a:rPr lang="en-IN" sz="2000" dirty="0">
                <a:latin typeface="Times New Roman" panose="02020603050405020304" pitchFamily="18" charset="0"/>
                <a:cs typeface="Times New Roman" panose="02020603050405020304" pitchFamily="18" charset="0"/>
              </a:rPr>
              <a:t>, in </a:t>
            </a:r>
            <a:r>
              <a:rPr lang="en-IN" sz="2000" i="1" dirty="0">
                <a:latin typeface="Times New Roman" panose="02020603050405020304" pitchFamily="18" charset="0"/>
                <a:cs typeface="Times New Roman" panose="02020603050405020304" pitchFamily="18" charset="0"/>
              </a:rPr>
              <a:t>Proc. IEEE CVPR</a:t>
            </a:r>
            <a:r>
              <a:rPr lang="en-IN" sz="2000" dirty="0">
                <a:latin typeface="Times New Roman" panose="02020603050405020304" pitchFamily="18" charset="0"/>
                <a:cs typeface="Times New Roman" panose="02020603050405020304" pitchFamily="18" charset="0"/>
              </a:rPr>
              <a:t>, pp. 5325–5334, </a:t>
            </a:r>
            <a:r>
              <a:rPr lang="en-IN" sz="2000" b="1" dirty="0">
                <a:latin typeface="Times New Roman" panose="02020603050405020304" pitchFamily="18" charset="0"/>
                <a:cs typeface="Times New Roman" panose="02020603050405020304" pitchFamily="18" charset="0"/>
              </a:rPr>
              <a:t>2020</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2"/>
              </a:rPr>
              <a:t>https://openaccess.thecvf.com/content_cvpr_2015/papers/Li_A_Convolutional_Neural_2015_CVPR_paper.pdf</a:t>
            </a:r>
            <a:r>
              <a:rPr lang="en-IN" sz="2000" u="sng" dirty="0">
                <a:latin typeface="Times New Roman" panose="02020603050405020304" pitchFamily="18" charset="0"/>
                <a:cs typeface="Times New Roman" panose="02020603050405020304" pitchFamily="18" charset="0"/>
              </a:rPr>
              <a:t> [6]</a:t>
            </a:r>
            <a:endParaRPr lang="en-IN"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 Lee and Steve Lawrence, </a:t>
            </a:r>
            <a:r>
              <a:rPr lang="en-IN" sz="2000" b="1" dirty="0">
                <a:latin typeface="Times New Roman" panose="02020603050405020304" pitchFamily="18" charset="0"/>
                <a:cs typeface="Times New Roman" panose="02020603050405020304" pitchFamily="18" charset="0"/>
              </a:rPr>
              <a:t>“Face Recognition: A Convolutional Neural Network Approach”</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ResearchGate</a:t>
            </a:r>
            <a:r>
              <a:rPr lang="en-IN" sz="2000" dirty="0">
                <a:latin typeface="Times New Roman" panose="02020603050405020304" pitchFamily="18" charset="0"/>
                <a:cs typeface="Times New Roman" panose="02020603050405020304" pitchFamily="18" charset="0"/>
              </a:rPr>
              <a:t>, pp. 1–14, </a:t>
            </a:r>
            <a:r>
              <a:rPr lang="en-IN" sz="2000" b="1" dirty="0">
                <a:latin typeface="Times New Roman" panose="02020603050405020304" pitchFamily="18" charset="0"/>
                <a:cs typeface="Times New Roman" panose="02020603050405020304" pitchFamily="18" charset="0"/>
              </a:rPr>
              <a:t>1997</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3"/>
              </a:rPr>
              <a:t>https://www.researchgate.net/publication/3302251_Face_Recognition_A_Convolutional_Neural_Network_Approach</a:t>
            </a:r>
            <a:r>
              <a:rPr lang="en-IN" sz="2000" u="sng" dirty="0">
                <a:latin typeface="Times New Roman" panose="02020603050405020304" pitchFamily="18" charset="0"/>
                <a:cs typeface="Times New Roman" panose="02020603050405020304" pitchFamily="18" charset="0"/>
              </a:rPr>
              <a:t> [7].</a:t>
            </a:r>
            <a:endParaRPr lang="en-IN"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a:t>
            </a:r>
            <a:r>
              <a:rPr lang="en-IN" sz="2000" dirty="0" err="1">
                <a:latin typeface="Times New Roman" panose="02020603050405020304" pitchFamily="18" charset="0"/>
                <a:cs typeface="Times New Roman" panose="02020603050405020304" pitchFamily="18" charset="0"/>
              </a:rPr>
              <a:t>Antonacopoulos</a:t>
            </a:r>
            <a:r>
              <a:rPr lang="en-IN" sz="2000" dirty="0">
                <a:latin typeface="Times New Roman" panose="02020603050405020304" pitchFamily="18" charset="0"/>
                <a:cs typeface="Times New Roman" panose="02020603050405020304" pitchFamily="18" charset="0"/>
              </a:rPr>
              <a:t> and D. Karatzas, </a:t>
            </a:r>
            <a:r>
              <a:rPr lang="en-IN" sz="2000" b="1" dirty="0">
                <a:latin typeface="Times New Roman" panose="02020603050405020304" pitchFamily="18" charset="0"/>
                <a:cs typeface="Times New Roman" panose="02020603050405020304" pitchFamily="18" charset="0"/>
              </a:rPr>
              <a:t>“Document Image Analysis and Recognition: A Survey”</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ResearchGate</a:t>
            </a:r>
            <a:r>
              <a:rPr lang="en-IN" sz="2000" dirty="0">
                <a:latin typeface="Times New Roman" panose="02020603050405020304" pitchFamily="18" charset="0"/>
                <a:cs typeface="Times New Roman" panose="02020603050405020304" pitchFamily="18" charset="0"/>
              </a:rPr>
              <a:t>, pp. 1–20, </a:t>
            </a:r>
            <a:r>
              <a:rPr lang="en-IN" sz="2000" b="1" dirty="0">
                <a:latin typeface="Times New Roman" panose="02020603050405020304" pitchFamily="18" charset="0"/>
                <a:cs typeface="Times New Roman" panose="02020603050405020304" pitchFamily="18" charset="0"/>
              </a:rPr>
              <a:t>2022</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4"/>
              </a:rPr>
              <a:t>https://www.researchgate.net/publication/363252450_Document_image_analysis_and_recognition_a_survey</a:t>
            </a:r>
            <a:r>
              <a:rPr lang="en-IN" sz="2000" u="sng" dirty="0">
                <a:latin typeface="Times New Roman" panose="02020603050405020304" pitchFamily="18" charset="0"/>
                <a:cs typeface="Times New Roman" panose="02020603050405020304" pitchFamily="18" charset="0"/>
              </a:rPr>
              <a:t> [8]</a:t>
            </a:r>
            <a:endParaRPr lang="en-IN"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 Yadav and R. Tripathi, </a:t>
            </a:r>
            <a:r>
              <a:rPr lang="en-IN" sz="2000" b="1" dirty="0">
                <a:latin typeface="Times New Roman" panose="02020603050405020304" pitchFamily="18" charset="0"/>
                <a:cs typeface="Times New Roman" panose="02020603050405020304" pitchFamily="18" charset="0"/>
              </a:rPr>
              <a:t>“Classification of Documents Extracted from Images with Optical Character Recognition”</a:t>
            </a:r>
            <a:r>
              <a:rPr lang="en-IN" sz="2000" dirty="0">
                <a:latin typeface="Times New Roman" panose="02020603050405020304" pitchFamily="18" charset="0"/>
                <a:cs typeface="Times New Roman" panose="02020603050405020304" pitchFamily="18" charset="0"/>
              </a:rPr>
              <a:t>, </a:t>
            </a:r>
            <a:r>
              <a:rPr lang="en-IN" sz="2000" i="1" dirty="0" err="1">
                <a:latin typeface="Times New Roman" panose="02020603050405020304" pitchFamily="18" charset="0"/>
                <a:cs typeface="Times New Roman" panose="02020603050405020304" pitchFamily="18" charset="0"/>
              </a:rPr>
              <a:t>arXiv</a:t>
            </a:r>
            <a:r>
              <a:rPr lang="en-IN" sz="2000" i="1" dirty="0">
                <a:latin typeface="Times New Roman" panose="02020603050405020304" pitchFamily="18" charset="0"/>
                <a:cs typeface="Times New Roman" panose="02020603050405020304" pitchFamily="18" charset="0"/>
              </a:rPr>
              <a:t> preprint arXiv:2106.11125</a:t>
            </a:r>
            <a:r>
              <a:rPr lang="en-IN" sz="2000" dirty="0">
                <a:latin typeface="Times New Roman" panose="02020603050405020304" pitchFamily="18" charset="0"/>
                <a:cs typeface="Times New Roman" panose="02020603050405020304" pitchFamily="18" charset="0"/>
              </a:rPr>
              <a:t>, pp. 1–8, </a:t>
            </a:r>
            <a:r>
              <a:rPr lang="en-IN" sz="2000" b="1" dirty="0">
                <a:latin typeface="Times New Roman" panose="02020603050405020304" pitchFamily="18" charset="0"/>
                <a:cs typeface="Times New Roman" panose="02020603050405020304" pitchFamily="18" charset="0"/>
              </a:rPr>
              <a:t>2021</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5"/>
              </a:rPr>
              <a:t>https://arxiv.org/pdf/2106.11125.pdf</a:t>
            </a:r>
            <a:r>
              <a:rPr lang="en-IN" sz="2000" u="sng" dirty="0">
                <a:latin typeface="Times New Roman" panose="02020603050405020304" pitchFamily="18" charset="0"/>
                <a:cs typeface="Times New Roman" panose="02020603050405020304" pitchFamily="18" charset="0"/>
              </a:rPr>
              <a:t> [9]</a:t>
            </a:r>
            <a:endParaRPr lang="en-IN"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J. Martínez, A. Blanco, and F. Herrera, </a:t>
            </a:r>
            <a:r>
              <a:rPr lang="en-IN" sz="2000" b="1" dirty="0">
                <a:latin typeface="Times New Roman" panose="02020603050405020304" pitchFamily="18" charset="0"/>
                <a:cs typeface="Times New Roman" panose="02020603050405020304" pitchFamily="18" charset="0"/>
              </a:rPr>
              <a:t>“Machine Learning Techniques for Identity Document Verification in Mobile Scenarios”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Frontiers in AI (PMC)</a:t>
            </a:r>
            <a:r>
              <a:rPr lang="en-IN" sz="2000" dirty="0">
                <a:latin typeface="Times New Roman" panose="02020603050405020304" pitchFamily="18" charset="0"/>
                <a:cs typeface="Times New Roman" panose="02020603050405020304" pitchFamily="18" charset="0"/>
              </a:rPr>
              <a:t>, vol. 3, pp. 1–15, </a:t>
            </a:r>
            <a:r>
              <a:rPr lang="en-IN" sz="2000" b="1" dirty="0">
                <a:latin typeface="Times New Roman" panose="02020603050405020304" pitchFamily="18" charset="0"/>
                <a:cs typeface="Times New Roman" panose="02020603050405020304" pitchFamily="18" charset="0"/>
              </a:rPr>
              <a:t>2020</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6"/>
              </a:rPr>
              <a:t>https://www.ncbi.nlm.nih.gov/pmc/articles/PMC7297568/</a:t>
            </a:r>
            <a:r>
              <a:rPr lang="en-IN" sz="2000" u="sng" dirty="0">
                <a:latin typeface="Times New Roman" panose="02020603050405020304" pitchFamily="18" charset="0"/>
                <a:cs typeface="Times New Roman" panose="02020603050405020304" pitchFamily="18" charset="0"/>
              </a:rPr>
              <a:t> [10]</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0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8551D-202E-D115-04F6-1D159AF807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5112F3-8EB2-816E-C8AD-C19AAFFCE55B}"/>
              </a:ext>
            </a:extLst>
          </p:cNvPr>
          <p:cNvSpPr txBox="1">
            <a:spLocks noGrp="1"/>
          </p:cNvSpPr>
          <p:nvPr>
            <p:ph type="title"/>
          </p:nvPr>
        </p:nvSpPr>
        <p:spPr>
          <a:prstGeom prst="rect">
            <a:avLst/>
          </a:prstGeom>
        </p:spPr>
        <p:txBody>
          <a:bodyPr vert="horz" wrap="square" lIns="0" tIns="267798" rIns="0" bIns="0" rtlCol="0">
            <a:spAutoFit/>
          </a:bodyPr>
          <a:lstStyle/>
          <a:p>
            <a:pPr marL="12700">
              <a:lnSpc>
                <a:spcPct val="100000"/>
              </a:lnSpc>
              <a:spcBef>
                <a:spcPts val="100"/>
              </a:spcBef>
            </a:pPr>
            <a:r>
              <a:rPr spc="-10"/>
              <a:t>References</a:t>
            </a:r>
          </a:p>
        </p:txBody>
      </p:sp>
      <p:sp>
        <p:nvSpPr>
          <p:cNvPr id="3" name="TextBox 2">
            <a:extLst>
              <a:ext uri="{FF2B5EF4-FFF2-40B4-BE49-F238E27FC236}">
                <a16:creationId xmlns:a16="http://schemas.microsoft.com/office/drawing/2014/main" id="{981CE0CE-E8E9-3F2F-5355-D4964DFDB66F}"/>
              </a:ext>
            </a:extLst>
          </p:cNvPr>
          <p:cNvSpPr txBox="1"/>
          <p:nvPr/>
        </p:nvSpPr>
        <p:spPr>
          <a:xfrm>
            <a:off x="473579" y="1263650"/>
            <a:ext cx="9525000" cy="6555641"/>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 Patel and S. Jain, </a:t>
            </a:r>
            <a:r>
              <a:rPr lang="en-IN" sz="2000" b="1" dirty="0">
                <a:latin typeface="Times New Roman" panose="02020603050405020304" pitchFamily="18" charset="0"/>
                <a:cs typeface="Times New Roman" panose="02020603050405020304" pitchFamily="18" charset="0"/>
              </a:rPr>
              <a:t>“A </a:t>
            </a:r>
            <a:r>
              <a:rPr lang="en-IN" sz="2000" b="1" dirty="0" err="1">
                <a:latin typeface="Times New Roman" panose="02020603050405020304" pitchFamily="18" charset="0"/>
                <a:cs typeface="Times New Roman" panose="02020603050405020304" pitchFamily="18" charset="0"/>
              </a:rPr>
              <a:t>ConvNeXt</a:t>
            </a:r>
            <a:r>
              <a:rPr lang="en-IN" sz="2000" b="1" dirty="0">
                <a:latin typeface="Times New Roman" panose="02020603050405020304" pitchFamily="18" charset="0"/>
                <a:cs typeface="Times New Roman" panose="02020603050405020304" pitchFamily="18" charset="0"/>
              </a:rPr>
              <a:t> V2 Approach to Document Image Analysis”</a:t>
            </a:r>
            <a:r>
              <a:rPr lang="en-IN" sz="2000" dirty="0">
                <a:latin typeface="Times New Roman" panose="02020603050405020304" pitchFamily="18" charset="0"/>
                <a:cs typeface="Times New Roman" panose="02020603050405020304" pitchFamily="18" charset="0"/>
              </a:rPr>
              <a:t>, </a:t>
            </a:r>
            <a:r>
              <a:rPr lang="en-IN" sz="2000" i="1" dirty="0" err="1">
                <a:latin typeface="Times New Roman" panose="02020603050405020304" pitchFamily="18" charset="0"/>
                <a:cs typeface="Times New Roman" panose="02020603050405020304" pitchFamily="18" charset="0"/>
              </a:rPr>
              <a:t>TechRxiv</a:t>
            </a:r>
            <a:r>
              <a:rPr lang="en-IN" sz="2000" i="1" dirty="0">
                <a:latin typeface="Times New Roman" panose="02020603050405020304" pitchFamily="18" charset="0"/>
                <a:cs typeface="Times New Roman" panose="02020603050405020304" pitchFamily="18" charset="0"/>
              </a:rPr>
              <a:t> Preprint</a:t>
            </a:r>
            <a:r>
              <a:rPr lang="en-IN" sz="2000" dirty="0">
                <a:latin typeface="Times New Roman" panose="02020603050405020304" pitchFamily="18" charset="0"/>
                <a:cs typeface="Times New Roman" panose="02020603050405020304" pitchFamily="18" charset="0"/>
              </a:rPr>
              <a:t>, pp. 1–10, </a:t>
            </a:r>
            <a:r>
              <a:rPr lang="en-IN" sz="2000" b="1" dirty="0">
                <a:latin typeface="Times New Roman" panose="02020603050405020304" pitchFamily="18" charset="0"/>
                <a:cs typeface="Times New Roman" panose="02020603050405020304" pitchFamily="18" charset="0"/>
              </a:rPr>
              <a:t>2023</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2"/>
              </a:rPr>
              <a:t>https://www.techrxiv.org/users/807282/articles/1210179/master/file/data/Document_classification_july_10/Document_classification_july_10.pdf</a:t>
            </a:r>
            <a:r>
              <a:rPr lang="en-IN" sz="2000" u="sng" dirty="0">
                <a:latin typeface="Times New Roman" panose="02020603050405020304" pitchFamily="18" charset="0"/>
                <a:cs typeface="Times New Roman" panose="02020603050405020304" pitchFamily="18" charset="0"/>
              </a:rPr>
              <a:t> [11].</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 Gupta and P. Agrawal, </a:t>
            </a:r>
            <a:r>
              <a:rPr lang="en-IN" sz="2000" b="1" dirty="0">
                <a:latin typeface="Times New Roman" panose="02020603050405020304" pitchFamily="18" charset="0"/>
                <a:cs typeface="Times New Roman" panose="02020603050405020304" pitchFamily="18" charset="0"/>
              </a:rPr>
              <a:t>“Automated Vehicle Insurance Claims Processing Using Computer Vision &amp; NLP”</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ResearchGate Preprint</a:t>
            </a:r>
            <a:r>
              <a:rPr lang="en-IN" sz="2000" dirty="0">
                <a:latin typeface="Times New Roman" panose="02020603050405020304" pitchFamily="18" charset="0"/>
                <a:cs typeface="Times New Roman" panose="02020603050405020304" pitchFamily="18" charset="0"/>
              </a:rPr>
              <a:t>, pp. 1–9, </a:t>
            </a:r>
            <a:r>
              <a:rPr lang="en-IN" sz="2000" b="1" dirty="0">
                <a:latin typeface="Times New Roman" panose="02020603050405020304" pitchFamily="18" charset="0"/>
                <a:cs typeface="Times New Roman" panose="02020603050405020304" pitchFamily="18" charset="0"/>
              </a:rPr>
              <a:t>2022</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3"/>
              </a:rPr>
              <a:t>https://www.researchgate.net/publication/366185375_Automated_vehicle_insurance_claims_processing_using_computer_vision_natural_language_processing</a:t>
            </a:r>
            <a:r>
              <a:rPr lang="en-IN" sz="2000" u="sng" dirty="0">
                <a:latin typeface="Times New Roman" panose="02020603050405020304" pitchFamily="18" charset="0"/>
                <a:cs typeface="Times New Roman" panose="02020603050405020304" pitchFamily="18" charset="0"/>
              </a:rPr>
              <a:t>[12].</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 López and M. García, </a:t>
            </a:r>
            <a:r>
              <a:rPr lang="en-IN" sz="2000" b="1" dirty="0">
                <a:latin typeface="Times New Roman" panose="02020603050405020304" pitchFamily="18" charset="0"/>
                <a:cs typeface="Times New Roman" panose="02020603050405020304" pitchFamily="18" charset="0"/>
              </a:rPr>
              <a:t>“Deep Learning Assisted Medical Insurance Data Analytics”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International Journal of Interactive Multimedia and Artificial Intelligence (IJIMAI)</a:t>
            </a:r>
            <a:r>
              <a:rPr lang="en-IN" sz="2000" dirty="0">
                <a:latin typeface="Times New Roman" panose="02020603050405020304" pitchFamily="18" charset="0"/>
                <a:cs typeface="Times New Roman" panose="02020603050405020304" pitchFamily="18" charset="0"/>
              </a:rPr>
              <a:t>, vol. 8, no. 2, pp. 54–61, </a:t>
            </a:r>
            <a:r>
              <a:rPr lang="en-IN" sz="2000" b="1" dirty="0">
                <a:latin typeface="Times New Roman" panose="02020603050405020304" pitchFamily="18" charset="0"/>
                <a:cs typeface="Times New Roman" panose="02020603050405020304" pitchFamily="18" charset="0"/>
              </a:rPr>
              <a:t>2022</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4"/>
              </a:rPr>
              <a:t>https://reunir.unir.net/bitstream/handle/123456789/14324/ijimai8_2_7.pdf?isAllowed=y&amp;sequence=3</a:t>
            </a:r>
            <a:r>
              <a:rPr lang="en-IN" sz="2000" u="sng" dirty="0">
                <a:latin typeface="Times New Roman" panose="02020603050405020304" pitchFamily="18" charset="0"/>
                <a:cs typeface="Times New Roman" panose="02020603050405020304" pitchFamily="18" charset="0"/>
              </a:rPr>
              <a:t> [13].</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Banerjee and R. Sinha, </a:t>
            </a:r>
            <a:r>
              <a:rPr lang="en-IN" sz="2000" b="1" dirty="0">
                <a:latin typeface="Times New Roman" panose="02020603050405020304" pitchFamily="18" charset="0"/>
                <a:cs typeface="Times New Roman" panose="02020603050405020304" pitchFamily="18" charset="0"/>
              </a:rPr>
              <a:t>“AI Transformation in Healthcare Claims Processing: Technical Overview”</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ResearchGate Preprint</a:t>
            </a:r>
            <a:r>
              <a:rPr lang="en-IN" sz="2000" dirty="0">
                <a:latin typeface="Times New Roman" panose="02020603050405020304" pitchFamily="18" charset="0"/>
                <a:cs typeface="Times New Roman" panose="02020603050405020304" pitchFamily="18" charset="0"/>
              </a:rPr>
              <a:t>, pp. 1–18, </a:t>
            </a:r>
            <a:r>
              <a:rPr lang="en-IN" sz="2000" b="1" dirty="0">
                <a:latin typeface="Times New Roman" panose="02020603050405020304" pitchFamily="18" charset="0"/>
                <a:cs typeface="Times New Roman" panose="02020603050405020304" pitchFamily="18" charset="0"/>
              </a:rPr>
              <a:t>2025</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5"/>
              </a:rPr>
              <a:t>https://www.researchgate.net/publication/391323743_AI_transformation_in_healthcare_claims_processing_Technical_overview</a:t>
            </a:r>
            <a:r>
              <a:rPr lang="en-IN" sz="2000" u="sng" dirty="0">
                <a:latin typeface="Times New Roman" panose="02020603050405020304" pitchFamily="18" charset="0"/>
                <a:cs typeface="Times New Roman" panose="02020603050405020304" pitchFamily="18" charset="0"/>
              </a:rPr>
              <a:t> [14].</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 Singh, A. Nair, and L. Zhao, </a:t>
            </a:r>
            <a:r>
              <a:rPr lang="en-IN" sz="2000" b="1" dirty="0">
                <a:latin typeface="Times New Roman" panose="02020603050405020304" pitchFamily="18" charset="0"/>
                <a:cs typeface="Times New Roman" panose="02020603050405020304" pitchFamily="18" charset="0"/>
              </a:rPr>
              <a:t>“Medical Image Analysis Using Deep Learning Algorithms”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Frontiers in AI (PMC)</a:t>
            </a:r>
            <a:r>
              <a:rPr lang="en-IN" sz="2000" dirty="0">
                <a:latin typeface="Times New Roman" panose="02020603050405020304" pitchFamily="18" charset="0"/>
                <a:cs typeface="Times New Roman" panose="02020603050405020304" pitchFamily="18" charset="0"/>
              </a:rPr>
              <a:t>, vol. 6, pp. 1–16, </a:t>
            </a:r>
            <a:r>
              <a:rPr lang="en-IN" sz="2000" b="1" dirty="0">
                <a:latin typeface="Times New Roman" panose="02020603050405020304" pitchFamily="18" charset="0"/>
                <a:cs typeface="Times New Roman" panose="02020603050405020304" pitchFamily="18" charset="0"/>
              </a:rPr>
              <a:t>2023</a:t>
            </a:r>
            <a:r>
              <a:rPr lang="en-IN" sz="2000" dirty="0">
                <a:latin typeface="Times New Roman" panose="02020603050405020304" pitchFamily="18" charset="0"/>
                <a:cs typeface="Times New Roman" panose="02020603050405020304" pitchFamily="18" charset="0"/>
              </a:rPr>
              <a:t>. Available: </a:t>
            </a:r>
            <a:r>
              <a:rPr lang="en-IN" sz="2000" u="sng" dirty="0">
                <a:latin typeface="Times New Roman" panose="02020603050405020304" pitchFamily="18" charset="0"/>
                <a:cs typeface="Times New Roman" panose="02020603050405020304" pitchFamily="18" charset="0"/>
                <a:hlinkClick r:id="rId6"/>
              </a:rPr>
              <a:t>https://www.ncbi.nlm.nih.gov/pmc/articles/PMC10662291/</a:t>
            </a:r>
            <a:r>
              <a:rPr lang="en-IN" sz="2000" u="sng" dirty="0">
                <a:latin typeface="Times New Roman" panose="02020603050405020304" pitchFamily="18" charset="0"/>
                <a:cs typeface="Times New Roman" panose="02020603050405020304" pitchFamily="18" charset="0"/>
              </a:rPr>
              <a:t> [15].</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9822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8749" y="3386014"/>
            <a:ext cx="2828925" cy="574040"/>
          </a:xfrm>
          <a:prstGeom prst="rect">
            <a:avLst/>
          </a:prstGeom>
        </p:spPr>
        <p:txBody>
          <a:bodyPr vert="horz" wrap="square" lIns="0" tIns="12700" rIns="0" bIns="0" rtlCol="0">
            <a:spAutoFit/>
          </a:bodyPr>
          <a:lstStyle/>
          <a:p>
            <a:pPr marL="12700">
              <a:lnSpc>
                <a:spcPct val="100000"/>
              </a:lnSpc>
              <a:spcBef>
                <a:spcPts val="100"/>
              </a:spcBef>
            </a:pPr>
            <a:r>
              <a:t>Thank</a:t>
            </a:r>
            <a:r>
              <a:rPr spc="-155"/>
              <a:t> </a:t>
            </a:r>
            <a:r>
              <a:rPr spc="-4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3248</TotalTime>
  <Words>2499</Words>
  <Application>Microsoft Office PowerPoint</Application>
  <PresentationFormat>Custom</PresentationFormat>
  <Paragraphs>231</Paragraphs>
  <Slides>25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Microsoft Sans Serif</vt:lpstr>
      <vt:lpstr>Times New Roman</vt:lpstr>
      <vt:lpstr>Office Theme</vt:lpstr>
      <vt:lpstr>PowerPoint Presentation</vt:lpstr>
      <vt:lpstr>Contents</vt:lpstr>
      <vt:lpstr>PowerPoint Presentation</vt:lpstr>
      <vt:lpstr>Sustainable Development Goals(SDG) mapped</vt:lpstr>
      <vt:lpstr>PowerPoint Presentation</vt:lpstr>
      <vt:lpstr>PowerPoint Presentation</vt:lpstr>
      <vt:lpstr>Literature Review</vt:lpstr>
      <vt:lpstr>PowerPoint Presentation</vt:lpstr>
      <vt:lpstr>PowerPoint Presentation</vt:lpstr>
      <vt:lpstr>PowerPoint Presentation</vt:lpstr>
      <vt:lpstr>Problem Definition</vt:lpstr>
      <vt:lpstr>PowerPoint Presentation</vt:lpstr>
      <vt:lpstr>Technological Stack</vt:lpstr>
      <vt:lpstr>Proposed system architecture/Working/Module Diagram</vt:lpstr>
      <vt:lpstr>Prototype Design Demonstration</vt:lpstr>
      <vt:lpstr>Prototype Design Demonstration</vt:lpstr>
      <vt:lpstr>Prototype Design Demonstration</vt:lpstr>
      <vt:lpstr>Prototype Design Demonstration</vt:lpstr>
      <vt:lpstr>Prototype Design Demonstration</vt:lpstr>
      <vt:lpstr>Prototype Design Demonstration</vt:lpstr>
      <vt:lpstr>Prototype Design Demonstration</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-1 Presentation_Template.pptx</dc:title>
  <dc:creator>chinmay pawaskar</dc:creator>
  <cp:lastModifiedBy>Avadhoot Virkar</cp:lastModifiedBy>
  <cp:revision>6</cp:revision>
  <dcterms:created xsi:type="dcterms:W3CDTF">2025-08-23T11:06:35Z</dcterms:created>
  <dcterms:modified xsi:type="dcterms:W3CDTF">2026-04-27T15:30:29Z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2025-08-23T00:00:00Z</vt:filetime>
  </property>
  <property fmtid="{D5CDD505-2E9C-101B-9397-08002B2CF9AE}" pid="3" name="Creator">
    <vt:lpwstr>Google</vt:lpwstr>
  </property>
  <property fmtid="{D5CDD505-2E9C-101B-9397-08002B2CF9AE}" pid="4" name="LastSaved">
    <vt:filetime>2025-08-23T00:00:00Z</vt:filetime>
  </property>
</Properties>
</file>