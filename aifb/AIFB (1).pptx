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7562850" cx="10083800"/>
  <p:notesSz cx="10083800"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08375" y="3592350"/>
            <a:ext cx="8067025" cy="34032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9: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2: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3:notes"/>
          <p:cNvSpPr txBox="1"/>
          <p:nvPr>
            <p:ph idx="1" type="body"/>
          </p:nvPr>
        </p:nvSpPr>
        <p:spPr>
          <a:xfrm>
            <a:off x="1008375" y="3592350"/>
            <a:ext cx="8067025" cy="3403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notes"/>
          <p:cNvSpPr/>
          <p:nvPr>
            <p:ph idx="2" type="sldImg"/>
          </p:nvPr>
        </p:nvSpPr>
        <p:spPr>
          <a:xfrm>
            <a:off x="1680950" y="567200"/>
            <a:ext cx="6722850" cy="2836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2"/>
          <p:cNvSpPr txBox="1"/>
          <p:nvPr>
            <p:ph type="title"/>
          </p:nvPr>
        </p:nvSpPr>
        <p:spPr>
          <a:xfrm>
            <a:off x="490524" y="371932"/>
            <a:ext cx="7421245" cy="10858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body"/>
          </p:nvPr>
        </p:nvSpPr>
        <p:spPr>
          <a:xfrm>
            <a:off x="2813685" y="3465322"/>
            <a:ext cx="4456429" cy="368554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3200">
                <a:solidFill>
                  <a:schemeClr val="dk1"/>
                </a:solidFill>
                <a:latin typeface="Times New Roman"/>
                <a:ea typeface="Times New Roman"/>
                <a:cs typeface="Times New Roman"/>
                <a:sym typeface="Times New Roman"/>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2"/>
          <p:cNvSpPr txBox="1"/>
          <p:nvPr>
            <p:ph idx="11" type="ftr"/>
          </p:nvPr>
        </p:nvSpPr>
        <p:spPr>
          <a:xfrm>
            <a:off x="3428492" y="7033450"/>
            <a:ext cx="3226816"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
          <p:cNvSpPr txBox="1"/>
          <p:nvPr>
            <p:ph idx="10" type="dt"/>
          </p:nvPr>
        </p:nvSpPr>
        <p:spPr>
          <a:xfrm>
            <a:off x="504190" y="7033450"/>
            <a:ext cx="2319274"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2" type="sldNum"/>
          </p:nvPr>
        </p:nvSpPr>
        <p:spPr>
          <a:xfrm>
            <a:off x="7260336" y="7033450"/>
            <a:ext cx="2319274" cy="378142"/>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 name="Shape 26"/>
        <p:cNvGrpSpPr/>
        <p:nvPr/>
      </p:nvGrpSpPr>
      <p:grpSpPr>
        <a:xfrm>
          <a:off x="0" y="0"/>
          <a:ext cx="0" cy="0"/>
          <a:chOff x="0" y="0"/>
          <a:chExt cx="0" cy="0"/>
        </a:xfrm>
      </p:grpSpPr>
      <p:sp>
        <p:nvSpPr>
          <p:cNvPr id="27" name="Google Shape;27;p3"/>
          <p:cNvSpPr txBox="1"/>
          <p:nvPr>
            <p:ph type="title"/>
          </p:nvPr>
        </p:nvSpPr>
        <p:spPr>
          <a:xfrm>
            <a:off x="490524" y="371932"/>
            <a:ext cx="7421245" cy="10858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1" type="ftr"/>
          </p:nvPr>
        </p:nvSpPr>
        <p:spPr>
          <a:xfrm>
            <a:off x="3428492" y="7033450"/>
            <a:ext cx="3226816"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0" type="dt"/>
          </p:nvPr>
        </p:nvSpPr>
        <p:spPr>
          <a:xfrm>
            <a:off x="504190" y="7033450"/>
            <a:ext cx="2319274"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2" type="sldNum"/>
          </p:nvPr>
        </p:nvSpPr>
        <p:spPr>
          <a:xfrm>
            <a:off x="7260336" y="7033450"/>
            <a:ext cx="2319274" cy="378142"/>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 name="Shape 31"/>
        <p:cNvGrpSpPr/>
        <p:nvPr/>
      </p:nvGrpSpPr>
      <p:grpSpPr>
        <a:xfrm>
          <a:off x="0" y="0"/>
          <a:ext cx="0" cy="0"/>
          <a:chOff x="0" y="0"/>
          <a:chExt cx="0" cy="0"/>
        </a:xfrm>
      </p:grpSpPr>
      <p:sp>
        <p:nvSpPr>
          <p:cNvPr id="32" name="Google Shape;32;p4"/>
          <p:cNvSpPr txBox="1"/>
          <p:nvPr>
            <p:ph type="ctrTitle"/>
          </p:nvPr>
        </p:nvSpPr>
        <p:spPr>
          <a:xfrm>
            <a:off x="756285" y="2344483"/>
            <a:ext cx="8571230" cy="158819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
          <p:cNvSpPr txBox="1"/>
          <p:nvPr>
            <p:ph idx="1" type="subTitle"/>
          </p:nvPr>
        </p:nvSpPr>
        <p:spPr>
          <a:xfrm>
            <a:off x="1512570" y="4235196"/>
            <a:ext cx="7058660" cy="189071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3428492" y="7033450"/>
            <a:ext cx="3226816"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0" type="dt"/>
          </p:nvPr>
        </p:nvSpPr>
        <p:spPr>
          <a:xfrm>
            <a:off x="504190" y="7033450"/>
            <a:ext cx="2319274"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2" type="sldNum"/>
          </p:nvPr>
        </p:nvSpPr>
        <p:spPr>
          <a:xfrm>
            <a:off x="7260336" y="7033450"/>
            <a:ext cx="2319274" cy="378142"/>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5"/>
          <p:cNvSpPr txBox="1"/>
          <p:nvPr>
            <p:ph type="title"/>
          </p:nvPr>
        </p:nvSpPr>
        <p:spPr>
          <a:xfrm>
            <a:off x="490524" y="371932"/>
            <a:ext cx="7421245" cy="10858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504190" y="1739455"/>
            <a:ext cx="4386453" cy="499148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5"/>
          <p:cNvSpPr txBox="1"/>
          <p:nvPr>
            <p:ph idx="2" type="body"/>
          </p:nvPr>
        </p:nvSpPr>
        <p:spPr>
          <a:xfrm>
            <a:off x="5193157" y="1739455"/>
            <a:ext cx="4386453" cy="499148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5"/>
          <p:cNvSpPr txBox="1"/>
          <p:nvPr>
            <p:ph idx="11" type="ftr"/>
          </p:nvPr>
        </p:nvSpPr>
        <p:spPr>
          <a:xfrm>
            <a:off x="3428492" y="7033450"/>
            <a:ext cx="3226816"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
          <p:cNvSpPr txBox="1"/>
          <p:nvPr>
            <p:ph idx="10" type="dt"/>
          </p:nvPr>
        </p:nvSpPr>
        <p:spPr>
          <a:xfrm>
            <a:off x="504190" y="7033450"/>
            <a:ext cx="2319274"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12" type="sldNum"/>
          </p:nvPr>
        </p:nvSpPr>
        <p:spPr>
          <a:xfrm>
            <a:off x="7260336" y="7033450"/>
            <a:ext cx="2319274" cy="378142"/>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4" name="Shape 44"/>
        <p:cNvGrpSpPr/>
        <p:nvPr/>
      </p:nvGrpSpPr>
      <p:grpSpPr>
        <a:xfrm>
          <a:off x="0" y="0"/>
          <a:ext cx="0" cy="0"/>
          <a:chOff x="0" y="0"/>
          <a:chExt cx="0" cy="0"/>
        </a:xfrm>
      </p:grpSpPr>
      <p:sp>
        <p:nvSpPr>
          <p:cNvPr id="45" name="Google Shape;45;p6"/>
          <p:cNvSpPr txBox="1"/>
          <p:nvPr>
            <p:ph idx="11" type="ftr"/>
          </p:nvPr>
        </p:nvSpPr>
        <p:spPr>
          <a:xfrm>
            <a:off x="3428492" y="7033450"/>
            <a:ext cx="3226816"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0" type="dt"/>
          </p:nvPr>
        </p:nvSpPr>
        <p:spPr>
          <a:xfrm>
            <a:off x="504190" y="7033450"/>
            <a:ext cx="2319274"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2" type="sldNum"/>
          </p:nvPr>
        </p:nvSpPr>
        <p:spPr>
          <a:xfrm>
            <a:off x="7260336" y="7033450"/>
            <a:ext cx="2319274" cy="378142"/>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4483636"/>
            <a:ext cx="494030" cy="3075940"/>
          </a:xfrm>
          <a:custGeom>
            <a:rect b="b" l="l" r="r" t="t"/>
            <a:pathLst>
              <a:path extrusionOk="0" h="3075940" w="494030">
                <a:moveTo>
                  <a:pt x="0" y="0"/>
                </a:moveTo>
                <a:lnTo>
                  <a:pt x="0" y="3075403"/>
                </a:lnTo>
                <a:lnTo>
                  <a:pt x="493669" y="3075403"/>
                </a:lnTo>
                <a:lnTo>
                  <a:pt x="0" y="0"/>
                </a:lnTo>
                <a:close/>
              </a:path>
            </a:pathLst>
          </a:custGeom>
          <a:solidFill>
            <a:srgbClr val="5FCAEE">
              <a:alpha val="6941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1"/>
          <p:cNvSpPr/>
          <p:nvPr/>
        </p:nvSpPr>
        <p:spPr>
          <a:xfrm>
            <a:off x="5657149" y="0"/>
            <a:ext cx="4424680" cy="7559675"/>
          </a:xfrm>
          <a:custGeom>
            <a:rect b="b" l="l" r="r" t="t"/>
            <a:pathLst>
              <a:path extrusionOk="0" h="7559675" w="4424680">
                <a:moveTo>
                  <a:pt x="0" y="7559040"/>
                </a:moveTo>
                <a:lnTo>
                  <a:pt x="4424110" y="4608028"/>
                </a:lnTo>
              </a:path>
              <a:path extrusionOk="0" h="7559675" w="4424680">
                <a:moveTo>
                  <a:pt x="2107249" y="0"/>
                </a:moveTo>
                <a:lnTo>
                  <a:pt x="3450274" y="7559673"/>
                </a:lnTo>
              </a:path>
            </a:pathLst>
          </a:custGeom>
          <a:noFill/>
          <a:ln cap="flat" cmpd="sng" w="9525">
            <a:solidFill>
              <a:srgbClr val="5FCAE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 name="Google Shape;8;p1"/>
          <p:cNvSpPr/>
          <p:nvPr/>
        </p:nvSpPr>
        <p:spPr>
          <a:xfrm>
            <a:off x="7598019" y="0"/>
            <a:ext cx="2483485" cy="7559040"/>
          </a:xfrm>
          <a:custGeom>
            <a:rect b="b" l="l" r="r" t="t"/>
            <a:pathLst>
              <a:path extrusionOk="0" h="7559040" w="2483484">
                <a:moveTo>
                  <a:pt x="2230510" y="0"/>
                </a:moveTo>
                <a:lnTo>
                  <a:pt x="0" y="7559040"/>
                </a:lnTo>
                <a:lnTo>
                  <a:pt x="2483240" y="7559040"/>
                </a:lnTo>
                <a:lnTo>
                  <a:pt x="2483240" y="8964"/>
                </a:lnTo>
                <a:lnTo>
                  <a:pt x="2230510" y="0"/>
                </a:lnTo>
                <a:close/>
              </a:path>
            </a:pathLst>
          </a:custGeom>
          <a:solidFill>
            <a:srgbClr val="5FCAEE">
              <a:alpha val="3529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 name="Google Shape;9;p1"/>
          <p:cNvSpPr/>
          <p:nvPr/>
        </p:nvSpPr>
        <p:spPr>
          <a:xfrm>
            <a:off x="7943867" y="0"/>
            <a:ext cx="2137410" cy="7559040"/>
          </a:xfrm>
          <a:custGeom>
            <a:rect b="b" l="l" r="r" t="t"/>
            <a:pathLst>
              <a:path extrusionOk="0" h="7559040" w="2137409">
                <a:moveTo>
                  <a:pt x="2137392" y="0"/>
                </a:moveTo>
                <a:lnTo>
                  <a:pt x="0" y="0"/>
                </a:lnTo>
                <a:lnTo>
                  <a:pt x="1323846" y="7559040"/>
                </a:lnTo>
                <a:lnTo>
                  <a:pt x="2137392" y="7559040"/>
                </a:lnTo>
                <a:lnTo>
                  <a:pt x="2137392" y="0"/>
                </a:lnTo>
                <a:close/>
              </a:path>
            </a:pathLst>
          </a:custGeom>
          <a:solidFill>
            <a:srgbClr val="5FCAEE">
              <a:alpha val="19215"/>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 name="Google Shape;10;p1"/>
          <p:cNvSpPr/>
          <p:nvPr/>
        </p:nvSpPr>
        <p:spPr>
          <a:xfrm>
            <a:off x="7318916" y="4321324"/>
            <a:ext cx="2762885" cy="3237865"/>
          </a:xfrm>
          <a:custGeom>
            <a:rect b="b" l="l" r="r" t="t"/>
            <a:pathLst>
              <a:path extrusionOk="0" h="3237865" w="2762884">
                <a:moveTo>
                  <a:pt x="2762343" y="0"/>
                </a:moveTo>
                <a:lnTo>
                  <a:pt x="0" y="3237715"/>
                </a:lnTo>
                <a:lnTo>
                  <a:pt x="2762343" y="3237715"/>
                </a:lnTo>
                <a:lnTo>
                  <a:pt x="2762343" y="0"/>
                </a:lnTo>
                <a:close/>
              </a:path>
            </a:pathLst>
          </a:custGeom>
          <a:solidFill>
            <a:srgbClr val="17AFE3">
              <a:alpha val="6509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 name="Google Shape;11;p1"/>
          <p:cNvSpPr/>
          <p:nvPr/>
        </p:nvSpPr>
        <p:spPr>
          <a:xfrm>
            <a:off x="7730525" y="0"/>
            <a:ext cx="2350770" cy="7559040"/>
          </a:xfrm>
          <a:custGeom>
            <a:rect b="b" l="l" r="r" t="t"/>
            <a:pathLst>
              <a:path extrusionOk="0" h="7559040" w="235077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 name="Google Shape;12;p1"/>
          <p:cNvSpPr/>
          <p:nvPr/>
        </p:nvSpPr>
        <p:spPr>
          <a:xfrm>
            <a:off x="9145586" y="0"/>
            <a:ext cx="935990" cy="7559040"/>
          </a:xfrm>
          <a:custGeom>
            <a:rect b="b" l="l" r="r" t="t"/>
            <a:pathLst>
              <a:path extrusionOk="0" h="7559040" w="935990">
                <a:moveTo>
                  <a:pt x="935673" y="0"/>
                </a:moveTo>
                <a:lnTo>
                  <a:pt x="744742" y="0"/>
                </a:lnTo>
                <a:lnTo>
                  <a:pt x="0" y="7559040"/>
                </a:lnTo>
                <a:lnTo>
                  <a:pt x="935673" y="7559040"/>
                </a:lnTo>
                <a:lnTo>
                  <a:pt x="935673" y="0"/>
                </a:lnTo>
                <a:close/>
              </a:path>
            </a:pathLst>
          </a:custGeom>
          <a:solidFill>
            <a:srgbClr val="2D83C3">
              <a:alpha val="6941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
          <p:cNvSpPr/>
          <p:nvPr/>
        </p:nvSpPr>
        <p:spPr>
          <a:xfrm>
            <a:off x="8924576" y="0"/>
            <a:ext cx="1156970" cy="7559040"/>
          </a:xfrm>
          <a:custGeom>
            <a:rect b="b" l="l" r="r" t="t"/>
            <a:pathLst>
              <a:path extrusionOk="0" h="7559040" w="1156970">
                <a:moveTo>
                  <a:pt x="1156683" y="0"/>
                </a:moveTo>
                <a:lnTo>
                  <a:pt x="0" y="0"/>
                </a:lnTo>
                <a:lnTo>
                  <a:pt x="1033660" y="7559040"/>
                </a:lnTo>
                <a:lnTo>
                  <a:pt x="1156683" y="7559040"/>
                </a:lnTo>
                <a:lnTo>
                  <a:pt x="1156683" y="0"/>
                </a:lnTo>
                <a:close/>
              </a:path>
            </a:pathLst>
          </a:custGeom>
          <a:solidFill>
            <a:srgbClr val="226192">
              <a:alpha val="8117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 name="Google Shape;14;p1"/>
          <p:cNvSpPr/>
          <p:nvPr/>
        </p:nvSpPr>
        <p:spPr>
          <a:xfrm>
            <a:off x="8895050" y="5420201"/>
            <a:ext cx="1186815" cy="2139315"/>
          </a:xfrm>
          <a:custGeom>
            <a:rect b="b" l="l" r="r" t="t"/>
            <a:pathLst>
              <a:path extrusionOk="0" h="2139315" w="1186815">
                <a:moveTo>
                  <a:pt x="1186209" y="0"/>
                </a:moveTo>
                <a:lnTo>
                  <a:pt x="0" y="2138838"/>
                </a:lnTo>
                <a:lnTo>
                  <a:pt x="136021" y="2138838"/>
                </a:lnTo>
                <a:lnTo>
                  <a:pt x="1186209" y="2133955"/>
                </a:lnTo>
                <a:lnTo>
                  <a:pt x="1186209" y="0"/>
                </a:lnTo>
                <a:close/>
              </a:path>
            </a:pathLst>
          </a:custGeom>
          <a:solidFill>
            <a:srgbClr val="17AFE3">
              <a:alpha val="6509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 name="Google Shape;15;p1"/>
          <p:cNvSpPr txBox="1"/>
          <p:nvPr>
            <p:ph type="title"/>
          </p:nvPr>
        </p:nvSpPr>
        <p:spPr>
          <a:xfrm>
            <a:off x="490524" y="371932"/>
            <a:ext cx="7421245" cy="108585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
          <p:cNvSpPr txBox="1"/>
          <p:nvPr>
            <p:ph idx="1" type="body"/>
          </p:nvPr>
        </p:nvSpPr>
        <p:spPr>
          <a:xfrm>
            <a:off x="2813685" y="3465322"/>
            <a:ext cx="4456429" cy="368554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3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7" name="Google Shape;17;p1"/>
          <p:cNvSpPr txBox="1"/>
          <p:nvPr>
            <p:ph idx="11" type="ftr"/>
          </p:nvPr>
        </p:nvSpPr>
        <p:spPr>
          <a:xfrm>
            <a:off x="3428492" y="7033450"/>
            <a:ext cx="3226816"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
          <p:cNvSpPr txBox="1"/>
          <p:nvPr>
            <p:ph idx="10" type="dt"/>
          </p:nvPr>
        </p:nvSpPr>
        <p:spPr>
          <a:xfrm>
            <a:off x="504190" y="7033450"/>
            <a:ext cx="2319274"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1"/>
          <p:cNvSpPr txBox="1"/>
          <p:nvPr>
            <p:ph idx="12" type="sldNum"/>
          </p:nvPr>
        </p:nvSpPr>
        <p:spPr>
          <a:xfrm>
            <a:off x="7260336" y="7033450"/>
            <a:ext cx="2319274" cy="378142"/>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7"/>
          <p:cNvSpPr txBox="1"/>
          <p:nvPr>
            <p:ph type="title"/>
          </p:nvPr>
        </p:nvSpPr>
        <p:spPr>
          <a:xfrm>
            <a:off x="1073150" y="2185659"/>
            <a:ext cx="8176259" cy="566822"/>
          </a:xfrm>
          <a:prstGeom prst="rect">
            <a:avLst/>
          </a:prstGeom>
          <a:noFill/>
          <a:ln>
            <a:noFill/>
          </a:ln>
        </p:spPr>
        <p:txBody>
          <a:bodyPr anchorCtr="0" anchor="t" bIns="0" lIns="0" spcFirstLastPara="1" rIns="0" wrap="square" tIns="12700">
            <a:spAutoFit/>
          </a:bodyPr>
          <a:lstStyle/>
          <a:p>
            <a:pPr indent="0" lvl="0" marL="0" rtl="0" algn="ctr">
              <a:spcBef>
                <a:spcPts val="0"/>
              </a:spcBef>
              <a:spcAft>
                <a:spcPts val="0"/>
              </a:spcAft>
              <a:buNone/>
            </a:pPr>
            <a:r>
              <a:rPr lang="en-IN"/>
              <a:t>10-K Whisperer</a:t>
            </a:r>
            <a:endParaRPr/>
          </a:p>
        </p:txBody>
      </p:sp>
      <p:sp>
        <p:nvSpPr>
          <p:cNvPr id="53" name="Google Shape;53;p7"/>
          <p:cNvSpPr txBox="1"/>
          <p:nvPr>
            <p:ph idx="1" type="body"/>
          </p:nvPr>
        </p:nvSpPr>
        <p:spPr>
          <a:xfrm>
            <a:off x="-37148" y="3095625"/>
            <a:ext cx="9919970" cy="4204356"/>
          </a:xfrm>
          <a:prstGeom prst="rect">
            <a:avLst/>
          </a:prstGeom>
          <a:noFill/>
          <a:ln>
            <a:noFill/>
          </a:ln>
        </p:spPr>
        <p:txBody>
          <a:bodyPr anchorCtr="0" anchor="t" bIns="0" lIns="0" spcFirstLastPara="1" rIns="0" wrap="square" tIns="13325">
            <a:spAutoFit/>
          </a:bodyPr>
          <a:lstStyle/>
          <a:p>
            <a:pPr indent="0" lvl="0" marL="0" rtl="0" algn="ctr">
              <a:lnSpc>
                <a:spcPct val="100000"/>
              </a:lnSpc>
              <a:spcBef>
                <a:spcPts val="0"/>
              </a:spcBef>
              <a:spcAft>
                <a:spcPts val="0"/>
              </a:spcAft>
              <a:buNone/>
            </a:pPr>
            <a:r>
              <a:rPr lang="en-IN"/>
              <a:t>Group No. </a:t>
            </a:r>
            <a:endParaRPr/>
          </a:p>
          <a:p>
            <a:pPr indent="0" lvl="0" marL="0" rtl="0" algn="ctr">
              <a:lnSpc>
                <a:spcPct val="100000"/>
              </a:lnSpc>
              <a:spcBef>
                <a:spcPts val="0"/>
              </a:spcBef>
              <a:spcAft>
                <a:spcPts val="0"/>
              </a:spcAft>
              <a:buNone/>
            </a:pPr>
            <a:r>
              <a:rPr lang="en-IN"/>
              <a:t>Avadhoot Virkar     - 22107064</a:t>
            </a:r>
            <a:endParaRPr/>
          </a:p>
          <a:p>
            <a:pPr indent="0" lvl="0" marL="0" rtl="0" algn="ctr">
              <a:lnSpc>
                <a:spcPct val="100000"/>
              </a:lnSpc>
              <a:spcBef>
                <a:spcPts val="0"/>
              </a:spcBef>
              <a:spcAft>
                <a:spcPts val="0"/>
              </a:spcAft>
              <a:buNone/>
            </a:pPr>
            <a:r>
              <a:rPr lang="en-IN"/>
              <a:t>Chinmay Pawaskar - 22107066</a:t>
            </a:r>
            <a:endParaRPr/>
          </a:p>
          <a:p>
            <a:pPr indent="0" lvl="0" marL="0" rtl="0" algn="ctr">
              <a:lnSpc>
                <a:spcPct val="100000"/>
              </a:lnSpc>
              <a:spcBef>
                <a:spcPts val="0"/>
              </a:spcBef>
              <a:spcAft>
                <a:spcPts val="0"/>
              </a:spcAft>
              <a:buNone/>
            </a:pPr>
            <a:r>
              <a:rPr lang="en-IN"/>
              <a:t>Soham Shigvan         - 22107001</a:t>
            </a:r>
            <a:endParaRPr/>
          </a:p>
          <a:p>
            <a:pPr indent="0" lvl="0" marL="0" rtl="0" algn="ctr">
              <a:lnSpc>
                <a:spcPct val="100000"/>
              </a:lnSpc>
              <a:spcBef>
                <a:spcPts val="0"/>
              </a:spcBef>
              <a:spcAft>
                <a:spcPts val="0"/>
              </a:spcAft>
              <a:buNone/>
            </a:pPr>
            <a:r>
              <a:rPr lang="en-IN"/>
              <a:t>Monish Mudaliar     - 22107024</a:t>
            </a:r>
            <a:endParaRPr/>
          </a:p>
          <a:p>
            <a:pPr indent="0" lvl="0" marL="0" rtl="0" algn="ctr">
              <a:lnSpc>
                <a:spcPct val="100000"/>
              </a:lnSpc>
              <a:spcBef>
                <a:spcPts val="0"/>
              </a:spcBef>
              <a:spcAft>
                <a:spcPts val="0"/>
              </a:spcAft>
              <a:buNone/>
            </a:pPr>
            <a:r>
              <a:t/>
            </a:r>
            <a:endParaRPr/>
          </a:p>
          <a:p>
            <a:pPr indent="0" lvl="0" marL="0" rtl="0" algn="ctr">
              <a:lnSpc>
                <a:spcPct val="100000"/>
              </a:lnSpc>
              <a:spcBef>
                <a:spcPts val="3354"/>
              </a:spcBef>
              <a:spcAft>
                <a:spcPts val="0"/>
              </a:spcAft>
              <a:buNone/>
            </a:pPr>
            <a:r>
              <a:rPr lang="en-IN" sz="2800"/>
              <a:t>Project Guide</a:t>
            </a:r>
            <a:endParaRPr sz="2800"/>
          </a:p>
          <a:p>
            <a:pPr indent="0" lvl="0" marL="0" rtl="0" algn="ctr">
              <a:lnSpc>
                <a:spcPct val="100000"/>
              </a:lnSpc>
              <a:spcBef>
                <a:spcPts val="15"/>
              </a:spcBef>
              <a:spcAft>
                <a:spcPts val="0"/>
              </a:spcAft>
              <a:buNone/>
            </a:pPr>
            <a:r>
              <a:rPr lang="en-IN" sz="2400"/>
              <a:t>Prof. Depali Gat</a:t>
            </a:r>
            <a:endParaRPr sz="2400"/>
          </a:p>
        </p:txBody>
      </p:sp>
      <p:grpSp>
        <p:nvGrpSpPr>
          <p:cNvPr id="54" name="Google Shape;54;p7"/>
          <p:cNvGrpSpPr/>
          <p:nvPr/>
        </p:nvGrpSpPr>
        <p:grpSpPr>
          <a:xfrm>
            <a:off x="0" y="146050"/>
            <a:ext cx="10081259" cy="1696465"/>
            <a:chOff x="0" y="146050"/>
            <a:chExt cx="10081259" cy="1696465"/>
          </a:xfrm>
        </p:grpSpPr>
        <p:pic>
          <p:nvPicPr>
            <p:cNvPr id="55" name="Google Shape;55;p7"/>
            <p:cNvPicPr preferRelativeResize="0"/>
            <p:nvPr/>
          </p:nvPicPr>
          <p:blipFill rotWithShape="1">
            <a:blip r:embed="rId3">
              <a:alphaModFix/>
            </a:blip>
            <a:srcRect b="0" l="0" r="0" t="0"/>
            <a:stretch/>
          </p:blipFill>
          <p:spPr>
            <a:xfrm>
              <a:off x="0" y="1690166"/>
              <a:ext cx="10081259" cy="152349"/>
            </a:xfrm>
            <a:prstGeom prst="rect">
              <a:avLst/>
            </a:prstGeom>
            <a:noFill/>
            <a:ln>
              <a:noFill/>
            </a:ln>
          </p:spPr>
        </p:pic>
        <p:sp>
          <p:nvSpPr>
            <p:cNvPr id="56" name="Google Shape;56;p7"/>
            <p:cNvSpPr/>
            <p:nvPr/>
          </p:nvSpPr>
          <p:spPr>
            <a:xfrm>
              <a:off x="0" y="1743075"/>
              <a:ext cx="10080625" cy="0"/>
            </a:xfrm>
            <a:custGeom>
              <a:rect b="b" l="l" r="r" t="t"/>
              <a:pathLst>
                <a:path extrusionOk="0" h="120000" w="10080625">
                  <a:moveTo>
                    <a:pt x="0" y="0"/>
                  </a:moveTo>
                  <a:lnTo>
                    <a:pt x="10080625"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57" name="Google Shape;57;p7"/>
            <p:cNvPicPr preferRelativeResize="0"/>
            <p:nvPr/>
          </p:nvPicPr>
          <p:blipFill rotWithShape="1">
            <a:blip r:embed="rId4">
              <a:alphaModFix/>
            </a:blip>
            <a:srcRect b="0" l="0" r="0" t="0"/>
            <a:stretch/>
          </p:blipFill>
          <p:spPr>
            <a:xfrm>
              <a:off x="1079500" y="146050"/>
              <a:ext cx="7686675" cy="1571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8"/>
          <p:cNvSpPr txBox="1"/>
          <p:nvPr>
            <p:ph type="title"/>
          </p:nvPr>
        </p:nvSpPr>
        <p:spPr>
          <a:xfrm>
            <a:off x="4150233" y="368046"/>
            <a:ext cx="178053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IN"/>
              <a:t>Contents</a:t>
            </a:r>
            <a:endParaRPr/>
          </a:p>
        </p:txBody>
      </p:sp>
      <p:sp>
        <p:nvSpPr>
          <p:cNvPr id="63" name="Google Shape;63;p8"/>
          <p:cNvSpPr txBox="1"/>
          <p:nvPr/>
        </p:nvSpPr>
        <p:spPr>
          <a:xfrm>
            <a:off x="597204" y="1023733"/>
            <a:ext cx="7393940" cy="5244384"/>
          </a:xfrm>
          <a:prstGeom prst="rect">
            <a:avLst/>
          </a:prstGeom>
          <a:noFill/>
          <a:ln>
            <a:noFill/>
          </a:ln>
        </p:spPr>
        <p:txBody>
          <a:bodyPr anchorCtr="0" anchor="t" bIns="0" lIns="0" spcFirstLastPara="1" rIns="0" wrap="square" tIns="164450">
            <a:spAutoFit/>
          </a:bodyPr>
          <a:lstStyle/>
          <a:p>
            <a:pPr indent="-321310" lvl="0" marL="334010" rtl="0" algn="l">
              <a:lnSpc>
                <a:spcPct val="100000"/>
              </a:lnSpc>
              <a:spcBef>
                <a:spcPts val="0"/>
              </a:spcBef>
              <a:spcAft>
                <a:spcPts val="0"/>
              </a:spcAft>
              <a:buSzPts val="1100"/>
              <a:buFont typeface="Calibri"/>
              <a:buChar char="●"/>
            </a:pPr>
            <a:r>
              <a:rPr lang="en-IN" sz="2400">
                <a:latin typeface="Times New Roman"/>
                <a:ea typeface="Times New Roman"/>
                <a:cs typeface="Times New Roman"/>
                <a:sym typeface="Times New Roman"/>
              </a:rPr>
              <a:t>Abstract</a:t>
            </a:r>
            <a:endParaRPr sz="2400">
              <a:latin typeface="Times New Roman"/>
              <a:ea typeface="Times New Roman"/>
              <a:cs typeface="Times New Roman"/>
              <a:sym typeface="Times New Roman"/>
            </a:endParaRPr>
          </a:p>
          <a:p>
            <a:pPr indent="-321310" lvl="0" marL="334010" rtl="0" algn="l">
              <a:lnSpc>
                <a:spcPct val="100000"/>
              </a:lnSpc>
              <a:spcBef>
                <a:spcPts val="1190"/>
              </a:spcBef>
              <a:spcAft>
                <a:spcPts val="0"/>
              </a:spcAft>
              <a:buSzPts val="1100"/>
              <a:buFont typeface="Calibri"/>
              <a:buChar char="●"/>
            </a:pPr>
            <a:r>
              <a:rPr lang="en-IN" sz="2400">
                <a:latin typeface="Times New Roman"/>
                <a:ea typeface="Times New Roman"/>
                <a:cs typeface="Times New Roman"/>
                <a:sym typeface="Times New Roman"/>
              </a:rPr>
              <a:t>Introduction</a:t>
            </a:r>
            <a:endParaRPr sz="2400">
              <a:latin typeface="Times New Roman"/>
              <a:ea typeface="Times New Roman"/>
              <a:cs typeface="Times New Roman"/>
              <a:sym typeface="Times New Roman"/>
            </a:endParaRPr>
          </a:p>
          <a:p>
            <a:pPr indent="-321310" lvl="0" marL="334010" rtl="0" algn="l">
              <a:lnSpc>
                <a:spcPct val="100000"/>
              </a:lnSpc>
              <a:spcBef>
                <a:spcPts val="1200"/>
              </a:spcBef>
              <a:spcAft>
                <a:spcPts val="0"/>
              </a:spcAft>
              <a:buSzPts val="1100"/>
              <a:buFont typeface="Calibri"/>
              <a:buChar char="●"/>
            </a:pPr>
            <a:r>
              <a:rPr lang="en-IN" sz="2400">
                <a:latin typeface="Times New Roman"/>
                <a:ea typeface="Times New Roman"/>
                <a:cs typeface="Times New Roman"/>
                <a:sym typeface="Times New Roman"/>
              </a:rPr>
              <a:t>Motivation</a:t>
            </a:r>
            <a:endParaRPr sz="2400">
              <a:latin typeface="Times New Roman"/>
              <a:ea typeface="Times New Roman"/>
              <a:cs typeface="Times New Roman"/>
              <a:sym typeface="Times New Roman"/>
            </a:endParaRPr>
          </a:p>
          <a:p>
            <a:pPr indent="-321310" lvl="0" marL="334010" rtl="0" algn="l">
              <a:lnSpc>
                <a:spcPct val="100000"/>
              </a:lnSpc>
              <a:spcBef>
                <a:spcPts val="1200"/>
              </a:spcBef>
              <a:spcAft>
                <a:spcPts val="0"/>
              </a:spcAft>
              <a:buSzPts val="1100"/>
              <a:buFont typeface="Calibri"/>
              <a:buChar char="●"/>
            </a:pPr>
            <a:r>
              <a:rPr lang="en-IN" sz="2400">
                <a:latin typeface="Times New Roman"/>
                <a:ea typeface="Times New Roman"/>
                <a:cs typeface="Times New Roman"/>
                <a:sym typeface="Times New Roman"/>
              </a:rPr>
              <a:t>Objectives</a:t>
            </a:r>
            <a:endParaRPr sz="2400">
              <a:latin typeface="Times New Roman"/>
              <a:ea typeface="Times New Roman"/>
              <a:cs typeface="Times New Roman"/>
              <a:sym typeface="Times New Roman"/>
            </a:endParaRPr>
          </a:p>
          <a:p>
            <a:pPr indent="-321310" lvl="0" marL="334010" rtl="0" algn="l">
              <a:lnSpc>
                <a:spcPct val="100000"/>
              </a:lnSpc>
              <a:spcBef>
                <a:spcPts val="1200"/>
              </a:spcBef>
              <a:spcAft>
                <a:spcPts val="0"/>
              </a:spcAft>
              <a:buSzPts val="1100"/>
              <a:buFont typeface="Calibri"/>
              <a:buChar char="●"/>
            </a:pPr>
            <a:r>
              <a:rPr lang="en-IN" sz="2400">
                <a:latin typeface="Times New Roman"/>
                <a:ea typeface="Times New Roman"/>
                <a:cs typeface="Times New Roman"/>
                <a:sym typeface="Times New Roman"/>
              </a:rPr>
              <a:t>Research Gap</a:t>
            </a:r>
            <a:endParaRPr sz="2400">
              <a:latin typeface="Times New Roman"/>
              <a:ea typeface="Times New Roman"/>
              <a:cs typeface="Times New Roman"/>
              <a:sym typeface="Times New Roman"/>
            </a:endParaRPr>
          </a:p>
          <a:p>
            <a:pPr indent="-321310" lvl="0" marL="334010" rtl="0" algn="l">
              <a:lnSpc>
                <a:spcPct val="100000"/>
              </a:lnSpc>
              <a:spcBef>
                <a:spcPts val="1200"/>
              </a:spcBef>
              <a:spcAft>
                <a:spcPts val="0"/>
              </a:spcAft>
              <a:buSzPts val="1100"/>
              <a:buFont typeface="Calibri"/>
              <a:buChar char="●"/>
            </a:pPr>
            <a:r>
              <a:rPr lang="en-IN" sz="2400">
                <a:latin typeface="Times New Roman"/>
                <a:ea typeface="Times New Roman"/>
                <a:cs typeface="Times New Roman"/>
                <a:sym typeface="Times New Roman"/>
              </a:rPr>
              <a:t>Problem Definition</a:t>
            </a:r>
            <a:endParaRPr sz="2400">
              <a:latin typeface="Times New Roman"/>
              <a:ea typeface="Times New Roman"/>
              <a:cs typeface="Times New Roman"/>
              <a:sym typeface="Times New Roman"/>
            </a:endParaRPr>
          </a:p>
          <a:p>
            <a:pPr indent="-321310" lvl="0" marL="334010" rtl="0" algn="l">
              <a:lnSpc>
                <a:spcPct val="100000"/>
              </a:lnSpc>
              <a:spcBef>
                <a:spcPts val="1200"/>
              </a:spcBef>
              <a:spcAft>
                <a:spcPts val="0"/>
              </a:spcAft>
              <a:buSzPts val="1100"/>
              <a:buFont typeface="Calibri"/>
              <a:buChar char="●"/>
            </a:pPr>
            <a:r>
              <a:rPr lang="en-IN" sz="2400">
                <a:latin typeface="Times New Roman"/>
                <a:ea typeface="Times New Roman"/>
                <a:cs typeface="Times New Roman"/>
                <a:sym typeface="Times New Roman"/>
              </a:rPr>
              <a:t>Scope</a:t>
            </a:r>
            <a:endParaRPr sz="2400">
              <a:latin typeface="Times New Roman"/>
              <a:ea typeface="Times New Roman"/>
              <a:cs typeface="Times New Roman"/>
              <a:sym typeface="Times New Roman"/>
            </a:endParaRPr>
          </a:p>
          <a:p>
            <a:pPr indent="-321310" lvl="0" marL="334010" rtl="0" algn="l">
              <a:lnSpc>
                <a:spcPct val="100000"/>
              </a:lnSpc>
              <a:spcBef>
                <a:spcPts val="1205"/>
              </a:spcBef>
              <a:spcAft>
                <a:spcPts val="0"/>
              </a:spcAft>
              <a:buSzPts val="1100"/>
              <a:buFont typeface="Calibri"/>
              <a:buChar char="●"/>
            </a:pPr>
            <a:r>
              <a:rPr lang="en-IN" sz="2400">
                <a:latin typeface="Times New Roman"/>
                <a:ea typeface="Times New Roman"/>
                <a:cs typeface="Times New Roman"/>
                <a:sym typeface="Times New Roman"/>
              </a:rPr>
              <a:t>Technological Stack</a:t>
            </a:r>
            <a:endParaRPr sz="2400">
              <a:latin typeface="Times New Roman"/>
              <a:ea typeface="Times New Roman"/>
              <a:cs typeface="Times New Roman"/>
              <a:sym typeface="Times New Roman"/>
            </a:endParaRPr>
          </a:p>
          <a:p>
            <a:pPr indent="-321310" lvl="0" marL="334010" rtl="0" algn="l">
              <a:lnSpc>
                <a:spcPct val="100000"/>
              </a:lnSpc>
              <a:spcBef>
                <a:spcPts val="1185"/>
              </a:spcBef>
              <a:spcAft>
                <a:spcPts val="0"/>
              </a:spcAft>
              <a:buSzPts val="1100"/>
              <a:buFont typeface="Calibri"/>
              <a:buChar char="●"/>
            </a:pPr>
            <a:r>
              <a:rPr lang="en-IN" sz="2400">
                <a:latin typeface="Times New Roman"/>
                <a:ea typeface="Times New Roman"/>
                <a:cs typeface="Times New Roman"/>
                <a:sym typeface="Times New Roman"/>
              </a:rPr>
              <a:t>Implementation</a:t>
            </a:r>
            <a:endParaRPr sz="2400">
              <a:latin typeface="Times New Roman"/>
              <a:ea typeface="Times New Roman"/>
              <a:cs typeface="Times New Roman"/>
              <a:sym typeface="Times New Roman"/>
            </a:endParaRPr>
          </a:p>
          <a:p>
            <a:pPr indent="-321310" lvl="0" marL="334010" rtl="0" algn="l">
              <a:lnSpc>
                <a:spcPct val="100000"/>
              </a:lnSpc>
              <a:spcBef>
                <a:spcPts val="1205"/>
              </a:spcBef>
              <a:spcAft>
                <a:spcPts val="0"/>
              </a:spcAft>
              <a:buSzPts val="1100"/>
              <a:buFont typeface="Calibri"/>
              <a:buChar char="●"/>
            </a:pPr>
            <a:r>
              <a:rPr lang="en-IN" sz="2400">
                <a:latin typeface="Times New Roman"/>
                <a:ea typeface="Times New Roman"/>
                <a:cs typeface="Times New Roman"/>
                <a:sym typeface="Times New Roman"/>
              </a:rPr>
              <a:t>Conclusion</a:t>
            </a:r>
            <a:endParaRPr sz="24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9"/>
          <p:cNvSpPr txBox="1"/>
          <p:nvPr>
            <p:ph type="title"/>
          </p:nvPr>
        </p:nvSpPr>
        <p:spPr>
          <a:xfrm>
            <a:off x="490524" y="371932"/>
            <a:ext cx="7421245" cy="1085850"/>
          </a:xfrm>
          <a:prstGeom prst="rect">
            <a:avLst/>
          </a:prstGeom>
          <a:noFill/>
          <a:ln>
            <a:noFill/>
          </a:ln>
        </p:spPr>
        <p:txBody>
          <a:bodyPr anchorCtr="0" anchor="t" bIns="0" lIns="0" spcFirstLastPara="1" rIns="0" wrap="square" tIns="268400">
            <a:spAutoFit/>
          </a:bodyPr>
          <a:lstStyle/>
          <a:p>
            <a:pPr indent="0" lvl="0" marL="12700" rtl="0" algn="l">
              <a:lnSpc>
                <a:spcPct val="100000"/>
              </a:lnSpc>
              <a:spcBef>
                <a:spcPts val="0"/>
              </a:spcBef>
              <a:spcAft>
                <a:spcPts val="0"/>
              </a:spcAft>
              <a:buNone/>
            </a:pPr>
            <a:r>
              <a:rPr lang="en-IN"/>
              <a:t>Abstract</a:t>
            </a:r>
            <a:endParaRPr/>
          </a:p>
        </p:txBody>
      </p:sp>
      <p:sp>
        <p:nvSpPr>
          <p:cNvPr id="69" name="Google Shape;69;p9"/>
          <p:cNvSpPr txBox="1"/>
          <p:nvPr/>
        </p:nvSpPr>
        <p:spPr>
          <a:xfrm>
            <a:off x="420117" y="1599057"/>
            <a:ext cx="9117584" cy="3891450"/>
          </a:xfrm>
          <a:prstGeom prst="rect">
            <a:avLst/>
          </a:prstGeom>
          <a:noFill/>
          <a:ln>
            <a:noFill/>
          </a:ln>
        </p:spPr>
        <p:txBody>
          <a:bodyPr anchorCtr="0" anchor="t" bIns="0" lIns="0" spcFirstLastPara="1" rIns="0" wrap="square" tIns="13325">
            <a:spAutoFit/>
          </a:bodyPr>
          <a:lstStyle/>
          <a:p>
            <a:pPr indent="0" lvl="0" marL="12700" marR="5080" rtl="0" algn="just">
              <a:lnSpc>
                <a:spcPct val="100000"/>
              </a:lnSpc>
              <a:spcBef>
                <a:spcPts val="0"/>
              </a:spcBef>
              <a:spcAft>
                <a:spcPts val="0"/>
              </a:spcAft>
              <a:buNone/>
            </a:pPr>
            <a:r>
              <a:rPr lang="en-IN" sz="2100">
                <a:latin typeface="Times New Roman"/>
                <a:ea typeface="Times New Roman"/>
                <a:cs typeface="Times New Roman"/>
                <a:sym typeface="Times New Roman"/>
              </a:rPr>
              <a:t>This project presents the development of an AI-based financial document analysis system, “10-K Whisperer,” designed to simplify the understanding of complex financial reports such as annual filings and 10-K documents. The system uses a Retrieval-Augmented Generation (RAG) approach along with Natural Language Processing (NLP) techniques to extract, process, and analyze information from uploaded PDF files.It includes stages such as document parsing, text chunking, embedding generation, and semantic retrieval using a vector database. The system generates a 3-point executive summary and provides accurate answers to user queries based on the document content.The results demonstrate efficient information retrieval and reduced manual effort in analyzing lengthy reports. Overall, the project highlights a lightweight and practical AI solution in finance with scope for future enhancements.</a:t>
            </a:r>
            <a:endParaRPr sz="21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0"/>
          <p:cNvSpPr txBox="1"/>
          <p:nvPr>
            <p:ph type="title"/>
          </p:nvPr>
        </p:nvSpPr>
        <p:spPr>
          <a:xfrm>
            <a:off x="490524" y="371932"/>
            <a:ext cx="7421245" cy="1085850"/>
          </a:xfrm>
          <a:prstGeom prst="rect">
            <a:avLst/>
          </a:prstGeom>
          <a:noFill/>
          <a:ln>
            <a:noFill/>
          </a:ln>
        </p:spPr>
        <p:txBody>
          <a:bodyPr anchorCtr="0" anchor="t" bIns="0" lIns="0" spcFirstLastPara="1" rIns="0" wrap="square" tIns="268400">
            <a:spAutoFit/>
          </a:bodyPr>
          <a:lstStyle/>
          <a:p>
            <a:pPr indent="0" lvl="0" marL="12700" rtl="0" algn="l">
              <a:lnSpc>
                <a:spcPct val="100000"/>
              </a:lnSpc>
              <a:spcBef>
                <a:spcPts val="0"/>
              </a:spcBef>
              <a:spcAft>
                <a:spcPts val="0"/>
              </a:spcAft>
              <a:buNone/>
            </a:pPr>
            <a:r>
              <a:rPr lang="en-IN"/>
              <a:t>Introduction</a:t>
            </a:r>
            <a:endParaRPr/>
          </a:p>
        </p:txBody>
      </p:sp>
      <p:sp>
        <p:nvSpPr>
          <p:cNvPr id="75" name="Google Shape;75;p10"/>
          <p:cNvSpPr txBox="1"/>
          <p:nvPr/>
        </p:nvSpPr>
        <p:spPr>
          <a:xfrm>
            <a:off x="491439" y="1587449"/>
            <a:ext cx="9099550" cy="1952458"/>
          </a:xfrm>
          <a:prstGeom prst="rect">
            <a:avLst/>
          </a:prstGeom>
          <a:noFill/>
          <a:ln>
            <a:noFill/>
          </a:ln>
        </p:spPr>
        <p:txBody>
          <a:bodyPr anchorCtr="0" anchor="t" bIns="0" lIns="0" spcFirstLastPara="1" rIns="0" wrap="square" tIns="13325">
            <a:spAutoFit/>
          </a:bodyPr>
          <a:lstStyle/>
          <a:p>
            <a:pPr indent="0" lvl="0" marL="12700" rtl="0" algn="just">
              <a:lnSpc>
                <a:spcPct val="100000"/>
              </a:lnSpc>
              <a:spcBef>
                <a:spcPts val="0"/>
              </a:spcBef>
              <a:spcAft>
                <a:spcPts val="0"/>
              </a:spcAft>
              <a:buNone/>
            </a:pPr>
            <a:r>
              <a:rPr lang="en-IN" sz="2100">
                <a:latin typeface="Times New Roman"/>
                <a:ea typeface="Times New Roman"/>
                <a:cs typeface="Times New Roman"/>
                <a:sym typeface="Times New Roman"/>
              </a:rPr>
              <a:t>This project focuses on developing an AI-based system that helps users understand complex financial documents easily. It uses NLP and RAG techniques to extract meaningful insights from large PDF reports.The system allows users to upload financial documents and interact with them through a chat interface. It aims to reduce manual reading effort and provide quick, accurate, and context-based information.</a:t>
            </a:r>
            <a:endParaRPr sz="2100">
              <a:latin typeface="Times New Roman"/>
              <a:ea typeface="Times New Roman"/>
              <a:cs typeface="Times New Roman"/>
              <a:sym typeface="Times New Roman"/>
            </a:endParaRPr>
          </a:p>
        </p:txBody>
      </p:sp>
      <p:sp>
        <p:nvSpPr>
          <p:cNvPr id="76" name="Google Shape;76;p10"/>
          <p:cNvSpPr txBox="1"/>
          <p:nvPr/>
        </p:nvSpPr>
        <p:spPr>
          <a:xfrm>
            <a:off x="442569" y="4022944"/>
            <a:ext cx="9197289" cy="2446824"/>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None/>
            </a:pPr>
            <a:r>
              <a:rPr b="1" lang="en-IN" sz="2400">
                <a:latin typeface="Times New Roman"/>
                <a:ea typeface="Times New Roman"/>
                <a:cs typeface="Times New Roman"/>
                <a:sym typeface="Times New Roman"/>
              </a:rPr>
              <a:t>Motivation</a:t>
            </a:r>
            <a:r>
              <a:rPr lang="en-IN" sz="2400">
                <a:latin typeface="Times New Roman"/>
                <a:ea typeface="Times New Roman"/>
                <a:cs typeface="Times New Roman"/>
                <a:sym typeface="Times New Roman"/>
              </a:rPr>
              <a:t> :</a:t>
            </a:r>
            <a:endParaRPr/>
          </a:p>
          <a:p>
            <a:pPr indent="0" lvl="0" marL="0" rtl="0" algn="just">
              <a:spcBef>
                <a:spcPts val="0"/>
              </a:spcBef>
              <a:spcAft>
                <a:spcPts val="0"/>
              </a:spcAft>
              <a:buNone/>
            </a:pPr>
            <a:r>
              <a:t/>
            </a:r>
            <a:endParaRPr sz="2400">
              <a:latin typeface="Times New Roman"/>
              <a:ea typeface="Times New Roman"/>
              <a:cs typeface="Times New Roman"/>
              <a:sym typeface="Times New Roman"/>
            </a:endParaRPr>
          </a:p>
          <a:p>
            <a:pPr indent="-342900" lvl="0" marL="342900" rtl="0" algn="just">
              <a:spcBef>
                <a:spcPts val="0"/>
              </a:spcBef>
              <a:spcAft>
                <a:spcPts val="0"/>
              </a:spcAft>
              <a:buSzPts val="2100"/>
              <a:buFont typeface="Arial"/>
              <a:buChar char="•"/>
            </a:pPr>
            <a:r>
              <a:rPr lang="en-IN" sz="2100">
                <a:latin typeface="Times New Roman"/>
                <a:ea typeface="Times New Roman"/>
                <a:cs typeface="Times New Roman"/>
                <a:sym typeface="Times New Roman"/>
              </a:rPr>
              <a:t>Reduce the time and effort required for manual content creation by automating text generation using AI  techniques.</a:t>
            </a:r>
            <a:endParaRPr/>
          </a:p>
          <a:p>
            <a:pPr indent="-209550" lvl="0" marL="342900" rtl="0" algn="just">
              <a:spcBef>
                <a:spcPts val="0"/>
              </a:spcBef>
              <a:spcAft>
                <a:spcPts val="0"/>
              </a:spcAft>
              <a:buSzPts val="2100"/>
              <a:buFont typeface="Arial"/>
              <a:buNone/>
            </a:pPr>
            <a:r>
              <a:t/>
            </a:r>
            <a:endParaRPr sz="2100">
              <a:latin typeface="Times New Roman"/>
              <a:ea typeface="Times New Roman"/>
              <a:cs typeface="Times New Roman"/>
              <a:sym typeface="Times New Roman"/>
            </a:endParaRPr>
          </a:p>
          <a:p>
            <a:pPr indent="-342900" lvl="0" marL="342900" rtl="0" algn="just">
              <a:spcBef>
                <a:spcPts val="0"/>
              </a:spcBef>
              <a:spcAft>
                <a:spcPts val="0"/>
              </a:spcAft>
              <a:buSzPts val="2100"/>
              <a:buFont typeface="Arial"/>
              <a:buChar char="•"/>
            </a:pPr>
            <a:r>
              <a:rPr lang="en-IN" sz="2100">
                <a:latin typeface="Times New Roman"/>
                <a:ea typeface="Times New Roman"/>
                <a:cs typeface="Times New Roman"/>
                <a:sym typeface="Times New Roman"/>
              </a:rPr>
              <a:t>Develop an intelligent system that can generate coherent and meaningful text, improving productivity in tasks like report writing and communication.</a:t>
            </a:r>
            <a:endParaRPr sz="21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1"/>
          <p:cNvSpPr txBox="1"/>
          <p:nvPr>
            <p:ph type="title"/>
          </p:nvPr>
        </p:nvSpPr>
        <p:spPr>
          <a:xfrm>
            <a:off x="490524" y="371932"/>
            <a:ext cx="7421245" cy="1085850"/>
          </a:xfrm>
          <a:prstGeom prst="rect">
            <a:avLst/>
          </a:prstGeom>
          <a:noFill/>
          <a:ln>
            <a:noFill/>
          </a:ln>
        </p:spPr>
        <p:txBody>
          <a:bodyPr anchorCtr="0" anchor="t" bIns="0" lIns="0" spcFirstLastPara="1" rIns="0" wrap="square" tIns="268400">
            <a:spAutoFit/>
          </a:bodyPr>
          <a:lstStyle/>
          <a:p>
            <a:pPr indent="0" lvl="0" marL="12700" rtl="0" algn="l">
              <a:lnSpc>
                <a:spcPct val="100000"/>
              </a:lnSpc>
              <a:spcBef>
                <a:spcPts val="0"/>
              </a:spcBef>
              <a:spcAft>
                <a:spcPts val="0"/>
              </a:spcAft>
              <a:buNone/>
            </a:pPr>
            <a:r>
              <a:rPr lang="en-IN"/>
              <a:t>Objectives</a:t>
            </a:r>
            <a:endParaRPr/>
          </a:p>
        </p:txBody>
      </p:sp>
      <p:sp>
        <p:nvSpPr>
          <p:cNvPr id="82" name="Google Shape;82;p11"/>
          <p:cNvSpPr txBox="1"/>
          <p:nvPr/>
        </p:nvSpPr>
        <p:spPr>
          <a:xfrm>
            <a:off x="581964" y="1746326"/>
            <a:ext cx="9097010" cy="2675732"/>
          </a:xfrm>
          <a:prstGeom prst="rect">
            <a:avLst/>
          </a:prstGeom>
          <a:noFill/>
          <a:ln>
            <a:noFill/>
          </a:ln>
        </p:spPr>
        <p:txBody>
          <a:bodyPr anchorCtr="0" anchor="t" bIns="0" lIns="0" spcFirstLastPara="1" rIns="0" wrap="square" tIns="13325">
            <a:spAutoFit/>
          </a:bodyPr>
          <a:lstStyle/>
          <a:p>
            <a:pPr indent="-342900" lvl="0" marL="355600" rtl="0" algn="just">
              <a:lnSpc>
                <a:spcPct val="100000"/>
              </a:lnSpc>
              <a:spcBef>
                <a:spcPts val="0"/>
              </a:spcBef>
              <a:spcAft>
                <a:spcPts val="0"/>
              </a:spcAft>
              <a:buSzPts val="2100"/>
              <a:buFont typeface="Arial"/>
              <a:buChar char="•"/>
            </a:pPr>
            <a:r>
              <a:rPr lang="en-IN" sz="2100">
                <a:latin typeface="Times New Roman"/>
                <a:ea typeface="Times New Roman"/>
                <a:cs typeface="Times New Roman"/>
                <a:sym typeface="Times New Roman"/>
              </a:rPr>
              <a:t>To design an AI system for analyzing financial documents</a:t>
            </a:r>
            <a:endParaRPr/>
          </a:p>
          <a:p>
            <a:pPr indent="0" lvl="0" marL="12700" rtl="0" algn="just">
              <a:lnSpc>
                <a:spcPct val="100000"/>
              </a:lnSpc>
              <a:spcBef>
                <a:spcPts val="105"/>
              </a:spcBef>
              <a:spcAft>
                <a:spcPts val="0"/>
              </a:spcAft>
              <a:buNone/>
            </a:pPr>
            <a:r>
              <a:t/>
            </a:r>
            <a:endParaRPr sz="2100">
              <a:latin typeface="Times New Roman"/>
              <a:ea typeface="Times New Roman"/>
              <a:cs typeface="Times New Roman"/>
              <a:sym typeface="Times New Roman"/>
            </a:endParaRPr>
          </a:p>
          <a:p>
            <a:pPr indent="-342900" lvl="0" marL="355600" rtl="0" algn="just">
              <a:lnSpc>
                <a:spcPct val="100000"/>
              </a:lnSpc>
              <a:spcBef>
                <a:spcPts val="105"/>
              </a:spcBef>
              <a:spcAft>
                <a:spcPts val="0"/>
              </a:spcAft>
              <a:buSzPts val="2100"/>
              <a:buFont typeface="Arial"/>
              <a:buChar char="•"/>
            </a:pPr>
            <a:r>
              <a:rPr lang="en-IN" sz="2100">
                <a:latin typeface="Times New Roman"/>
                <a:ea typeface="Times New Roman"/>
                <a:cs typeface="Times New Roman"/>
                <a:sym typeface="Times New Roman"/>
              </a:rPr>
              <a:t>To implement Retrieval-Augmented Generation (RAG) for document understanding.</a:t>
            </a:r>
            <a:endParaRPr/>
          </a:p>
          <a:p>
            <a:pPr indent="-209550" lvl="0" marL="355600" rtl="0" algn="just">
              <a:lnSpc>
                <a:spcPct val="100000"/>
              </a:lnSpc>
              <a:spcBef>
                <a:spcPts val="105"/>
              </a:spcBef>
              <a:spcAft>
                <a:spcPts val="0"/>
              </a:spcAft>
              <a:buSzPts val="2100"/>
              <a:buFont typeface="Arial"/>
              <a:buNone/>
            </a:pPr>
            <a:r>
              <a:t/>
            </a:r>
            <a:endParaRPr sz="2100">
              <a:latin typeface="Times New Roman"/>
              <a:ea typeface="Times New Roman"/>
              <a:cs typeface="Times New Roman"/>
              <a:sym typeface="Times New Roman"/>
            </a:endParaRPr>
          </a:p>
          <a:p>
            <a:pPr indent="-342900" lvl="0" marL="355600" rtl="0" algn="just">
              <a:lnSpc>
                <a:spcPct val="100000"/>
              </a:lnSpc>
              <a:spcBef>
                <a:spcPts val="105"/>
              </a:spcBef>
              <a:spcAft>
                <a:spcPts val="0"/>
              </a:spcAft>
              <a:buSzPts val="2100"/>
              <a:buFont typeface="Arial"/>
              <a:buChar char="•"/>
            </a:pPr>
            <a:r>
              <a:rPr lang="en-IN" sz="2100">
                <a:latin typeface="Times New Roman"/>
                <a:ea typeface="Times New Roman"/>
                <a:cs typeface="Times New Roman"/>
                <a:sym typeface="Times New Roman"/>
              </a:rPr>
              <a:t>To generate a concise 3-point executive summary from financial reports</a:t>
            </a:r>
            <a:endParaRPr/>
          </a:p>
          <a:p>
            <a:pPr indent="-209550" lvl="0" marL="355600" rtl="0" algn="just">
              <a:lnSpc>
                <a:spcPct val="100000"/>
              </a:lnSpc>
              <a:spcBef>
                <a:spcPts val="105"/>
              </a:spcBef>
              <a:spcAft>
                <a:spcPts val="0"/>
              </a:spcAft>
              <a:buSzPts val="2100"/>
              <a:buFont typeface="Arial"/>
              <a:buNone/>
            </a:pPr>
            <a:r>
              <a:t/>
            </a:r>
            <a:endParaRPr sz="2100">
              <a:latin typeface="Times New Roman"/>
              <a:ea typeface="Times New Roman"/>
              <a:cs typeface="Times New Roman"/>
              <a:sym typeface="Times New Roman"/>
            </a:endParaRPr>
          </a:p>
          <a:p>
            <a:pPr indent="-342900" lvl="0" marL="355600" rtl="0" algn="just">
              <a:lnSpc>
                <a:spcPct val="100000"/>
              </a:lnSpc>
              <a:spcBef>
                <a:spcPts val="105"/>
              </a:spcBef>
              <a:spcAft>
                <a:spcPts val="0"/>
              </a:spcAft>
              <a:buSzPts val="2100"/>
              <a:buFont typeface="Arial"/>
              <a:buChar char="•"/>
            </a:pPr>
            <a:r>
              <a:rPr lang="en-IN" sz="2100">
                <a:latin typeface="Times New Roman"/>
                <a:ea typeface="Times New Roman"/>
                <a:cs typeface="Times New Roman"/>
                <a:sym typeface="Times New Roman"/>
              </a:rPr>
              <a:t>To enable context-aware question answering based on document content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2"/>
          <p:cNvSpPr txBox="1"/>
          <p:nvPr>
            <p:ph type="title"/>
          </p:nvPr>
        </p:nvSpPr>
        <p:spPr>
          <a:xfrm>
            <a:off x="444398" y="462688"/>
            <a:ext cx="9275776" cy="575156"/>
          </a:xfrm>
          <a:prstGeom prst="rect">
            <a:avLst/>
          </a:prstGeom>
          <a:noFill/>
          <a:ln>
            <a:noFill/>
          </a:ln>
        </p:spPr>
        <p:txBody>
          <a:bodyPr anchorCtr="0" anchor="t" bIns="0" lIns="0" spcFirstLastPara="1" rIns="0" wrap="square" tIns="61575">
            <a:spAutoFit/>
          </a:bodyPr>
          <a:lstStyle/>
          <a:p>
            <a:pPr indent="114300" lvl="0" marL="12700" marR="5080" rtl="0" algn="l">
              <a:lnSpc>
                <a:spcPct val="111666"/>
              </a:lnSpc>
              <a:spcBef>
                <a:spcPts val="0"/>
              </a:spcBef>
              <a:spcAft>
                <a:spcPts val="0"/>
              </a:spcAft>
              <a:buNone/>
            </a:pPr>
            <a:r>
              <a:rPr lang="en-IN"/>
              <a:t>Research Gap(Limitations of existing systems)</a:t>
            </a:r>
            <a:endParaRPr/>
          </a:p>
        </p:txBody>
      </p:sp>
      <p:sp>
        <p:nvSpPr>
          <p:cNvPr id="88" name="Google Shape;88;p12"/>
          <p:cNvSpPr/>
          <p:nvPr/>
        </p:nvSpPr>
        <p:spPr>
          <a:xfrm flipH="1">
            <a:off x="546100" y="1343025"/>
            <a:ext cx="9461500" cy="33239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133350" lvl="0" marL="0" marR="0" rtl="0" algn="l">
              <a:lnSpc>
                <a:spcPct val="100000"/>
              </a:lnSpc>
              <a:spcBef>
                <a:spcPts val="0"/>
              </a:spcBef>
              <a:spcAft>
                <a:spcPts val="0"/>
              </a:spcAft>
              <a:buClr>
                <a:schemeClr val="dk1"/>
              </a:buClr>
              <a:buSzPts val="2100"/>
              <a:buFont typeface="Times New Roman"/>
              <a:buChar char="•"/>
            </a:pPr>
            <a:r>
              <a:rPr b="0" i="0" lang="en-IN" sz="2100" u="none" cap="none" strike="noStrike">
                <a:solidFill>
                  <a:schemeClr val="dk1"/>
                </a:solidFill>
                <a:latin typeface="Times New Roman"/>
                <a:ea typeface="Times New Roman"/>
                <a:cs typeface="Times New Roman"/>
                <a:sym typeface="Times New Roman"/>
              </a:rPr>
              <a:t>Financial documents are difficult to interpret manually </a:t>
            </a:r>
            <a:endParaRPr/>
          </a:p>
          <a:p>
            <a:pPr indent="0" lvl="0" marL="0" marR="0" rtl="0" algn="l">
              <a:lnSpc>
                <a:spcPct val="100000"/>
              </a:lnSpc>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133350" lvl="0" marL="0" marR="0" rtl="0" algn="l">
              <a:lnSpc>
                <a:spcPct val="100000"/>
              </a:lnSpc>
              <a:spcBef>
                <a:spcPts val="0"/>
              </a:spcBef>
              <a:spcAft>
                <a:spcPts val="0"/>
              </a:spcAft>
              <a:buClr>
                <a:schemeClr val="dk1"/>
              </a:buClr>
              <a:buSzPts val="2100"/>
              <a:buFont typeface="Times New Roman"/>
              <a:buChar char="•"/>
            </a:pPr>
            <a:r>
              <a:rPr b="0" i="0" lang="en-IN" sz="2100" u="none" cap="none" strike="noStrike">
                <a:solidFill>
                  <a:schemeClr val="dk1"/>
                </a:solidFill>
                <a:latin typeface="Times New Roman"/>
                <a:ea typeface="Times New Roman"/>
                <a:cs typeface="Times New Roman"/>
                <a:sym typeface="Times New Roman"/>
              </a:rPr>
              <a:t>Existing tools lack real-time interaction </a:t>
            </a:r>
            <a:endParaRPr/>
          </a:p>
          <a:p>
            <a:pPr indent="0" lvl="0" marL="0" marR="0" rtl="0" algn="l">
              <a:lnSpc>
                <a:spcPct val="100000"/>
              </a:lnSpc>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133350" lvl="0" marL="0" marR="0" rtl="0" algn="l">
              <a:lnSpc>
                <a:spcPct val="100000"/>
              </a:lnSpc>
              <a:spcBef>
                <a:spcPts val="0"/>
              </a:spcBef>
              <a:spcAft>
                <a:spcPts val="0"/>
              </a:spcAft>
              <a:buClr>
                <a:schemeClr val="dk1"/>
              </a:buClr>
              <a:buSzPts val="2100"/>
              <a:buFont typeface="Times New Roman"/>
              <a:buChar char="•"/>
            </a:pPr>
            <a:r>
              <a:rPr b="0" i="0" lang="en-IN" sz="2100" u="none" cap="none" strike="noStrike">
                <a:solidFill>
                  <a:schemeClr val="dk1"/>
                </a:solidFill>
                <a:latin typeface="Times New Roman"/>
                <a:ea typeface="Times New Roman"/>
                <a:cs typeface="Times New Roman"/>
                <a:sym typeface="Times New Roman"/>
              </a:rPr>
              <a:t>Many systems require complex setups and heavy computation</a:t>
            </a:r>
            <a:endParaRPr/>
          </a:p>
          <a:p>
            <a:pPr indent="0" lvl="0" marL="0" marR="0" rtl="0" algn="l">
              <a:lnSpc>
                <a:spcPct val="100000"/>
              </a:lnSpc>
              <a:spcBef>
                <a:spcPts val="0"/>
              </a:spcBef>
              <a:spcAft>
                <a:spcPts val="0"/>
              </a:spcAft>
              <a:buNone/>
            </a:pPr>
            <a:r>
              <a:rPr b="0" i="0" lang="en-IN" sz="2100" u="none" cap="none" strike="noStrike">
                <a:solidFill>
                  <a:schemeClr val="dk1"/>
                </a:solidFill>
                <a:latin typeface="Times New Roman"/>
                <a:ea typeface="Times New Roman"/>
                <a:cs typeface="Times New Roman"/>
                <a:sym typeface="Times New Roman"/>
              </a:rPr>
              <a:t> </a:t>
            </a:r>
            <a:endParaRPr/>
          </a:p>
          <a:p>
            <a:pPr indent="-133350" lvl="0" marL="0" marR="0" rtl="0" algn="l">
              <a:lnSpc>
                <a:spcPct val="100000"/>
              </a:lnSpc>
              <a:spcBef>
                <a:spcPts val="0"/>
              </a:spcBef>
              <a:spcAft>
                <a:spcPts val="0"/>
              </a:spcAft>
              <a:buClr>
                <a:schemeClr val="dk1"/>
              </a:buClr>
              <a:buSzPts val="2100"/>
              <a:buFont typeface="Times New Roman"/>
              <a:buChar char="•"/>
            </a:pPr>
            <a:r>
              <a:rPr b="0" i="0" lang="en-IN" sz="2100" u="none" cap="none" strike="noStrike">
                <a:solidFill>
                  <a:schemeClr val="dk1"/>
                </a:solidFill>
                <a:latin typeface="Times New Roman"/>
                <a:ea typeface="Times New Roman"/>
                <a:cs typeface="Times New Roman"/>
                <a:sym typeface="Times New Roman"/>
              </a:rPr>
              <a:t>Lack of lightweight AI solutions for document understanding</a:t>
            </a:r>
            <a:endParaRPr/>
          </a:p>
          <a:p>
            <a:pPr indent="0" lvl="0" marL="0" marR="0" rtl="0" algn="l">
              <a:lnSpc>
                <a:spcPct val="100000"/>
              </a:lnSpc>
              <a:spcBef>
                <a:spcPts val="0"/>
              </a:spcBef>
              <a:spcAft>
                <a:spcPts val="0"/>
              </a:spcAft>
              <a:buNone/>
            </a:pPr>
            <a:r>
              <a:rPr b="0" i="0" lang="en-IN" sz="2100" u="none" cap="none" strike="noStrike">
                <a:solidFill>
                  <a:schemeClr val="dk1"/>
                </a:solidFill>
                <a:latin typeface="Times New Roman"/>
                <a:ea typeface="Times New Roman"/>
                <a:cs typeface="Times New Roman"/>
                <a:sym typeface="Times New Roman"/>
              </a:rPr>
              <a:t> </a:t>
            </a:r>
            <a:endParaRPr/>
          </a:p>
          <a:p>
            <a:pPr indent="-133350" lvl="0" marL="0" marR="0" rtl="0" algn="l">
              <a:lnSpc>
                <a:spcPct val="100000"/>
              </a:lnSpc>
              <a:spcBef>
                <a:spcPts val="0"/>
              </a:spcBef>
              <a:spcAft>
                <a:spcPts val="0"/>
              </a:spcAft>
              <a:buClr>
                <a:schemeClr val="dk1"/>
              </a:buClr>
              <a:buSzPts val="2100"/>
              <a:buFont typeface="Times New Roman"/>
              <a:buChar char="•"/>
            </a:pPr>
            <a:r>
              <a:rPr b="0" i="0" lang="en-IN" sz="2100" u="none" cap="none" strike="noStrike">
                <a:solidFill>
                  <a:schemeClr val="dk1"/>
                </a:solidFill>
                <a:latin typeface="Times New Roman"/>
                <a:ea typeface="Times New Roman"/>
                <a:cs typeface="Times New Roman"/>
                <a:sym typeface="Times New Roman"/>
              </a:rPr>
              <a:t>Limited explainability and user-friendly interfaces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3"/>
          <p:cNvSpPr txBox="1"/>
          <p:nvPr>
            <p:ph type="title"/>
          </p:nvPr>
        </p:nvSpPr>
        <p:spPr>
          <a:xfrm>
            <a:off x="490524" y="371932"/>
            <a:ext cx="7421245" cy="1085850"/>
          </a:xfrm>
          <a:prstGeom prst="rect">
            <a:avLst/>
          </a:prstGeom>
          <a:noFill/>
          <a:ln>
            <a:noFill/>
          </a:ln>
        </p:spPr>
        <p:txBody>
          <a:bodyPr anchorCtr="0" anchor="t" bIns="0" lIns="0" spcFirstLastPara="1" rIns="0" wrap="square" tIns="330375">
            <a:spAutoFit/>
          </a:bodyPr>
          <a:lstStyle/>
          <a:p>
            <a:pPr indent="0" lvl="0" marL="386715" rtl="0" algn="l">
              <a:lnSpc>
                <a:spcPct val="100000"/>
              </a:lnSpc>
              <a:spcBef>
                <a:spcPts val="0"/>
              </a:spcBef>
              <a:spcAft>
                <a:spcPts val="0"/>
              </a:spcAft>
              <a:buNone/>
            </a:pPr>
            <a:r>
              <a:rPr lang="en-IN"/>
              <a:t>Problem Definition</a:t>
            </a:r>
            <a:endParaRPr/>
          </a:p>
        </p:txBody>
      </p:sp>
      <p:sp>
        <p:nvSpPr>
          <p:cNvPr id="94" name="Google Shape;94;p13"/>
          <p:cNvSpPr txBox="1"/>
          <p:nvPr/>
        </p:nvSpPr>
        <p:spPr>
          <a:xfrm>
            <a:off x="450951" y="1692071"/>
            <a:ext cx="9181897" cy="3163045"/>
          </a:xfrm>
          <a:prstGeom prst="rect">
            <a:avLst/>
          </a:prstGeom>
          <a:noFill/>
          <a:ln>
            <a:noFill/>
          </a:ln>
        </p:spPr>
        <p:txBody>
          <a:bodyPr anchorCtr="0" anchor="t" bIns="0" lIns="0" spcFirstLastPara="1" rIns="0" wrap="square" tIns="13325">
            <a:spAutoFit/>
          </a:bodyPr>
          <a:lstStyle/>
          <a:p>
            <a:pPr indent="-317500" lvl="0" marL="330200" marR="5080" rtl="0" algn="just">
              <a:lnSpc>
                <a:spcPct val="100000"/>
              </a:lnSpc>
              <a:spcBef>
                <a:spcPts val="0"/>
              </a:spcBef>
              <a:spcAft>
                <a:spcPts val="0"/>
              </a:spcAft>
              <a:buSzPts val="2200"/>
              <a:buFont typeface="Arial"/>
              <a:buChar char="•"/>
            </a:pPr>
            <a:r>
              <a:rPr lang="en-IN" sz="2200">
                <a:latin typeface="Times New Roman"/>
                <a:ea typeface="Times New Roman"/>
                <a:cs typeface="Times New Roman"/>
                <a:sym typeface="Times New Roman"/>
              </a:rPr>
              <a:t>Financial reports are lengthy and complex</a:t>
            </a:r>
            <a:endParaRPr/>
          </a:p>
          <a:p>
            <a:pPr indent="-177800" lvl="0" marL="330200" marR="5080" rtl="0" algn="just">
              <a:lnSpc>
                <a:spcPct val="100000"/>
              </a:lnSpc>
              <a:spcBef>
                <a:spcPts val="105"/>
              </a:spcBef>
              <a:spcAft>
                <a:spcPts val="0"/>
              </a:spcAft>
              <a:buSzPts val="2200"/>
              <a:buFont typeface="Arial"/>
              <a:buNone/>
            </a:pPr>
            <a:r>
              <a:t/>
            </a:r>
            <a:endParaRPr sz="2200">
              <a:latin typeface="Times New Roman"/>
              <a:ea typeface="Times New Roman"/>
              <a:cs typeface="Times New Roman"/>
              <a:sym typeface="Times New Roman"/>
            </a:endParaRPr>
          </a:p>
          <a:p>
            <a:pPr indent="-317500" lvl="0" marL="330200" marR="5080" rtl="0" algn="just">
              <a:lnSpc>
                <a:spcPct val="100000"/>
              </a:lnSpc>
              <a:spcBef>
                <a:spcPts val="105"/>
              </a:spcBef>
              <a:spcAft>
                <a:spcPts val="0"/>
              </a:spcAft>
              <a:buSzPts val="2200"/>
              <a:buFont typeface="Arial"/>
              <a:buChar char="•"/>
            </a:pPr>
            <a:r>
              <a:rPr lang="en-IN" sz="2200">
                <a:latin typeface="Times New Roman"/>
                <a:ea typeface="Times New Roman"/>
                <a:cs typeface="Times New Roman"/>
                <a:sym typeface="Times New Roman"/>
              </a:rPr>
              <a:t>Users struggle to extract key insights quickly</a:t>
            </a:r>
            <a:endParaRPr/>
          </a:p>
          <a:p>
            <a:pPr indent="-177800" lvl="0" marL="330200" marR="5080" rtl="0" algn="just">
              <a:lnSpc>
                <a:spcPct val="100000"/>
              </a:lnSpc>
              <a:spcBef>
                <a:spcPts val="105"/>
              </a:spcBef>
              <a:spcAft>
                <a:spcPts val="0"/>
              </a:spcAft>
              <a:buSzPts val="2200"/>
              <a:buFont typeface="Arial"/>
              <a:buNone/>
            </a:pPr>
            <a:r>
              <a:t/>
            </a:r>
            <a:endParaRPr sz="2200">
              <a:latin typeface="Times New Roman"/>
              <a:ea typeface="Times New Roman"/>
              <a:cs typeface="Times New Roman"/>
              <a:sym typeface="Times New Roman"/>
            </a:endParaRPr>
          </a:p>
          <a:p>
            <a:pPr indent="-317500" lvl="0" marL="330200" marR="5080" rtl="0" algn="just">
              <a:lnSpc>
                <a:spcPct val="100000"/>
              </a:lnSpc>
              <a:spcBef>
                <a:spcPts val="105"/>
              </a:spcBef>
              <a:spcAft>
                <a:spcPts val="0"/>
              </a:spcAft>
              <a:buSzPts val="2200"/>
              <a:buFont typeface="Arial"/>
              <a:buChar char="•"/>
            </a:pPr>
            <a:r>
              <a:rPr lang="en-IN" sz="2200">
                <a:latin typeface="Times New Roman"/>
                <a:ea typeface="Times New Roman"/>
                <a:cs typeface="Times New Roman"/>
                <a:sym typeface="Times New Roman"/>
              </a:rPr>
              <a:t>Manual reading is time-consuming and inefficien</a:t>
            </a:r>
            <a:endParaRPr sz="2200">
              <a:latin typeface="Times New Roman"/>
              <a:ea typeface="Times New Roman"/>
              <a:cs typeface="Times New Roman"/>
              <a:sym typeface="Times New Roman"/>
            </a:endParaRPr>
          </a:p>
          <a:p>
            <a:pPr indent="-177800" lvl="0" marL="330200" marR="5080" rtl="0" algn="just">
              <a:lnSpc>
                <a:spcPct val="100000"/>
              </a:lnSpc>
              <a:spcBef>
                <a:spcPts val="105"/>
              </a:spcBef>
              <a:spcAft>
                <a:spcPts val="0"/>
              </a:spcAft>
              <a:buSzPts val="2200"/>
              <a:buFont typeface="Arial"/>
              <a:buNone/>
            </a:pPr>
            <a:r>
              <a:t/>
            </a:r>
            <a:endParaRPr sz="2200">
              <a:latin typeface="Times New Roman"/>
              <a:ea typeface="Times New Roman"/>
              <a:cs typeface="Times New Roman"/>
              <a:sym typeface="Times New Roman"/>
            </a:endParaRPr>
          </a:p>
          <a:p>
            <a:pPr indent="-317500" lvl="0" marL="330200" marR="5080" rtl="0" algn="just">
              <a:lnSpc>
                <a:spcPct val="100000"/>
              </a:lnSpc>
              <a:spcBef>
                <a:spcPts val="105"/>
              </a:spcBef>
              <a:spcAft>
                <a:spcPts val="0"/>
              </a:spcAft>
              <a:buSzPts val="2200"/>
              <a:buFont typeface="Arial"/>
              <a:buChar char="•"/>
            </a:pPr>
            <a:r>
              <a:rPr lang="en-IN" sz="2200">
                <a:latin typeface="Times New Roman"/>
                <a:ea typeface="Times New Roman"/>
                <a:cs typeface="Times New Roman"/>
                <a:sym typeface="Times New Roman"/>
              </a:rPr>
              <a:t>Existing systems do not provide context-aware answers</a:t>
            </a:r>
            <a:endParaRPr/>
          </a:p>
          <a:p>
            <a:pPr indent="-177800" lvl="0" marL="330200" marR="5080" rtl="0" algn="just">
              <a:lnSpc>
                <a:spcPct val="100000"/>
              </a:lnSpc>
              <a:spcBef>
                <a:spcPts val="105"/>
              </a:spcBef>
              <a:spcAft>
                <a:spcPts val="0"/>
              </a:spcAft>
              <a:buSzPts val="2200"/>
              <a:buFont typeface="Arial"/>
              <a:buNone/>
            </a:pPr>
            <a:r>
              <a:t/>
            </a:r>
            <a:endParaRPr sz="2200">
              <a:latin typeface="Times New Roman"/>
              <a:ea typeface="Times New Roman"/>
              <a:cs typeface="Times New Roman"/>
              <a:sym typeface="Times New Roman"/>
            </a:endParaRPr>
          </a:p>
          <a:p>
            <a:pPr indent="-317500" lvl="0" marL="330200" marR="5080" rtl="0" algn="just">
              <a:lnSpc>
                <a:spcPct val="100000"/>
              </a:lnSpc>
              <a:spcBef>
                <a:spcPts val="105"/>
              </a:spcBef>
              <a:spcAft>
                <a:spcPts val="0"/>
              </a:spcAft>
              <a:buSzPts val="2200"/>
              <a:buFont typeface="Arial"/>
              <a:buChar char="•"/>
            </a:pPr>
            <a:r>
              <a:rPr lang="en-IN" sz="2200">
                <a:latin typeface="Times New Roman"/>
                <a:ea typeface="Times New Roman"/>
                <a:cs typeface="Times New Roman"/>
                <a:sym typeface="Times New Roman"/>
              </a:rPr>
              <a:t>Need for an intelligent system to simplify financial analysis</a:t>
            </a:r>
            <a:endParaRPr sz="22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ph type="title"/>
          </p:nvPr>
        </p:nvSpPr>
        <p:spPr>
          <a:xfrm>
            <a:off x="490524" y="371932"/>
            <a:ext cx="7421245" cy="1085850"/>
          </a:xfrm>
          <a:prstGeom prst="rect">
            <a:avLst/>
          </a:prstGeom>
          <a:noFill/>
          <a:ln>
            <a:noFill/>
          </a:ln>
        </p:spPr>
        <p:txBody>
          <a:bodyPr anchorCtr="0" anchor="t" bIns="0" lIns="0" spcFirstLastPara="1" rIns="0" wrap="square" tIns="343075">
            <a:spAutoFit/>
          </a:bodyPr>
          <a:lstStyle/>
          <a:p>
            <a:pPr indent="0" lvl="0" marL="578485" rtl="0" algn="l">
              <a:lnSpc>
                <a:spcPct val="100000"/>
              </a:lnSpc>
              <a:spcBef>
                <a:spcPts val="0"/>
              </a:spcBef>
              <a:spcAft>
                <a:spcPts val="0"/>
              </a:spcAft>
              <a:buNone/>
            </a:pPr>
            <a:r>
              <a:rPr lang="en-IN"/>
              <a:t>Scope</a:t>
            </a:r>
            <a:endParaRPr/>
          </a:p>
        </p:txBody>
      </p:sp>
      <p:sp>
        <p:nvSpPr>
          <p:cNvPr id="100" name="Google Shape;100;p14"/>
          <p:cNvSpPr txBox="1"/>
          <p:nvPr/>
        </p:nvSpPr>
        <p:spPr>
          <a:xfrm>
            <a:off x="698500" y="1784404"/>
            <a:ext cx="8972449" cy="3024546"/>
          </a:xfrm>
          <a:prstGeom prst="rect">
            <a:avLst/>
          </a:prstGeom>
          <a:noFill/>
          <a:ln>
            <a:noFill/>
          </a:ln>
        </p:spPr>
        <p:txBody>
          <a:bodyPr anchorCtr="0" anchor="t" bIns="0" lIns="0" spcFirstLastPara="1" rIns="0" wrap="square" tIns="13325">
            <a:spAutoFit/>
          </a:bodyPr>
          <a:lstStyle/>
          <a:p>
            <a:pPr indent="-320040" lvl="0" marL="332740" marR="5080" rtl="0" algn="just">
              <a:lnSpc>
                <a:spcPct val="100000"/>
              </a:lnSpc>
              <a:spcBef>
                <a:spcPts val="0"/>
              </a:spcBef>
              <a:spcAft>
                <a:spcPts val="0"/>
              </a:spcAft>
              <a:buSzPts val="1470"/>
              <a:buFont typeface="Arial"/>
              <a:buChar char="•"/>
            </a:pPr>
            <a:r>
              <a:rPr lang="en-IN" sz="2100">
                <a:latin typeface="Times New Roman"/>
                <a:ea typeface="Times New Roman"/>
                <a:cs typeface="Times New Roman"/>
                <a:sym typeface="Times New Roman"/>
              </a:rPr>
              <a:t>Can be used for analyzing financial reports and filings.</a:t>
            </a:r>
            <a:endParaRPr/>
          </a:p>
          <a:p>
            <a:pPr indent="-226695" lvl="0" marL="332740" marR="5080" rtl="0" algn="just">
              <a:lnSpc>
                <a:spcPct val="100000"/>
              </a:lnSpc>
              <a:spcBef>
                <a:spcPts val="105"/>
              </a:spcBef>
              <a:spcAft>
                <a:spcPts val="0"/>
              </a:spcAft>
              <a:buSzPts val="1470"/>
              <a:buFont typeface="Arial"/>
              <a:buNone/>
            </a:pPr>
            <a:r>
              <a:t/>
            </a:r>
            <a:endParaRPr sz="2100">
              <a:latin typeface="Times New Roman"/>
              <a:ea typeface="Times New Roman"/>
              <a:cs typeface="Times New Roman"/>
              <a:sym typeface="Times New Roman"/>
            </a:endParaRPr>
          </a:p>
          <a:p>
            <a:pPr indent="-320040" lvl="0" marL="332740" marR="5080" rtl="0" algn="just">
              <a:lnSpc>
                <a:spcPct val="100000"/>
              </a:lnSpc>
              <a:spcBef>
                <a:spcPts val="105"/>
              </a:spcBef>
              <a:spcAft>
                <a:spcPts val="0"/>
              </a:spcAft>
              <a:buSzPts val="1470"/>
              <a:buFont typeface="Arial"/>
              <a:buChar char="•"/>
            </a:pPr>
            <a:r>
              <a:rPr lang="en-IN" sz="2100">
                <a:latin typeface="Times New Roman"/>
                <a:ea typeface="Times New Roman"/>
                <a:cs typeface="Times New Roman"/>
                <a:sym typeface="Times New Roman"/>
              </a:rPr>
              <a:t>Useful for students, analysts, and investors.</a:t>
            </a:r>
            <a:endParaRPr/>
          </a:p>
          <a:p>
            <a:pPr indent="-226695" lvl="0" marL="332740" marR="5080" rtl="0" algn="just">
              <a:lnSpc>
                <a:spcPct val="100000"/>
              </a:lnSpc>
              <a:spcBef>
                <a:spcPts val="105"/>
              </a:spcBef>
              <a:spcAft>
                <a:spcPts val="0"/>
              </a:spcAft>
              <a:buSzPts val="1470"/>
              <a:buFont typeface="Arial"/>
              <a:buNone/>
            </a:pPr>
            <a:r>
              <a:t/>
            </a:r>
            <a:endParaRPr sz="2100">
              <a:latin typeface="Times New Roman"/>
              <a:ea typeface="Times New Roman"/>
              <a:cs typeface="Times New Roman"/>
              <a:sym typeface="Times New Roman"/>
            </a:endParaRPr>
          </a:p>
          <a:p>
            <a:pPr indent="-320040" lvl="0" marL="332740" marR="5080" rtl="0" algn="just">
              <a:lnSpc>
                <a:spcPct val="100000"/>
              </a:lnSpc>
              <a:spcBef>
                <a:spcPts val="105"/>
              </a:spcBef>
              <a:spcAft>
                <a:spcPts val="0"/>
              </a:spcAft>
              <a:buSzPts val="1470"/>
              <a:buFont typeface="Arial"/>
              <a:buChar char="•"/>
            </a:pPr>
            <a:r>
              <a:rPr lang="en-IN" sz="2100">
                <a:latin typeface="Times New Roman"/>
                <a:ea typeface="Times New Roman"/>
                <a:cs typeface="Times New Roman"/>
                <a:sym typeface="Times New Roman"/>
              </a:rPr>
              <a:t>Can be extended for multi-document comparison.</a:t>
            </a:r>
            <a:endParaRPr/>
          </a:p>
          <a:p>
            <a:pPr indent="-226695" lvl="0" marL="332740" marR="5080" rtl="0" algn="just">
              <a:lnSpc>
                <a:spcPct val="100000"/>
              </a:lnSpc>
              <a:spcBef>
                <a:spcPts val="105"/>
              </a:spcBef>
              <a:spcAft>
                <a:spcPts val="0"/>
              </a:spcAft>
              <a:buSzPts val="1470"/>
              <a:buFont typeface="Arial"/>
              <a:buNone/>
            </a:pPr>
            <a:r>
              <a:t/>
            </a:r>
            <a:endParaRPr sz="2100">
              <a:latin typeface="Times New Roman"/>
              <a:ea typeface="Times New Roman"/>
              <a:cs typeface="Times New Roman"/>
              <a:sym typeface="Times New Roman"/>
            </a:endParaRPr>
          </a:p>
          <a:p>
            <a:pPr indent="-320040" lvl="0" marL="332740" marR="5080" rtl="0" algn="just">
              <a:lnSpc>
                <a:spcPct val="100000"/>
              </a:lnSpc>
              <a:spcBef>
                <a:spcPts val="105"/>
              </a:spcBef>
              <a:spcAft>
                <a:spcPts val="0"/>
              </a:spcAft>
              <a:buSzPts val="1470"/>
              <a:buFont typeface="Arial"/>
              <a:buChar char="•"/>
            </a:pPr>
            <a:r>
              <a:rPr lang="en-IN" sz="2100">
                <a:latin typeface="Times New Roman"/>
                <a:ea typeface="Times New Roman"/>
                <a:cs typeface="Times New Roman"/>
                <a:sym typeface="Times New Roman"/>
              </a:rPr>
              <a:t>Can integrate advanced LLMs for better accuracy.</a:t>
            </a:r>
            <a:endParaRPr/>
          </a:p>
          <a:p>
            <a:pPr indent="-226695" lvl="0" marL="332740" marR="5080" rtl="0" algn="just">
              <a:lnSpc>
                <a:spcPct val="100000"/>
              </a:lnSpc>
              <a:spcBef>
                <a:spcPts val="105"/>
              </a:spcBef>
              <a:spcAft>
                <a:spcPts val="0"/>
              </a:spcAft>
              <a:buSzPts val="1470"/>
              <a:buFont typeface="Arial"/>
              <a:buNone/>
            </a:pPr>
            <a:r>
              <a:t/>
            </a:r>
            <a:endParaRPr sz="2100">
              <a:latin typeface="Times New Roman"/>
              <a:ea typeface="Times New Roman"/>
              <a:cs typeface="Times New Roman"/>
              <a:sym typeface="Times New Roman"/>
            </a:endParaRPr>
          </a:p>
          <a:p>
            <a:pPr indent="-320040" lvl="0" marL="332740" marR="5080" rtl="0" algn="just">
              <a:lnSpc>
                <a:spcPct val="100000"/>
              </a:lnSpc>
              <a:spcBef>
                <a:spcPts val="105"/>
              </a:spcBef>
              <a:spcAft>
                <a:spcPts val="0"/>
              </a:spcAft>
              <a:buSzPts val="1470"/>
              <a:buFont typeface="Arial"/>
              <a:buChar char="•"/>
            </a:pPr>
            <a:r>
              <a:rPr lang="en-IN" sz="2100">
                <a:latin typeface="Times New Roman"/>
                <a:ea typeface="Times New Roman"/>
                <a:cs typeface="Times New Roman"/>
                <a:sym typeface="Times New Roman"/>
              </a:rPr>
              <a:t>Potential use in fintech and banking applications.</a:t>
            </a:r>
            <a:endParaRPr sz="21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5"/>
          <p:cNvSpPr txBox="1"/>
          <p:nvPr>
            <p:ph type="title"/>
          </p:nvPr>
        </p:nvSpPr>
        <p:spPr>
          <a:xfrm>
            <a:off x="490524" y="371932"/>
            <a:ext cx="7421245" cy="1085850"/>
          </a:xfrm>
          <a:prstGeom prst="rect">
            <a:avLst/>
          </a:prstGeom>
          <a:noFill/>
          <a:ln>
            <a:noFill/>
          </a:ln>
        </p:spPr>
        <p:txBody>
          <a:bodyPr anchorCtr="0" anchor="t" bIns="0" lIns="0" spcFirstLastPara="1" rIns="0" wrap="square" tIns="268400">
            <a:spAutoFit/>
          </a:bodyPr>
          <a:lstStyle/>
          <a:p>
            <a:pPr indent="0" lvl="0" marL="12700" rtl="0" algn="l">
              <a:lnSpc>
                <a:spcPct val="100000"/>
              </a:lnSpc>
              <a:spcBef>
                <a:spcPts val="0"/>
              </a:spcBef>
              <a:spcAft>
                <a:spcPts val="0"/>
              </a:spcAft>
              <a:buNone/>
            </a:pPr>
            <a:r>
              <a:rPr lang="en-IN"/>
              <a:t>Technological Stack</a:t>
            </a:r>
            <a:endParaRPr/>
          </a:p>
        </p:txBody>
      </p:sp>
      <p:sp>
        <p:nvSpPr>
          <p:cNvPr id="106" name="Google Shape;106;p15"/>
          <p:cNvSpPr txBox="1"/>
          <p:nvPr/>
        </p:nvSpPr>
        <p:spPr>
          <a:xfrm>
            <a:off x="490524" y="1647825"/>
            <a:ext cx="8442960" cy="4489049"/>
          </a:xfrm>
          <a:prstGeom prst="rect">
            <a:avLst/>
          </a:prstGeom>
          <a:noFill/>
          <a:ln>
            <a:noFill/>
          </a:ln>
        </p:spPr>
        <p:txBody>
          <a:bodyPr anchorCtr="0" anchor="t" bIns="0" lIns="0" spcFirstLastPara="1" rIns="0" wrap="square" tIns="13325">
            <a:spAutoFit/>
          </a:bodyPr>
          <a:lstStyle/>
          <a:p>
            <a:pPr indent="-286385" lvl="0" marL="299085" rtl="0" algn="l">
              <a:lnSpc>
                <a:spcPct val="100000"/>
              </a:lnSpc>
              <a:spcBef>
                <a:spcPts val="0"/>
              </a:spcBef>
              <a:spcAft>
                <a:spcPts val="0"/>
              </a:spcAft>
              <a:buSzPts val="2000"/>
              <a:buFont typeface="Arial"/>
              <a:buChar char="•"/>
            </a:pPr>
            <a:r>
              <a:rPr b="1" lang="en-IN" sz="2000">
                <a:latin typeface="Times New Roman"/>
                <a:ea typeface="Times New Roman"/>
                <a:cs typeface="Times New Roman"/>
                <a:sym typeface="Times New Roman"/>
              </a:rPr>
              <a:t>Frontend: </a:t>
            </a:r>
            <a:r>
              <a:rPr lang="en-IN" sz="2000">
                <a:latin typeface="Times New Roman"/>
                <a:ea typeface="Times New Roman"/>
                <a:cs typeface="Times New Roman"/>
                <a:sym typeface="Times New Roman"/>
              </a:rPr>
              <a:t>Streamlit</a:t>
            </a:r>
            <a:endParaRPr sz="2000">
              <a:latin typeface="Times New Roman"/>
              <a:ea typeface="Times New Roman"/>
              <a:cs typeface="Times New Roman"/>
              <a:sym typeface="Times New Roman"/>
            </a:endParaRPr>
          </a:p>
          <a:p>
            <a:pPr indent="-159385" lvl="0" marL="299085" rtl="0" algn="l">
              <a:lnSpc>
                <a:spcPct val="100000"/>
              </a:lnSpc>
              <a:spcBef>
                <a:spcPts val="105"/>
              </a:spcBef>
              <a:spcAft>
                <a:spcPts val="0"/>
              </a:spcAft>
              <a:buSzPts val="2000"/>
              <a:buFont typeface="Arial"/>
              <a:buNone/>
            </a:pPr>
            <a:r>
              <a:t/>
            </a:r>
            <a:endParaRPr sz="2000">
              <a:latin typeface="Times New Roman"/>
              <a:ea typeface="Times New Roman"/>
              <a:cs typeface="Times New Roman"/>
              <a:sym typeface="Times New Roman"/>
            </a:endParaRPr>
          </a:p>
          <a:p>
            <a:pPr indent="-286385" lvl="0" marL="299085" rtl="0" algn="l">
              <a:lnSpc>
                <a:spcPct val="100000"/>
              </a:lnSpc>
              <a:spcBef>
                <a:spcPts val="105"/>
              </a:spcBef>
              <a:spcAft>
                <a:spcPts val="0"/>
              </a:spcAft>
              <a:buSzPts val="2000"/>
              <a:buFont typeface="Arial"/>
              <a:buChar char="•"/>
            </a:pPr>
            <a:r>
              <a:rPr b="1" lang="en-IN" sz="2000">
                <a:latin typeface="Times New Roman"/>
                <a:ea typeface="Times New Roman"/>
                <a:cs typeface="Times New Roman"/>
                <a:sym typeface="Times New Roman"/>
              </a:rPr>
              <a:t>Backend</a:t>
            </a:r>
            <a:r>
              <a:rPr lang="en-IN" sz="2000">
                <a:latin typeface="Times New Roman"/>
                <a:ea typeface="Times New Roman"/>
                <a:cs typeface="Times New Roman"/>
                <a:sym typeface="Times New Roman"/>
              </a:rPr>
              <a:t>: Python</a:t>
            </a:r>
            <a:endParaRPr/>
          </a:p>
          <a:p>
            <a:pPr indent="-159385" lvl="0" marL="299085" rtl="0" algn="l">
              <a:lnSpc>
                <a:spcPct val="100000"/>
              </a:lnSpc>
              <a:spcBef>
                <a:spcPts val="105"/>
              </a:spcBef>
              <a:spcAft>
                <a:spcPts val="0"/>
              </a:spcAft>
              <a:buSzPts val="2000"/>
              <a:buFont typeface="Arial"/>
              <a:buNone/>
            </a:pPr>
            <a:r>
              <a:t/>
            </a:r>
            <a:endParaRPr sz="2000">
              <a:latin typeface="Times New Roman"/>
              <a:ea typeface="Times New Roman"/>
              <a:cs typeface="Times New Roman"/>
              <a:sym typeface="Times New Roman"/>
            </a:endParaRPr>
          </a:p>
          <a:p>
            <a:pPr indent="-286385" lvl="0" marL="299085" rtl="0" algn="l">
              <a:lnSpc>
                <a:spcPct val="100000"/>
              </a:lnSpc>
              <a:spcBef>
                <a:spcPts val="105"/>
              </a:spcBef>
              <a:spcAft>
                <a:spcPts val="0"/>
              </a:spcAft>
              <a:buSzPts val="2000"/>
              <a:buFont typeface="Arial"/>
              <a:buChar char="•"/>
            </a:pPr>
            <a:r>
              <a:rPr b="1" lang="en-IN" sz="2000">
                <a:latin typeface="Times New Roman"/>
                <a:ea typeface="Times New Roman"/>
                <a:cs typeface="Times New Roman"/>
                <a:sym typeface="Times New Roman"/>
              </a:rPr>
              <a:t>Environment: </a:t>
            </a:r>
            <a:r>
              <a:rPr lang="en-IN" sz="2000">
                <a:latin typeface="Times New Roman"/>
                <a:ea typeface="Times New Roman"/>
                <a:cs typeface="Times New Roman"/>
                <a:sym typeface="Times New Roman"/>
              </a:rPr>
              <a:t>VS Code / Jupyter</a:t>
            </a:r>
            <a:endParaRPr sz="2000">
              <a:latin typeface="Times New Roman"/>
              <a:ea typeface="Times New Roman"/>
              <a:cs typeface="Times New Roman"/>
              <a:sym typeface="Times New Roman"/>
            </a:endParaRPr>
          </a:p>
          <a:p>
            <a:pPr indent="-159385" lvl="0" marL="299085" rtl="0" algn="l">
              <a:lnSpc>
                <a:spcPct val="100000"/>
              </a:lnSpc>
              <a:spcBef>
                <a:spcPts val="105"/>
              </a:spcBef>
              <a:spcAft>
                <a:spcPts val="0"/>
              </a:spcAft>
              <a:buSzPts val="2000"/>
              <a:buFont typeface="Arial"/>
              <a:buNone/>
            </a:pPr>
            <a:r>
              <a:t/>
            </a:r>
            <a:endParaRPr b="1" sz="2000">
              <a:latin typeface="Times New Roman"/>
              <a:ea typeface="Times New Roman"/>
              <a:cs typeface="Times New Roman"/>
              <a:sym typeface="Times New Roman"/>
            </a:endParaRPr>
          </a:p>
          <a:p>
            <a:pPr indent="-286385" lvl="0" marL="299085" rtl="0" algn="l">
              <a:lnSpc>
                <a:spcPct val="100000"/>
              </a:lnSpc>
              <a:spcBef>
                <a:spcPts val="105"/>
              </a:spcBef>
              <a:spcAft>
                <a:spcPts val="0"/>
              </a:spcAft>
              <a:buSzPts val="2000"/>
              <a:buFont typeface="Arial"/>
              <a:buChar char="•"/>
            </a:pPr>
            <a:r>
              <a:rPr b="1" lang="en-IN" sz="2000">
                <a:latin typeface="Times New Roman"/>
                <a:ea typeface="Times New Roman"/>
                <a:cs typeface="Times New Roman"/>
                <a:sym typeface="Times New Roman"/>
              </a:rPr>
              <a:t>PDF Processing</a:t>
            </a:r>
            <a:r>
              <a:rPr lang="en-IN" sz="2000">
                <a:latin typeface="Times New Roman"/>
                <a:ea typeface="Times New Roman"/>
                <a:cs typeface="Times New Roman"/>
                <a:sym typeface="Times New Roman"/>
              </a:rPr>
              <a:t>: PyPDFLoader / PyPDF2</a:t>
            </a:r>
            <a:endParaRPr/>
          </a:p>
          <a:p>
            <a:pPr indent="-159385" lvl="0" marL="299085" rtl="0" algn="l">
              <a:lnSpc>
                <a:spcPct val="100000"/>
              </a:lnSpc>
              <a:spcBef>
                <a:spcPts val="105"/>
              </a:spcBef>
              <a:spcAft>
                <a:spcPts val="0"/>
              </a:spcAft>
              <a:buSzPts val="2000"/>
              <a:buFont typeface="Arial"/>
              <a:buNone/>
            </a:pPr>
            <a:r>
              <a:t/>
            </a:r>
            <a:endParaRPr b="1" sz="2000">
              <a:latin typeface="Times New Roman"/>
              <a:ea typeface="Times New Roman"/>
              <a:cs typeface="Times New Roman"/>
              <a:sym typeface="Times New Roman"/>
            </a:endParaRPr>
          </a:p>
          <a:p>
            <a:pPr indent="-286385" lvl="0" marL="299085" rtl="0" algn="l">
              <a:lnSpc>
                <a:spcPct val="100000"/>
              </a:lnSpc>
              <a:spcBef>
                <a:spcPts val="105"/>
              </a:spcBef>
              <a:spcAft>
                <a:spcPts val="0"/>
              </a:spcAft>
              <a:buSzPts val="2000"/>
              <a:buFont typeface="Arial"/>
              <a:buChar char="•"/>
            </a:pPr>
            <a:r>
              <a:rPr b="1" lang="en-IN" sz="2000">
                <a:latin typeface="Times New Roman"/>
                <a:ea typeface="Times New Roman"/>
                <a:cs typeface="Times New Roman"/>
                <a:sym typeface="Times New Roman"/>
              </a:rPr>
              <a:t>Embeddings: </a:t>
            </a:r>
            <a:r>
              <a:rPr lang="en-IN" sz="2000">
                <a:latin typeface="Times New Roman"/>
                <a:ea typeface="Times New Roman"/>
                <a:cs typeface="Times New Roman"/>
                <a:sym typeface="Times New Roman"/>
              </a:rPr>
              <a:t>HuggingFace (MiniLM)</a:t>
            </a:r>
            <a:endParaRPr/>
          </a:p>
          <a:p>
            <a:pPr indent="-159385" lvl="0" marL="299085" rtl="0" algn="l">
              <a:lnSpc>
                <a:spcPct val="100000"/>
              </a:lnSpc>
              <a:spcBef>
                <a:spcPts val="105"/>
              </a:spcBef>
              <a:spcAft>
                <a:spcPts val="0"/>
              </a:spcAft>
              <a:buSzPts val="2000"/>
              <a:buFont typeface="Arial"/>
              <a:buNone/>
            </a:pPr>
            <a:r>
              <a:t/>
            </a:r>
            <a:endParaRPr b="1" sz="2000">
              <a:latin typeface="Times New Roman"/>
              <a:ea typeface="Times New Roman"/>
              <a:cs typeface="Times New Roman"/>
              <a:sym typeface="Times New Roman"/>
            </a:endParaRPr>
          </a:p>
          <a:p>
            <a:pPr indent="-286385" lvl="0" marL="299085" rtl="0" algn="l">
              <a:lnSpc>
                <a:spcPct val="100000"/>
              </a:lnSpc>
              <a:spcBef>
                <a:spcPts val="105"/>
              </a:spcBef>
              <a:spcAft>
                <a:spcPts val="0"/>
              </a:spcAft>
              <a:buSzPts val="2000"/>
              <a:buFont typeface="Arial"/>
              <a:buChar char="•"/>
            </a:pPr>
            <a:r>
              <a:rPr b="1" lang="en-IN" sz="2000">
                <a:latin typeface="Times New Roman"/>
                <a:ea typeface="Times New Roman"/>
                <a:cs typeface="Times New Roman"/>
                <a:sym typeface="Times New Roman"/>
              </a:rPr>
              <a:t>Vector DB: </a:t>
            </a:r>
            <a:r>
              <a:rPr lang="en-IN" sz="2000">
                <a:latin typeface="Times New Roman"/>
                <a:ea typeface="Times New Roman"/>
                <a:cs typeface="Times New Roman"/>
                <a:sym typeface="Times New Roman"/>
              </a:rPr>
              <a:t>FAISS</a:t>
            </a:r>
            <a:endParaRPr/>
          </a:p>
          <a:p>
            <a:pPr indent="-159385" lvl="0" marL="299085" rtl="0" algn="l">
              <a:lnSpc>
                <a:spcPct val="100000"/>
              </a:lnSpc>
              <a:spcBef>
                <a:spcPts val="105"/>
              </a:spcBef>
              <a:spcAft>
                <a:spcPts val="0"/>
              </a:spcAft>
              <a:buSzPts val="2000"/>
              <a:buFont typeface="Arial"/>
              <a:buNone/>
            </a:pPr>
            <a:r>
              <a:t/>
            </a:r>
            <a:endParaRPr b="1" sz="2000">
              <a:latin typeface="Times New Roman"/>
              <a:ea typeface="Times New Roman"/>
              <a:cs typeface="Times New Roman"/>
              <a:sym typeface="Times New Roman"/>
            </a:endParaRPr>
          </a:p>
          <a:p>
            <a:pPr indent="-286385" lvl="0" marL="299085" rtl="0" algn="l">
              <a:lnSpc>
                <a:spcPct val="100000"/>
              </a:lnSpc>
              <a:spcBef>
                <a:spcPts val="105"/>
              </a:spcBef>
              <a:spcAft>
                <a:spcPts val="0"/>
              </a:spcAft>
              <a:buSzPts val="2000"/>
              <a:buFont typeface="Arial"/>
              <a:buChar char="•"/>
            </a:pPr>
            <a:r>
              <a:rPr b="1" lang="en-IN" sz="2000">
                <a:latin typeface="Times New Roman"/>
                <a:ea typeface="Times New Roman"/>
                <a:cs typeface="Times New Roman"/>
                <a:sym typeface="Times New Roman"/>
              </a:rPr>
              <a:t>LLM: </a:t>
            </a:r>
            <a:r>
              <a:rPr lang="en-IN" sz="2000">
                <a:latin typeface="Times New Roman"/>
                <a:ea typeface="Times New Roman"/>
                <a:cs typeface="Times New Roman"/>
                <a:sym typeface="Times New Roman"/>
              </a:rPr>
              <a:t>Gemini / OpenAI</a:t>
            </a:r>
            <a:endParaRPr/>
          </a:p>
          <a:p>
            <a:pPr indent="0" lvl="0" marL="12700" rtl="0" algn="l">
              <a:lnSpc>
                <a:spcPct val="100000"/>
              </a:lnSpc>
              <a:spcBef>
                <a:spcPts val="105"/>
              </a:spcBef>
              <a:spcAft>
                <a:spcPts val="0"/>
              </a:spcAft>
              <a:buNone/>
            </a:pPr>
            <a:r>
              <a:t/>
            </a:r>
            <a:endParaRPr b="1"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 name="Shape 110"/>
        <p:cNvGrpSpPr/>
        <p:nvPr/>
      </p:nvGrpSpPr>
      <p:grpSpPr>
        <a:xfrm>
          <a:off x="0" y="0"/>
          <a:ext cx="0" cy="0"/>
          <a:chOff x="0" y="0"/>
          <a:chExt cx="0" cy="0"/>
        </a:xfrm>
      </p:grpSpPr>
      <p:grpSp>
        <p:nvGrpSpPr>
          <p:cNvPr id="111" name="Google Shape;111;p16"/>
          <p:cNvGrpSpPr/>
          <p:nvPr/>
        </p:nvGrpSpPr>
        <p:grpSpPr>
          <a:xfrm>
            <a:off x="5657149" y="0"/>
            <a:ext cx="4424716" cy="7559675"/>
            <a:chOff x="5657149" y="0"/>
            <a:chExt cx="4424716" cy="7559675"/>
          </a:xfrm>
        </p:grpSpPr>
        <p:sp>
          <p:nvSpPr>
            <p:cNvPr id="112" name="Google Shape;112;p16"/>
            <p:cNvSpPr/>
            <p:nvPr/>
          </p:nvSpPr>
          <p:spPr>
            <a:xfrm>
              <a:off x="5657149" y="0"/>
              <a:ext cx="4424680" cy="7559675"/>
            </a:xfrm>
            <a:custGeom>
              <a:rect b="b" l="l" r="r" t="t"/>
              <a:pathLst>
                <a:path extrusionOk="0" h="7559675" w="4424680">
                  <a:moveTo>
                    <a:pt x="0" y="7559040"/>
                  </a:moveTo>
                  <a:lnTo>
                    <a:pt x="4424110" y="4608028"/>
                  </a:lnTo>
                </a:path>
                <a:path extrusionOk="0" h="7559675" w="4424680">
                  <a:moveTo>
                    <a:pt x="2107249" y="0"/>
                  </a:moveTo>
                  <a:lnTo>
                    <a:pt x="3450274" y="7559673"/>
                  </a:lnTo>
                </a:path>
              </a:pathLst>
            </a:custGeom>
            <a:noFill/>
            <a:ln cap="flat" cmpd="sng" w="9525">
              <a:solidFill>
                <a:srgbClr val="5FCAE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3" name="Google Shape;113;p16"/>
            <p:cNvSpPr/>
            <p:nvPr/>
          </p:nvSpPr>
          <p:spPr>
            <a:xfrm>
              <a:off x="7598019" y="0"/>
              <a:ext cx="2483485" cy="7559040"/>
            </a:xfrm>
            <a:custGeom>
              <a:rect b="b" l="l" r="r" t="t"/>
              <a:pathLst>
                <a:path extrusionOk="0" h="7559040" w="2483484">
                  <a:moveTo>
                    <a:pt x="2230510" y="0"/>
                  </a:moveTo>
                  <a:lnTo>
                    <a:pt x="0" y="7559040"/>
                  </a:lnTo>
                  <a:lnTo>
                    <a:pt x="2483240" y="7559040"/>
                  </a:lnTo>
                  <a:lnTo>
                    <a:pt x="2483240" y="8964"/>
                  </a:lnTo>
                  <a:lnTo>
                    <a:pt x="2230510" y="0"/>
                  </a:lnTo>
                  <a:close/>
                </a:path>
              </a:pathLst>
            </a:custGeom>
            <a:solidFill>
              <a:srgbClr val="5FCAEE">
                <a:alpha val="3529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4" name="Google Shape;114;p16"/>
            <p:cNvSpPr/>
            <p:nvPr/>
          </p:nvSpPr>
          <p:spPr>
            <a:xfrm>
              <a:off x="7943867" y="0"/>
              <a:ext cx="2137410" cy="7559040"/>
            </a:xfrm>
            <a:custGeom>
              <a:rect b="b" l="l" r="r" t="t"/>
              <a:pathLst>
                <a:path extrusionOk="0" h="7559040" w="2137409">
                  <a:moveTo>
                    <a:pt x="2137392" y="0"/>
                  </a:moveTo>
                  <a:lnTo>
                    <a:pt x="0" y="0"/>
                  </a:lnTo>
                  <a:lnTo>
                    <a:pt x="1323846" y="7559040"/>
                  </a:lnTo>
                  <a:lnTo>
                    <a:pt x="2137392" y="7559040"/>
                  </a:lnTo>
                  <a:lnTo>
                    <a:pt x="2137392" y="0"/>
                  </a:lnTo>
                  <a:close/>
                </a:path>
              </a:pathLst>
            </a:custGeom>
            <a:solidFill>
              <a:srgbClr val="5FCAEE">
                <a:alpha val="19215"/>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5" name="Google Shape;115;p16"/>
            <p:cNvSpPr/>
            <p:nvPr/>
          </p:nvSpPr>
          <p:spPr>
            <a:xfrm>
              <a:off x="7318916" y="4321324"/>
              <a:ext cx="2762885" cy="3237865"/>
            </a:xfrm>
            <a:custGeom>
              <a:rect b="b" l="l" r="r" t="t"/>
              <a:pathLst>
                <a:path extrusionOk="0" h="3237865" w="2762884">
                  <a:moveTo>
                    <a:pt x="2762343" y="0"/>
                  </a:moveTo>
                  <a:lnTo>
                    <a:pt x="0" y="3237715"/>
                  </a:lnTo>
                  <a:lnTo>
                    <a:pt x="2762343" y="3237715"/>
                  </a:lnTo>
                  <a:lnTo>
                    <a:pt x="2762343" y="0"/>
                  </a:lnTo>
                  <a:close/>
                </a:path>
              </a:pathLst>
            </a:custGeom>
            <a:solidFill>
              <a:srgbClr val="17AFE3">
                <a:alpha val="6509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 name="Google Shape;116;p16"/>
            <p:cNvSpPr/>
            <p:nvPr/>
          </p:nvSpPr>
          <p:spPr>
            <a:xfrm>
              <a:off x="7730525" y="0"/>
              <a:ext cx="2350770" cy="7559040"/>
            </a:xfrm>
            <a:custGeom>
              <a:rect b="b" l="l" r="r" t="t"/>
              <a:pathLst>
                <a:path extrusionOk="0" h="7559040" w="235077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7" name="Google Shape;117;p16"/>
            <p:cNvSpPr/>
            <p:nvPr/>
          </p:nvSpPr>
          <p:spPr>
            <a:xfrm>
              <a:off x="9145586" y="0"/>
              <a:ext cx="935990" cy="7559040"/>
            </a:xfrm>
            <a:custGeom>
              <a:rect b="b" l="l" r="r" t="t"/>
              <a:pathLst>
                <a:path extrusionOk="0" h="7559040" w="935990">
                  <a:moveTo>
                    <a:pt x="935673" y="0"/>
                  </a:moveTo>
                  <a:lnTo>
                    <a:pt x="744742" y="0"/>
                  </a:lnTo>
                  <a:lnTo>
                    <a:pt x="0" y="7559040"/>
                  </a:lnTo>
                  <a:lnTo>
                    <a:pt x="935673" y="7559040"/>
                  </a:lnTo>
                  <a:lnTo>
                    <a:pt x="935673" y="0"/>
                  </a:lnTo>
                  <a:close/>
                </a:path>
              </a:pathLst>
            </a:custGeom>
            <a:solidFill>
              <a:srgbClr val="2D83C3">
                <a:alpha val="6941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 name="Google Shape;118;p16"/>
            <p:cNvSpPr/>
            <p:nvPr/>
          </p:nvSpPr>
          <p:spPr>
            <a:xfrm>
              <a:off x="8924576" y="0"/>
              <a:ext cx="1156970" cy="7559040"/>
            </a:xfrm>
            <a:custGeom>
              <a:rect b="b" l="l" r="r" t="t"/>
              <a:pathLst>
                <a:path extrusionOk="0" h="7559040" w="1156970">
                  <a:moveTo>
                    <a:pt x="1156683" y="0"/>
                  </a:moveTo>
                  <a:lnTo>
                    <a:pt x="0" y="0"/>
                  </a:lnTo>
                  <a:lnTo>
                    <a:pt x="1033660" y="7559040"/>
                  </a:lnTo>
                  <a:lnTo>
                    <a:pt x="1156683" y="7559040"/>
                  </a:lnTo>
                  <a:lnTo>
                    <a:pt x="1156683" y="0"/>
                  </a:lnTo>
                  <a:close/>
                </a:path>
              </a:pathLst>
            </a:custGeom>
            <a:solidFill>
              <a:srgbClr val="226192">
                <a:alpha val="8117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9" name="Google Shape;119;p16"/>
            <p:cNvSpPr/>
            <p:nvPr/>
          </p:nvSpPr>
          <p:spPr>
            <a:xfrm>
              <a:off x="8895050" y="5420201"/>
              <a:ext cx="1186815" cy="2139315"/>
            </a:xfrm>
            <a:custGeom>
              <a:rect b="b" l="l" r="r" t="t"/>
              <a:pathLst>
                <a:path extrusionOk="0" h="2139315" w="1186815">
                  <a:moveTo>
                    <a:pt x="1186209" y="0"/>
                  </a:moveTo>
                  <a:lnTo>
                    <a:pt x="0" y="2138838"/>
                  </a:lnTo>
                  <a:lnTo>
                    <a:pt x="136021" y="2138838"/>
                  </a:lnTo>
                  <a:lnTo>
                    <a:pt x="1186209" y="2133955"/>
                  </a:lnTo>
                  <a:lnTo>
                    <a:pt x="1186209" y="0"/>
                  </a:lnTo>
                  <a:close/>
                </a:path>
              </a:pathLst>
            </a:custGeom>
            <a:solidFill>
              <a:srgbClr val="17AFE3">
                <a:alpha val="65098"/>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20" name="Google Shape;120;p16"/>
          <p:cNvSpPr txBox="1"/>
          <p:nvPr>
            <p:ph type="title"/>
          </p:nvPr>
        </p:nvSpPr>
        <p:spPr>
          <a:xfrm>
            <a:off x="490524" y="371932"/>
            <a:ext cx="7421245" cy="1085850"/>
          </a:xfrm>
          <a:prstGeom prst="rect">
            <a:avLst/>
          </a:prstGeom>
          <a:noFill/>
          <a:ln>
            <a:noFill/>
          </a:ln>
        </p:spPr>
        <p:txBody>
          <a:bodyPr anchorCtr="0" anchor="t" bIns="0" lIns="0" spcFirstLastPara="1" rIns="0" wrap="square" tIns="330375">
            <a:spAutoFit/>
          </a:bodyPr>
          <a:lstStyle/>
          <a:p>
            <a:pPr indent="0" lvl="0" marL="272415" rtl="0" algn="l">
              <a:lnSpc>
                <a:spcPct val="100000"/>
              </a:lnSpc>
              <a:spcBef>
                <a:spcPts val="0"/>
              </a:spcBef>
              <a:spcAft>
                <a:spcPts val="0"/>
              </a:spcAft>
              <a:buNone/>
            </a:pPr>
            <a:r>
              <a:rPr lang="en-IN"/>
              <a:t>Implementation</a:t>
            </a:r>
            <a:endParaRPr/>
          </a:p>
        </p:txBody>
      </p:sp>
      <p:sp>
        <p:nvSpPr>
          <p:cNvPr id="121" name="Google Shape;121;p16"/>
          <p:cNvSpPr txBox="1"/>
          <p:nvPr/>
        </p:nvSpPr>
        <p:spPr>
          <a:xfrm>
            <a:off x="1509537" y="6354999"/>
            <a:ext cx="7620000" cy="32060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IN" sz="2000">
                <a:latin typeface="Times New Roman"/>
                <a:ea typeface="Times New Roman"/>
                <a:cs typeface="Times New Roman"/>
                <a:sym typeface="Times New Roman"/>
              </a:rPr>
              <a:t>Figure 1. AI Text Generator User Interface with Generated Output</a:t>
            </a:r>
            <a:endParaRPr b="1" sz="20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490524" y="371932"/>
            <a:ext cx="7421245" cy="10858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27" name="Google Shape;127;p17"/>
          <p:cNvSpPr txBox="1"/>
          <p:nvPr>
            <p:ph idx="1" type="body"/>
          </p:nvPr>
        </p:nvSpPr>
        <p:spPr>
          <a:xfrm>
            <a:off x="2813685" y="3465322"/>
            <a:ext cx="4456429" cy="368554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Developing a Retrieval-Augmented Generation (RAG) Pipeline Using LangChain  | by Shivam Mohan | Towards AI" id="128" name="Google Shape;128;p17"/>
          <p:cNvPicPr preferRelativeResize="0"/>
          <p:nvPr/>
        </p:nvPicPr>
        <p:blipFill rotWithShape="1">
          <a:blip r:embed="rId3">
            <a:alphaModFix/>
          </a:blip>
          <a:srcRect b="0" l="0" r="0" t="0"/>
          <a:stretch/>
        </p:blipFill>
        <p:spPr>
          <a:xfrm>
            <a:off x="1212056" y="1438732"/>
            <a:ext cx="7659686" cy="58441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490524" y="371932"/>
            <a:ext cx="7421245" cy="1085850"/>
          </a:xfrm>
          <a:prstGeom prst="rect">
            <a:avLst/>
          </a:prstGeom>
          <a:noFill/>
          <a:ln>
            <a:noFill/>
          </a:ln>
        </p:spPr>
        <p:txBody>
          <a:bodyPr anchorCtr="0" anchor="t" bIns="0" lIns="0" spcFirstLastPara="1" rIns="0" wrap="square" tIns="268400">
            <a:spAutoFit/>
          </a:bodyPr>
          <a:lstStyle/>
          <a:p>
            <a:pPr indent="0" lvl="0" marL="12700" rtl="0" algn="l">
              <a:lnSpc>
                <a:spcPct val="100000"/>
              </a:lnSpc>
              <a:spcBef>
                <a:spcPts val="0"/>
              </a:spcBef>
              <a:spcAft>
                <a:spcPts val="0"/>
              </a:spcAft>
              <a:buNone/>
            </a:pPr>
            <a:r>
              <a:rPr lang="en-IN"/>
              <a:t>Conclusion</a:t>
            </a:r>
            <a:endParaRPr/>
          </a:p>
        </p:txBody>
      </p:sp>
      <p:sp>
        <p:nvSpPr>
          <p:cNvPr id="134" name="Google Shape;134;p18"/>
          <p:cNvSpPr txBox="1"/>
          <p:nvPr/>
        </p:nvSpPr>
        <p:spPr>
          <a:xfrm>
            <a:off x="618540" y="1569465"/>
            <a:ext cx="9071560" cy="1952458"/>
          </a:xfrm>
          <a:prstGeom prst="rect">
            <a:avLst/>
          </a:prstGeom>
          <a:noFill/>
          <a:ln>
            <a:noFill/>
          </a:ln>
        </p:spPr>
        <p:txBody>
          <a:bodyPr anchorCtr="0" anchor="t" bIns="0" lIns="0" spcFirstLastPara="1" rIns="0" wrap="square" tIns="13325">
            <a:spAutoFit/>
          </a:bodyPr>
          <a:lstStyle/>
          <a:p>
            <a:pPr indent="0" lvl="0" marL="12700" marR="234950" rtl="0" algn="just">
              <a:lnSpc>
                <a:spcPct val="100000"/>
              </a:lnSpc>
              <a:spcBef>
                <a:spcPts val="0"/>
              </a:spcBef>
              <a:spcAft>
                <a:spcPts val="0"/>
              </a:spcAft>
              <a:buNone/>
            </a:pPr>
            <a:r>
              <a:rPr lang="en-IN" sz="2100">
                <a:latin typeface="Times New Roman"/>
                <a:ea typeface="Times New Roman"/>
                <a:cs typeface="Times New Roman"/>
                <a:sym typeface="Times New Roman"/>
              </a:rPr>
              <a:t>The “10-K Whisperer” successfully demonstrates how AI and NLP can simplify financial document analysis. The system efficiently extracts key insights and provides context-aware answers using a RAG-based approach.It reduces manual effort and improves accessibility of financial information. The project serves as a strong foundation for future improvements using advanced AI models and scalable architectures.</a:t>
            </a:r>
            <a:endParaRPr sz="21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3735451" y="3384042"/>
            <a:ext cx="28962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I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